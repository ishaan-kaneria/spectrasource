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5.svg" ContentType="image/svg+xml"/>
  <Override PartName="/ppt/media/image19.svg" ContentType="image/svg+xml"/>
  <Override PartName="/ppt/media/image2.svg" ContentType="image/svg+xml"/>
  <Override PartName="/ppt/media/image21.svg" ContentType="image/svg+xml"/>
  <Override PartName="/ppt/media/image23.svg" ContentType="image/svg+xml"/>
  <Override PartName="/ppt/media/image25.svg" ContentType="image/svg+xml"/>
  <Override PartName="/ppt/media/image28.svg" ContentType="image/svg+xml"/>
  <Override PartName="/ppt/media/image30.svg" ContentType="image/svg+xml"/>
  <Override PartName="/ppt/media/image34.svg" ContentType="image/svg+xml"/>
  <Override PartName="/ppt/media/image36.svg" ContentType="image/svg+xml"/>
  <Override PartName="/ppt/media/image38.svg" ContentType="image/svg+xml"/>
  <Override PartName="/ppt/media/image40.svg" ContentType="image/svg+xml"/>
  <Override PartName="/ppt/media/image42.svg" ContentType="image/svg+xml"/>
  <Override PartName="/ppt/media/image44.svg" ContentType="image/svg+xml"/>
  <Override PartName="/ppt/media/image47.svg" ContentType="image/svg+xml"/>
  <Override PartName="/ppt/media/image49.svg" ContentType="image/svg+xml"/>
  <Override PartName="/ppt/media/image51.svg" ContentType="image/svg+xml"/>
  <Override PartName="/ppt/media/image56.svg" ContentType="image/svg+xml"/>
  <Override PartName="/ppt/media/image58.svg" ContentType="image/svg+xml"/>
  <Override PartName="/ppt/media/image60.svg" ContentType="image/svg+xml"/>
  <Override PartName="/ppt/media/image62.svg" ContentType="image/svg+xml"/>
  <Override PartName="/ppt/media/image64.svg" ContentType="image/svg+xml"/>
  <Override PartName="/ppt/media/image66.svg" ContentType="image/svg+xml"/>
  <Override PartName="/ppt/media/image70.svg" ContentType="image/svg+xml"/>
  <Override PartName="/ppt/media/image72.svg" ContentType="image/svg+xml"/>
  <Override PartName="/ppt/media/image74.svg" ContentType="image/svg+xml"/>
  <Override PartName="/ppt/media/image76.svg" ContentType="image/svg+xml"/>
  <Override PartName="/ppt/media/image8.svg" ContentType="image/svg+xml"/>
  <Override PartName="/ppt/media/image82.svg" ContentType="image/svg+xml"/>
  <Override PartName="/ppt/media/image84.svg" ContentType="image/svg+xml"/>
  <Override PartName="/ppt/media/image86.svg" ContentType="image/svg+xml"/>
  <Override PartName="/ppt/media/image88.svg" ContentType="image/svg+xml"/>
  <Override PartName="/ppt/media/image90.svg" ContentType="image/svg+xml"/>
  <Override PartName="/ppt/media/image9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Lst>
  <p:sldSz cx="18288000" cy="10287000"/>
  <p:notesSz cx="6858000" cy="9144000"/>
  <p:embeddedFontLst>
    <p:embeddedFont>
      <p:font typeface="Times New Roman Bold" charset="1" panose="02020803070505020304"/>
      <p:regular r:id="rId12"/>
    </p:embeddedFont>
    <p:embeddedFont>
      <p:font typeface="Garamond Bold" charset="1" panose="02020804030307010803"/>
      <p:regular r:id="rId13"/>
    </p:embeddedFont>
    <p:embeddedFont>
      <p:font typeface="Arial Bold" charset="1" panose="020B0704020202020204"/>
      <p:regular r:id="rId14"/>
    </p:embeddedFont>
    <p:embeddedFont>
      <p:font typeface="Times New Roman" charset="1" panose="02020603050405020304"/>
      <p:regular r:id="rId15"/>
    </p:embeddedFont>
    <p:embeddedFont>
      <p:font typeface="Trade Gothic Condensed Bold" charset="1" panose="020B0806040303020004"/>
      <p:regular r:id="rId16"/>
    </p:embeddedFont>
    <p:embeddedFont>
      <p:font typeface="Trade Gothic Condensed" charset="1" panose="020B0506040303020004"/>
      <p:regular r:id="rId17"/>
    </p:embeddedFont>
    <p:embeddedFont>
      <p:font typeface="Open Sans Bold" charset="1" panose="020B0806030504020204"/>
      <p:regular r:id="rId18"/>
    </p:embeddedFont>
    <p:embeddedFont>
      <p:font typeface="Canva Sans Bold" charset="1" panose="020B0803030501040103"/>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2" Type="http://schemas.openxmlformats.org/officeDocument/2006/relationships/font" Target="fonts/font12.fntdata"/><Relationship Id="rId13" Type="http://schemas.openxmlformats.org/officeDocument/2006/relationships/font" Target="fonts/font13.fntdata"/><Relationship Id="rId14" Type="http://schemas.openxmlformats.org/officeDocument/2006/relationships/font" Target="fonts/font14.fntdata"/><Relationship Id="rId15" Type="http://schemas.openxmlformats.org/officeDocument/2006/relationships/font" Target="fonts/font15.fntdata"/><Relationship Id="rId16" Type="http://schemas.openxmlformats.org/officeDocument/2006/relationships/font" Target="fonts/font16.fntdata"/><Relationship Id="rId17" Type="http://schemas.openxmlformats.org/officeDocument/2006/relationships/font" Target="fonts/font17.fntdata"/><Relationship Id="rId18" Type="http://schemas.openxmlformats.org/officeDocument/2006/relationships/font" Target="fonts/font18.fntdata"/><Relationship Id="rId19" Type="http://schemas.openxmlformats.org/officeDocument/2006/relationships/font" Target="fonts/font19.fntdata"/><Relationship Id="rId2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problem: the same information arrives as reports, advisories, articles, images and videos, and analysts rewrite it by hand for every channel and audience. That is slow, inconsistent and needs both domain and communication skill.</a:t>
            </a:r>
          </a:p>
          <a:p/>
          <a:p>
            <a:r>
              <a:t>Our solution, SpectraSource: one dashboard. Upload text, a PDF or Word file, an image, audio or video; pick any of the seven outputs; set audience, tone, language, detail, objective and style; download ready files. The screenshot shows the live dashboard.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to right is one job's path through the system.</a:t>
            </a:r>
          </a:p>
          <a:p>
            <a:r>
              <a:t>1. Input: typed text and/or one file: PDF, Word, text formats, images, video or audio.</a:t>
            </a:r>
          </a:p>
          <a:p>
            <a:r>
              <a:t>2. Ingestion turns everything into one source text: local parsers for PDF and DOCX, Gemini for images, video and audio. The source is wrapped in &lt;source&gt; tags so instructions hidden in it are treated as data.</a:t>
            </a:r>
          </a:p>
          <a:p>
            <a:r>
              <a:t>3. The engine builds one prompt per selected output with the six settings. The model must return JSON that matches a Pydantic schema for that output, with one retry. The LLM layer is swappable: Gemini by default, or any OpenAI-compatible server including a local Ollama model.</a:t>
            </a:r>
          </a:p>
          <a:p>
            <a:r>
              <a:t>4-5. Seven outputs, downloadable as .pptx, .docx, .srt, HTML, Markdown or JSON.</a:t>
            </a:r>
          </a:p>
          <a:p>
            <a:r>
              <a:t>6. Jobs and artefacts are stored in SQLite or PostgreSQL. Every source and output gets a SHA-256 hash in a hash-chained audit log; /api/audit/verify detects any edited or deleted record.</a:t>
            </a:r>
          </a:p>
          <a:p>
            <a:r>
              <a:t>Planned, not built: login with roles, a human approval step, anchoring approved hashes on a blockchain, and RAG with pgvector for long sources.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we can build it: every part is proven open source, and the platform already runs end to end: dashboard on Netlify, API on Render, with automated tests, lint and build on every push.</a:t>
            </a:r>
          </a:p>
          <a:p>
            <a:r>
              <a:t>No model training: Gemini does the work, steered by prompts and a strict schema per output. The provider is a setting, so the same build can run on a local Ollama model when data must not leave the network.</a:t>
            </a:r>
          </a:p>
          <a:p>
            <a:r>
              <a:t>Risks: green rows are handled in the code today; amber rows are on the roadmap (login with roles, human approval, blockchain anchoring of approved hashes).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Who benefits: analysts spend time on analysis instead of formatting; leaders get the same facts in every channel; citizens get plain posts and videos while warnings still matter; the organisation keeps a tamper-evident record and can self-host.</a:t>
            </a:r>
          </a:p>
          <a:p>
            <a:r>
              <a:t>How we will measure it: time from upload to every format, share of drafts used with minor edits, share of outputs in the verifiable audit log, and output languages in the pilot.</a:t>
            </a:r>
          </a:p>
          <a:p/>
          <a:p>
            <a:r>
              <a:t>Research sources:</a:t>
            </a:r>
          </a:p>
          <a:p>
            <a:r>
              <a:t>- Noy &amp; Zhang, Experimental evidence on the productivity effects of generative AI: economics.mit.edu/sites/default/files/inline-files/Noy_Zhang_1.pdf</a:t>
            </a:r>
          </a:p>
          <a:p>
            <a:r>
              <a:t>- https://onlinelibrary.wiley.com/doi/full/10.1111/jels.12413</a:t>
            </a:r>
          </a:p>
          <a:p>
            <a:r>
              <a:t>- Cisco 2024 Data Privacy Benchmark: https://www.cisco.com/c/dam/en_us/about/doing_business/trust-center/docs/cisco-privacy-benchmark-study-2024.pdf</a:t>
            </a:r>
          </a:p>
          <a:p>
            <a:r>
              <a:t>Other references:</a:t>
            </a:r>
          </a:p>
          <a:p>
            <a:r>
              <a:t>- Monolingual Text Summarization for Indic Languages using LLMs: https://aclanthology.org/2024.icon-1.11</a:t>
            </a:r>
          </a:p>
          <a:p>
            <a:r>
              <a:t>- LoFTI: Localization and Factuality Transfer to Indian Locales: https://arxiv.org/html/2407.11833v1</a:t>
            </a:r>
          </a:p>
          <a:p>
            <a:r>
              <a:t>- NITI Aayog, Principles of Responsible AI: https://www.niti.gov.in/node/326</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Team Out of Tokens (141630). Problem SIH26154 from NTRO: a Gen AI platform that turns one source into whatever deliverables the operator selects. Our platform is SpectraSource.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jpeg"/><Relationship Id="rId6" Type="http://schemas.openxmlformats.org/officeDocument/2006/relationships/image" Target="../media/image5.png"/><Relationship Id="rId7" Type="http://schemas.openxmlformats.org/officeDocument/2006/relationships/notesSlide" Target="../notesSlides/notesSlide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eg"/><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7.png"/><Relationship Id="rId6" Type="http://schemas.openxmlformats.org/officeDocument/2006/relationships/image" Target="../media/image8.svg"/><Relationship Id="rId7" Type="http://schemas.openxmlformats.org/officeDocument/2006/relationships/image" Target="../media/image9.png"/><Relationship Id="rId8" Type="http://schemas.openxmlformats.org/officeDocument/2006/relationships/image" Target="../media/image10.svg"/><Relationship Id="rId9" Type="http://schemas.openxmlformats.org/officeDocument/2006/relationships/image" Target="../media/image11.png"/><Relationship Id="rId12" Type="http://schemas.openxmlformats.org/officeDocument/2006/relationships/image" Target="../media/image14.png"/><Relationship Id="rId13" Type="http://schemas.openxmlformats.org/officeDocument/2006/relationships/image" Target="../media/image15.svg"/><Relationship Id="rId14" Type="http://schemas.openxmlformats.org/officeDocument/2006/relationships/image" Target="../media/image16.png"/><Relationship Id="rId15" Type="http://schemas.openxmlformats.org/officeDocument/2006/relationships/image" Target="../media/image17.png"/><Relationship Id="rId16" Type="http://schemas.openxmlformats.org/officeDocument/2006/relationships/image" Target="../media/image18.png"/><Relationship Id="rId17" Type="http://schemas.openxmlformats.org/officeDocument/2006/relationships/image" Target="../media/image19.svg"/><Relationship Id="rId18" Type="http://schemas.openxmlformats.org/officeDocument/2006/relationships/image" Target="../media/image20.png"/><Relationship Id="rId19" Type="http://schemas.openxmlformats.org/officeDocument/2006/relationships/image" Target="../media/image21.svg"/><Relationship Id="rId20" Type="http://schemas.openxmlformats.org/officeDocument/2006/relationships/image" Target="../media/image22.png"/><Relationship Id="rId21" Type="http://schemas.openxmlformats.org/officeDocument/2006/relationships/image" Target="../media/image23.svg"/><Relationship Id="rId22" Type="http://schemas.openxmlformats.org/officeDocument/2006/relationships/image" Target="../media/image24.png"/><Relationship Id="rId23" Type="http://schemas.openxmlformats.org/officeDocument/2006/relationships/image" Target="../media/image25.svg"/><Relationship Id="rId24" Type="http://schemas.openxmlformats.org/officeDocument/2006/relationships/image" Target="../media/image26.png"/><Relationship Id="rId25" Type="http://schemas.openxmlformats.org/officeDocument/2006/relationships/image" Target="../media/image27.png"/><Relationship Id="rId26" Type="http://schemas.openxmlformats.org/officeDocument/2006/relationships/image" Target="../media/image28.svg"/><Relationship Id="rId27" Type="http://schemas.openxmlformats.org/officeDocument/2006/relationships/image" Target="../media/image29.png"/><Relationship Id="rId28" Type="http://schemas.openxmlformats.org/officeDocument/2006/relationships/image" Target="../media/image30.svg"/><Relationship Id="rId29" Type="http://schemas.openxmlformats.org/officeDocument/2006/relationships/image" Target="../media/image31.png"/><Relationship Id="rId43" Type="http://schemas.openxmlformats.org/officeDocument/2006/relationships/image" Target="../media/image98.png"/><Relationship Id="rId44"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image" Target="../media/image4.jpeg"/><Relationship Id="rId4" Type="http://schemas.openxmlformats.org/officeDocument/2006/relationships/image" Target="../media/image5.png"/><Relationship Id="rId5" Type="http://schemas.openxmlformats.org/officeDocument/2006/relationships/image" Target="../media/image46.png"/><Relationship Id="rId6" Type="http://schemas.openxmlformats.org/officeDocument/2006/relationships/image" Target="../media/image47.svg"/><Relationship Id="rId7" Type="http://schemas.openxmlformats.org/officeDocument/2006/relationships/image" Target="../media/image39.png"/><Relationship Id="rId8" Type="http://schemas.openxmlformats.org/officeDocument/2006/relationships/image" Target="../media/image40.svg"/><Relationship Id="rId9" Type="http://schemas.openxmlformats.org/officeDocument/2006/relationships/image" Target="../media/image48.png"/><Relationship Id="rId10" Type="http://schemas.openxmlformats.org/officeDocument/2006/relationships/image" Target="../media/image49.svg"/><Relationship Id="rId11" Type="http://schemas.openxmlformats.org/officeDocument/2006/relationships/image" Target="../media/image50.png"/><Relationship Id="rId12" Type="http://schemas.openxmlformats.org/officeDocument/2006/relationships/image" Target="../media/image51.svg"/><Relationship Id="rId13" Type="http://schemas.openxmlformats.org/officeDocument/2006/relationships/image" Target="../media/image41.png"/><Relationship Id="rId14" Type="http://schemas.openxmlformats.org/officeDocument/2006/relationships/image" Target="../media/image42.svg"/><Relationship Id="rId15" Type="http://schemas.openxmlformats.org/officeDocument/2006/relationships/image" Target="../media/image33.png"/><Relationship Id="rId16" Type="http://schemas.openxmlformats.org/officeDocument/2006/relationships/image" Target="../media/image34.svg"/><Relationship Id="rId17" Type="http://schemas.openxmlformats.org/officeDocument/2006/relationships/image" Target="../media/image52.png"/><Relationship Id="rId18" Type="http://schemas.openxmlformats.org/officeDocument/2006/relationships/image" Target="../media/image35.png"/><Relationship Id="rId19" Type="http://schemas.openxmlformats.org/officeDocument/2006/relationships/image" Target="../media/image36.svg"/><Relationship Id="rId20" Type="http://schemas.openxmlformats.org/officeDocument/2006/relationships/image" Target="../media/image37.png"/><Relationship Id="rId21" Type="http://schemas.openxmlformats.org/officeDocument/2006/relationships/image" Target="../media/image38.svg"/><Relationship Id="rId22" Type="http://schemas.openxmlformats.org/officeDocument/2006/relationships/image" Target="../media/image43.png"/><Relationship Id="rId23" Type="http://schemas.openxmlformats.org/officeDocument/2006/relationships/image" Target="../media/image44.svg"/><Relationship Id="rId26" Type="http://schemas.openxmlformats.org/officeDocument/2006/relationships/image" Target="../media/image55.png"/><Relationship Id="rId27" Type="http://schemas.openxmlformats.org/officeDocument/2006/relationships/image" Target="../media/image56.svg"/><Relationship Id="rId28" Type="http://schemas.openxmlformats.org/officeDocument/2006/relationships/image" Target="../media/image57.png"/><Relationship Id="rId29" Type="http://schemas.openxmlformats.org/officeDocument/2006/relationships/image" Target="../media/image58.svg"/><Relationship Id="rId30" Type="http://schemas.openxmlformats.org/officeDocument/2006/relationships/image" Target="../media/image59.png"/><Relationship Id="rId31" Type="http://schemas.openxmlformats.org/officeDocument/2006/relationships/image" Target="../media/image60.svg"/><Relationship Id="rId32" Type="http://schemas.openxmlformats.org/officeDocument/2006/relationships/image" Target="../media/image61.png"/><Relationship Id="rId33" Type="http://schemas.openxmlformats.org/officeDocument/2006/relationships/image" Target="../media/image62.svg"/><Relationship Id="rId34" Type="http://schemas.openxmlformats.org/officeDocument/2006/relationships/image" Target="../media/image63.png"/><Relationship Id="rId35" Type="http://schemas.openxmlformats.org/officeDocument/2006/relationships/image" Target="../media/image64.svg"/><Relationship Id="rId36" Type="http://schemas.openxmlformats.org/officeDocument/2006/relationships/image" Target="../media/image65.png"/><Relationship Id="rId37" Type="http://schemas.openxmlformats.org/officeDocument/2006/relationships/image" Target="../media/image66.svg"/><Relationship Id="rId40" Type="http://schemas.openxmlformats.org/officeDocument/2006/relationships/image" Target="../media/image69.png"/><Relationship Id="rId41" Type="http://schemas.openxmlformats.org/officeDocument/2006/relationships/image" Target="../media/image70.svg"/><Relationship Id="rId42" Type="http://schemas.openxmlformats.org/officeDocument/2006/relationships/image" Target="../media/image71.png"/><Relationship Id="rId43" Type="http://schemas.openxmlformats.org/officeDocument/2006/relationships/image" Target="../media/image72.svg"/><Relationship Id="rId44" Type="http://schemas.openxmlformats.org/officeDocument/2006/relationships/image" Target="../media/image73.png"/><Relationship Id="rId45" Type="http://schemas.openxmlformats.org/officeDocument/2006/relationships/image" Target="../media/image74.svg"/><Relationship Id="rId46" Type="http://schemas.openxmlformats.org/officeDocument/2006/relationships/image" Target="../media/image75.png"/><Relationship Id="rId47" Type="http://schemas.openxmlformats.org/officeDocument/2006/relationships/image" Target="../media/image76.svg"/><Relationship Id="rId48" Type="http://schemas.openxmlformats.org/officeDocument/2006/relationships/image" Target="../media/image99.png"/><Relationship Id="rId49" Type="http://schemas.openxmlformats.org/officeDocument/2006/relationships/image" Target="../media/image100.png"/><Relationship Id="rId50" Type="http://schemas.openxmlformats.org/officeDocument/2006/relationships/image" Target="../media/image101.png"/><Relationship Id="rId51" Type="http://schemas.openxmlformats.org/officeDocument/2006/relationships/image" Target="../media/image102.png"/><Relationship Id="rId52" Type="http://schemas.openxmlformats.org/officeDocument/2006/relationships/image" Target="../media/image103.png"/><Relationship Id="rId53" Type="http://schemas.openxmlformats.org/officeDocument/2006/relationships/image" Target="../media/image104.png"/><Relationship Id="rId54" Type="http://schemas.openxmlformats.org/officeDocument/2006/relationships/image" Target="../media/image105.png"/><Relationship Id="rId55" Type="http://schemas.openxmlformats.org/officeDocument/2006/relationships/image" Target="../media/image106.png"/><Relationship Id="rId56" Type="http://schemas.openxmlformats.org/officeDocument/2006/relationships/image" Target="../media/image107.png"/><Relationship Id="rId57" Type="http://schemas.openxmlformats.org/officeDocument/2006/relationships/image" Target="../media/image108.png"/><Relationship Id="rId58" Type="http://schemas.openxmlformats.org/officeDocument/2006/relationships/image" Target="../media/image109.png"/><Relationship Id="rId59" Type="http://schemas.openxmlformats.org/officeDocument/2006/relationships/image" Target="../media/image110.png"/><Relationship Id="rId60" Type="http://schemas.openxmlformats.org/officeDocument/2006/relationships/image" Target="../media/image111.png"/><Relationship Id="rId61" Type="http://schemas.openxmlformats.org/officeDocument/2006/relationships/image" Target="../media/image112.png"/><Relationship Id="rId62" Type="http://schemas.openxmlformats.org/officeDocument/2006/relationships/image" Target="../media/image113.png"/><Relationship Id="rId63" Type="http://schemas.openxmlformats.org/officeDocument/2006/relationships/image" Target="../media/image114.png"/><Relationship Id="rId64" Type="http://schemas.openxmlformats.org/officeDocument/2006/relationships/image" Target="../media/image115.png"/><Relationship Id="rId65" Type="http://schemas.openxmlformats.org/officeDocument/2006/relationships/image" Target="../media/image116.png"/><Relationship Id="rId66" Type="http://schemas.openxmlformats.org/officeDocument/2006/relationships/image" Target="../media/image117.png"/><Relationship Id="rId67" Type="http://schemas.openxmlformats.org/officeDocument/2006/relationships/image" Target="../media/image118.png"/><Relationship Id="rId68" Type="http://schemas.openxmlformats.org/officeDocument/2006/relationships/image" Target="../media/image119.png"/><Relationship Id="rId69" Type="http://schemas.openxmlformats.org/officeDocument/2006/relationships/image" Target="../media/image120.png"/><Relationship Id="rId70"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eg"/><Relationship Id="rId3" Type="http://schemas.openxmlformats.org/officeDocument/2006/relationships/image" Target="../media/image5.png"/><Relationship Id="rId7" Type="http://schemas.openxmlformats.org/officeDocument/2006/relationships/image" Target="../media/image116.png"/><Relationship Id="rId8" Type="http://schemas.openxmlformats.org/officeDocument/2006/relationships/image" Target="../media/image102.png"/><Relationship Id="rId9" Type="http://schemas.openxmlformats.org/officeDocument/2006/relationships/image" Target="../media/image111.png"/><Relationship Id="rId10" Type="http://schemas.openxmlformats.org/officeDocument/2006/relationships/image" Target="../media/image121.png"/><Relationship Id="rId11" Type="http://schemas.openxmlformats.org/officeDocument/2006/relationships/image" Target="../media/image122.png"/><Relationship Id="rId12" Type="http://schemas.openxmlformats.org/officeDocument/2006/relationships/image" Target="../media/image123.png"/><Relationship Id="rId13" Type="http://schemas.openxmlformats.org/officeDocument/2006/relationships/image" Target="../media/image124.png"/><Relationship Id="rId14"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eg"/><Relationship Id="rId3" Type="http://schemas.openxmlformats.org/officeDocument/2006/relationships/image" Target="../media/image5.png"/><Relationship Id="rId4" Type="http://schemas.openxmlformats.org/officeDocument/2006/relationships/image" Target="../media/image80.png"/><Relationship Id="rId5" Type="http://schemas.openxmlformats.org/officeDocument/2006/relationships/image" Target="../media/image81.png"/><Relationship Id="rId6" Type="http://schemas.openxmlformats.org/officeDocument/2006/relationships/image" Target="../media/image82.svg"/><Relationship Id="rId7" Type="http://schemas.openxmlformats.org/officeDocument/2006/relationships/image" Target="../media/image83.png"/><Relationship Id="rId8" Type="http://schemas.openxmlformats.org/officeDocument/2006/relationships/image" Target="../media/image84.svg"/><Relationship Id="rId9" Type="http://schemas.openxmlformats.org/officeDocument/2006/relationships/image" Target="../media/image85.png"/><Relationship Id="rId10" Type="http://schemas.openxmlformats.org/officeDocument/2006/relationships/image" Target="../media/image86.svg"/><Relationship Id="rId11" Type="http://schemas.openxmlformats.org/officeDocument/2006/relationships/image" Target="../media/image87.png"/><Relationship Id="rId12" Type="http://schemas.openxmlformats.org/officeDocument/2006/relationships/image" Target="../media/image88.svg"/><Relationship Id="rId13" Type="http://schemas.openxmlformats.org/officeDocument/2006/relationships/image" Target="../media/image89.png"/><Relationship Id="rId14" Type="http://schemas.openxmlformats.org/officeDocument/2006/relationships/image" Target="../media/image90.svg"/><Relationship Id="rId15" Type="http://schemas.openxmlformats.org/officeDocument/2006/relationships/image" Target="../media/image91.png"/><Relationship Id="rId16" Type="http://schemas.openxmlformats.org/officeDocument/2006/relationships/image" Target="../media/image92.svg"/><Relationship Id="rId17" Type="http://schemas.openxmlformats.org/officeDocument/2006/relationships/notesSlide" Target="../notesSlides/notesSlide4.xml"/></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725435" y="2324538"/>
            <a:ext cx="6957908" cy="7732452"/>
          </a:xfrm>
          <a:custGeom>
            <a:avLst/>
            <a:gdLst/>
            <a:ahLst/>
            <a:cxnLst/>
            <a:rect r="r" b="b" t="t" l="l"/>
            <a:pathLst>
              <a:path h="7732452" w="6957908">
                <a:moveTo>
                  <a:pt x="0" y="0"/>
                </a:moveTo>
                <a:lnTo>
                  <a:pt x="6957908" y="0"/>
                </a:lnTo>
                <a:lnTo>
                  <a:pt x="6957908" y="7732452"/>
                </a:lnTo>
                <a:lnTo>
                  <a:pt x="0" y="7732452"/>
                </a:lnTo>
                <a:lnTo>
                  <a:pt x="0" y="0"/>
                </a:lnTo>
                <a:close/>
              </a:path>
            </a:pathLst>
          </a:custGeom>
          <a:blipFill>
            <a:blip r:embed="rId2">
              <a:alphaModFix amt="60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3482733" y="4118943"/>
            <a:ext cx="4805267" cy="5139357"/>
            <a:chOff x="0" y="0"/>
            <a:chExt cx="6407023" cy="6852476"/>
          </a:xfrm>
        </p:grpSpPr>
        <p:sp>
          <p:nvSpPr>
            <p:cNvPr name="Freeform 4" id="4"/>
            <p:cNvSpPr/>
            <p:nvPr/>
          </p:nvSpPr>
          <p:spPr>
            <a:xfrm flipH="false" flipV="false" rot="0">
              <a:off x="0" y="0"/>
              <a:ext cx="6407023" cy="6852412"/>
            </a:xfrm>
            <a:custGeom>
              <a:avLst/>
              <a:gdLst/>
              <a:ahLst/>
              <a:cxnLst/>
              <a:rect r="r" b="b" t="t" l="l"/>
              <a:pathLst>
                <a:path h="6852412" w="6407023">
                  <a:moveTo>
                    <a:pt x="0" y="0"/>
                  </a:moveTo>
                  <a:lnTo>
                    <a:pt x="6407023" y="0"/>
                  </a:lnTo>
                  <a:lnTo>
                    <a:pt x="6407023" y="6852412"/>
                  </a:lnTo>
                  <a:lnTo>
                    <a:pt x="0" y="6852412"/>
                  </a:lnTo>
                  <a:lnTo>
                    <a:pt x="0" y="0"/>
                  </a:lnTo>
                  <a:close/>
                </a:path>
              </a:pathLst>
            </a:custGeom>
            <a:blipFill>
              <a:blip r:embed="rId4">
                <a:alphaModFix amt="41000"/>
              </a:blip>
              <a:stretch>
                <a:fillRect l="0" t="0" r="-149475" b="-1"/>
              </a:stretch>
            </a:blipFill>
          </p:spPr>
        </p:sp>
      </p:grpSp>
      <p:sp>
        <p:nvSpPr>
          <p:cNvPr name="TextBox 5" id="5"/>
          <p:cNvSpPr txBox="true"/>
          <p:nvPr/>
        </p:nvSpPr>
        <p:spPr>
          <a:xfrm rot="0">
            <a:off x="1959969" y="990067"/>
            <a:ext cx="12618720" cy="2566035"/>
          </a:xfrm>
          <a:prstGeom prst="rect">
            <a:avLst/>
          </a:prstGeom>
        </p:spPr>
        <p:txBody>
          <a:bodyPr anchor="t" rtlCol="false" tIns="0" lIns="0" bIns="0" rIns="0">
            <a:spAutoFit/>
          </a:bodyPr>
          <a:lstStyle/>
          <a:p>
            <a:pPr algn="ctr">
              <a:lnSpc>
                <a:spcPts val="5759"/>
              </a:lnSpc>
            </a:pPr>
          </a:p>
          <a:p>
            <a:pPr algn="ctr">
              <a:lnSpc>
                <a:spcPts val="5759"/>
              </a:lnSpc>
            </a:pPr>
            <a:r>
              <a:rPr lang="en-US" sz="4800" b="1">
                <a:solidFill>
                  <a:srgbClr val="000000"/>
                </a:solidFill>
                <a:latin typeface="Times New Roman"/>
                <a:ea typeface="Times New Roman"/>
                <a:cs typeface="Times New Roman"/>
                <a:sym typeface="Times New Roman"/>
              </a:rPr>
              <a:t>TITLE PAGE</a:t>
            </a:r>
          </a:p>
        </p:txBody>
      </p:sp>
      <p:grpSp>
        <p:nvGrpSpPr>
          <p:cNvPr name="Group 6" id="6"/>
          <p:cNvGrpSpPr/>
          <p:nvPr/>
        </p:nvGrpSpPr>
        <p:grpSpPr>
          <a:xfrm rot="0">
            <a:off x="496929" y="-790137"/>
            <a:ext cx="15544800" cy="3114675"/>
            <a:chOff x="0" y="0"/>
            <a:chExt cx="20726400" cy="4152900"/>
          </a:xfrm>
        </p:grpSpPr>
        <p:sp>
          <p:nvSpPr>
            <p:cNvPr name="Freeform 7" id="7"/>
            <p:cNvSpPr/>
            <p:nvPr/>
          </p:nvSpPr>
          <p:spPr>
            <a:xfrm flipH="false" flipV="false" rot="0">
              <a:off x="0" y="0"/>
              <a:ext cx="20726400" cy="4152900"/>
            </a:xfrm>
            <a:custGeom>
              <a:avLst/>
              <a:gdLst/>
              <a:ahLst/>
              <a:cxnLst/>
              <a:rect r="r" b="b" t="t" l="l"/>
              <a:pathLst>
                <a:path h="4152900" w="20726400">
                  <a:moveTo>
                    <a:pt x="0" y="0"/>
                  </a:moveTo>
                  <a:lnTo>
                    <a:pt x="20726400" y="0"/>
                  </a:lnTo>
                  <a:lnTo>
                    <a:pt x="20726400" y="4152900"/>
                  </a:lnTo>
                  <a:lnTo>
                    <a:pt x="0" y="4152900"/>
                  </a:lnTo>
                  <a:close/>
                </a:path>
              </a:pathLst>
            </a:custGeom>
            <a:blipFill>
              <a:blip r:embed="rId5">
                <a:alphaModFix amt="0"/>
              </a:blip>
              <a:stretch>
                <a:fillRect l="0" t="-47246" r="0" b="-47246"/>
              </a:stretch>
            </a:blipFill>
          </p:spPr>
        </p:sp>
        <p:sp>
          <p:nvSpPr>
            <p:cNvPr name="TextBox 8" id="8"/>
            <p:cNvSpPr txBox="true"/>
            <p:nvPr/>
          </p:nvSpPr>
          <p:spPr>
            <a:xfrm>
              <a:off x="0" y="-19050"/>
              <a:ext cx="20726400" cy="4171950"/>
            </a:xfrm>
            <a:prstGeom prst="rect">
              <a:avLst/>
            </a:prstGeom>
          </p:spPr>
          <p:txBody>
            <a:bodyPr anchor="ctr" rtlCol="false" tIns="0" lIns="0" bIns="0" rIns="0"/>
            <a:lstStyle/>
            <a:p>
              <a:pPr algn="ctr">
                <a:lnSpc>
                  <a:spcPts val="7200"/>
                </a:lnSpc>
              </a:pPr>
              <a:r>
                <a:rPr lang="en-US" sz="5200" b="1">
                  <a:solidFill>
                    <a:srgbClr val="1F497D"/>
                  </a:solidFill>
                  <a:latin typeface="Garamond"/>
                  <a:ea typeface="Garamond"/>
                  <a:cs typeface="Garamond"/>
                  <a:sym typeface="Garamond"/>
                </a:rPr>
                <a:t>SMART INDIA HACKATHON 2026</a:t>
              </a:r>
            </a:p>
          </p:txBody>
        </p:sp>
      </p:grpSp>
      <p:sp>
        <p:nvSpPr>
          <p:cNvPr name="TextBox 9" id="9"/>
          <p:cNvSpPr txBox="true"/>
          <p:nvPr/>
        </p:nvSpPr>
        <p:spPr>
          <a:xfrm rot="0">
            <a:off x="496929" y="1774845"/>
            <a:ext cx="16223994" cy="7964832"/>
          </a:xfrm>
          <a:prstGeom prst="rect">
            <a:avLst/>
          </a:prstGeom>
        </p:spPr>
        <p:txBody>
          <a:bodyPr anchor="t" rtlCol="false" tIns="0" lIns="0" bIns="0" rIns="0">
            <a:spAutoFit/>
          </a:bodyPr>
          <a:lstStyle/>
          <a:p>
            <a:pPr algn="l">
              <a:lnSpc>
                <a:spcPts val="4320"/>
              </a:lnSpc>
            </a:pPr>
          </a:p>
          <a:p>
            <a:pPr algn="just" marL="651510" indent="-325755" lvl="1">
              <a:lnSpc>
                <a:spcPts val="8640"/>
              </a:lnSpc>
              <a:buFont typeface="Arial"/>
              <a:buChar char="•"/>
            </a:pPr>
            <a:r>
              <a:rPr lang="en-US" b="1" sz="3600">
                <a:solidFill>
                  <a:srgbClr val="000000"/>
                </a:solidFill>
                <a:latin typeface="Arial"/>
                <a:ea typeface="Arial"/>
                <a:cs typeface="Arial"/>
                <a:sym typeface="Arial"/>
              </a:rPr>
              <a:t>Problem Statement ID - </a:t>
            </a:r>
            <a:r>
              <a:rPr lang="en-US" b="1" sz="3600">
                <a:solidFill>
                  <a:srgbClr val="C00000"/>
                </a:solidFill>
                <a:latin typeface="Arial"/>
                <a:ea typeface="Arial"/>
                <a:cs typeface="Arial"/>
                <a:sym typeface="Arial"/>
              </a:rPr>
              <a:t>SIH26154</a:t>
            </a:r>
          </a:p>
          <a:p>
            <a:pPr algn="just" marL="651510" indent="-325755" lvl="1">
              <a:lnSpc>
                <a:spcPts val="8640"/>
              </a:lnSpc>
              <a:buFont typeface="Arial"/>
              <a:buChar char="•"/>
            </a:pPr>
            <a:r>
              <a:rPr lang="en-US" b="1" sz="3600">
                <a:solidFill>
                  <a:srgbClr val="000000"/>
                </a:solidFill>
                <a:latin typeface="Arial"/>
                <a:ea typeface="Arial"/>
                <a:cs typeface="Arial"/>
                <a:sym typeface="Arial"/>
              </a:rPr>
              <a:t>Problem Statement Title - </a:t>
            </a:r>
            <a:r>
              <a:rPr lang="en-US" b="1" sz="3600">
                <a:solidFill>
                  <a:srgbClr val="C00000"/>
                </a:solidFill>
                <a:latin typeface="Arial"/>
                <a:ea typeface="Arial"/>
                <a:cs typeface="Arial"/>
                <a:sym typeface="Arial"/>
              </a:rPr>
              <a:t>Gen AI Platform for Automated Content Transformation</a:t>
            </a:r>
          </a:p>
          <a:p>
            <a:pPr algn="just" marL="651510" indent="-325755" lvl="1">
              <a:lnSpc>
                <a:spcPts val="8640"/>
              </a:lnSpc>
              <a:buFont typeface="Arial"/>
              <a:buChar char="•"/>
            </a:pPr>
            <a:r>
              <a:rPr lang="en-US" b="1" sz="3600">
                <a:solidFill>
                  <a:srgbClr val="000000"/>
                </a:solidFill>
                <a:latin typeface="Arial"/>
                <a:ea typeface="Arial"/>
                <a:cs typeface="Arial"/>
                <a:sym typeface="Arial"/>
              </a:rPr>
              <a:t>Theme - </a:t>
            </a:r>
            <a:r>
              <a:rPr lang="en-US" b="1" sz="3600">
                <a:solidFill>
                  <a:srgbClr val="C00000"/>
                </a:solidFill>
                <a:latin typeface="Arial"/>
                <a:ea typeface="Arial"/>
                <a:cs typeface="Arial"/>
                <a:sym typeface="Arial"/>
              </a:rPr>
              <a:t>Blockchain &amp; Cybersecurity</a:t>
            </a:r>
          </a:p>
          <a:p>
            <a:pPr algn="just" marL="651510" indent="-325755" lvl="1">
              <a:lnSpc>
                <a:spcPts val="8640"/>
              </a:lnSpc>
              <a:buFont typeface="Arial"/>
              <a:buChar char="•"/>
            </a:pPr>
            <a:r>
              <a:rPr lang="en-US" b="1" sz="3600">
                <a:solidFill>
                  <a:srgbClr val="000000"/>
                </a:solidFill>
                <a:latin typeface="Arial"/>
                <a:ea typeface="Arial"/>
                <a:cs typeface="Arial"/>
                <a:sym typeface="Arial"/>
              </a:rPr>
              <a:t>PS Category - </a:t>
            </a:r>
            <a:r>
              <a:rPr lang="en-US" b="1" sz="3600">
                <a:solidFill>
                  <a:srgbClr val="C00000"/>
                </a:solidFill>
                <a:latin typeface="Arial"/>
                <a:ea typeface="Arial"/>
                <a:cs typeface="Arial"/>
                <a:sym typeface="Arial"/>
              </a:rPr>
              <a:t>Software</a:t>
            </a:r>
          </a:p>
          <a:p>
            <a:pPr algn="just" marL="651510" indent="-325755" lvl="1">
              <a:lnSpc>
                <a:spcPts val="8640"/>
              </a:lnSpc>
              <a:buFont typeface="Arial"/>
              <a:buChar char="•"/>
            </a:pPr>
            <a:r>
              <a:rPr lang="en-US" b="1" sz="3600">
                <a:solidFill>
                  <a:srgbClr val="000000"/>
                </a:solidFill>
                <a:latin typeface="Arial"/>
                <a:ea typeface="Arial"/>
                <a:cs typeface="Arial"/>
                <a:sym typeface="Arial"/>
              </a:rPr>
              <a:t>Team ID - </a:t>
            </a:r>
            <a:r>
              <a:rPr lang="en-US" b="1" sz="3600">
                <a:solidFill>
                  <a:srgbClr val="C00000"/>
                </a:solidFill>
                <a:latin typeface="Arial"/>
                <a:ea typeface="Arial"/>
                <a:cs typeface="Arial"/>
                <a:sym typeface="Arial"/>
              </a:rPr>
              <a:t>141630</a:t>
            </a:r>
          </a:p>
          <a:p>
            <a:pPr algn="just" marL="651510" indent="-325755" lvl="1">
              <a:lnSpc>
                <a:spcPts val="8640"/>
              </a:lnSpc>
              <a:buFont typeface="Arial"/>
              <a:buChar char="•"/>
            </a:pPr>
            <a:r>
              <a:rPr lang="en-US" b="1" sz="3600">
                <a:solidFill>
                  <a:srgbClr val="000000"/>
                </a:solidFill>
                <a:latin typeface="Arial"/>
                <a:ea typeface="Arial"/>
                <a:cs typeface="Arial"/>
                <a:sym typeface="Arial"/>
              </a:rPr>
              <a:t>Team Name - </a:t>
            </a:r>
            <a:r>
              <a:rPr lang="en-US" b="1" sz="3600">
                <a:solidFill>
                  <a:srgbClr val="C00000"/>
                </a:solidFill>
                <a:latin typeface="Arial"/>
                <a:ea typeface="Arial"/>
                <a:cs typeface="Arial"/>
                <a:sym typeface="Arial"/>
              </a:rPr>
              <a:t>Out of Tokens</a:t>
            </a:r>
          </a:p>
        </p:txBody>
      </p:sp>
      <p:grpSp>
        <p:nvGrpSpPr>
          <p:cNvPr name="Group 10" id="10"/>
          <p:cNvGrpSpPr/>
          <p:nvPr/>
        </p:nvGrpSpPr>
        <p:grpSpPr>
          <a:xfrm rot="0">
            <a:off x="14670129" y="2248"/>
            <a:ext cx="3374774" cy="1593504"/>
            <a:chOff x="0" y="0"/>
            <a:chExt cx="4499699" cy="2124672"/>
          </a:xfrm>
        </p:grpSpPr>
        <p:sp>
          <p:nvSpPr>
            <p:cNvPr name="Freeform 11" id="11"/>
            <p:cNvSpPr/>
            <p:nvPr/>
          </p:nvSpPr>
          <p:spPr>
            <a:xfrm flipH="false" flipV="false" rot="0">
              <a:off x="0" y="0"/>
              <a:ext cx="4499737" cy="2124710"/>
            </a:xfrm>
            <a:custGeom>
              <a:avLst/>
              <a:gdLst/>
              <a:ahLst/>
              <a:cxnLst/>
              <a:rect r="r" b="b" t="t" l="l"/>
              <a:pathLst>
                <a:path h="2124710" w="4499737">
                  <a:moveTo>
                    <a:pt x="0" y="0"/>
                  </a:moveTo>
                  <a:lnTo>
                    <a:pt x="4499737" y="0"/>
                  </a:lnTo>
                  <a:lnTo>
                    <a:pt x="4499737" y="2124710"/>
                  </a:lnTo>
                  <a:lnTo>
                    <a:pt x="0" y="2124710"/>
                  </a:lnTo>
                  <a:lnTo>
                    <a:pt x="0" y="0"/>
                  </a:lnTo>
                  <a:close/>
                </a:path>
              </a:pathLst>
            </a:custGeom>
            <a:blipFill>
              <a:blip r:embed="rId6"/>
              <a:stretch>
                <a:fillRect l="0" t="0" r="0" b="1"/>
              </a:stretch>
            </a:blipFill>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808369"/>
            <a:ext cx="18288000" cy="478631"/>
            <a:chOff x="0" y="0"/>
            <a:chExt cx="24384000" cy="638175"/>
          </a:xfrm>
        </p:grpSpPr>
        <p:sp>
          <p:nvSpPr>
            <p:cNvPr name="Freeform 3" id="3"/>
            <p:cNvSpPr/>
            <p:nvPr/>
          </p:nvSpPr>
          <p:spPr>
            <a:xfrm flipH="false" flipV="false" rot="0">
              <a:off x="0" y="0"/>
              <a:ext cx="24384000" cy="638175"/>
            </a:xfrm>
            <a:custGeom>
              <a:avLst/>
              <a:gdLst/>
              <a:ahLst/>
              <a:cxnLst/>
              <a:rect r="r" b="b" t="t" l="l"/>
              <a:pathLst>
                <a:path h="638175" w="24384000">
                  <a:moveTo>
                    <a:pt x="0" y="0"/>
                  </a:moveTo>
                  <a:lnTo>
                    <a:pt x="24384000" y="0"/>
                  </a:lnTo>
                  <a:lnTo>
                    <a:pt x="24384000" y="638175"/>
                  </a:lnTo>
                  <a:lnTo>
                    <a:pt x="0" y="638175"/>
                  </a:lnTo>
                  <a:close/>
                </a:path>
              </a:pathLst>
            </a:custGeom>
            <a:solidFill>
              <a:srgbClr val="0070C0"/>
            </a:solidFill>
          </p:spPr>
        </p:sp>
      </p:grpSp>
      <p:grpSp>
        <p:nvGrpSpPr>
          <p:cNvPr name="Group 4" id="4"/>
          <p:cNvGrpSpPr/>
          <p:nvPr/>
        </p:nvGrpSpPr>
        <p:grpSpPr>
          <a:xfrm rot="0">
            <a:off x="13886705" y="9792891"/>
            <a:ext cx="4267200" cy="547688"/>
            <a:chOff x="0" y="0"/>
            <a:chExt cx="5689600" cy="730250"/>
          </a:xfrm>
        </p:grpSpPr>
        <p:sp>
          <p:nvSpPr>
            <p:cNvPr name="Freeform 5" id="5"/>
            <p:cNvSpPr/>
            <p:nvPr/>
          </p:nvSpPr>
          <p:spPr>
            <a:xfrm flipH="false" flipV="false" rot="0">
              <a:off x="0" y="0"/>
              <a:ext cx="5689600" cy="730250"/>
            </a:xfrm>
            <a:custGeom>
              <a:avLst/>
              <a:gdLst/>
              <a:ahLst/>
              <a:cxnLst/>
              <a:rect r="r" b="b" t="t" l="l"/>
              <a:pathLst>
                <a:path h="730250" w="5689600">
                  <a:moveTo>
                    <a:pt x="0" y="0"/>
                  </a:moveTo>
                  <a:lnTo>
                    <a:pt x="5689600" y="0"/>
                  </a:lnTo>
                  <a:lnTo>
                    <a:pt x="5689600" y="730250"/>
                  </a:lnTo>
                  <a:lnTo>
                    <a:pt x="0" y="730250"/>
                  </a:lnTo>
                  <a:close/>
                </a:path>
              </a:pathLst>
            </a:custGeom>
            <a:blipFill>
              <a:blip r:embed="rId2">
                <a:alphaModFix amt="0"/>
              </a:blip>
              <a:stretch>
                <a:fillRect l="0" t="-101813" r="0" b="-101813"/>
              </a:stretch>
            </a:blipFill>
          </p:spPr>
        </p:sp>
        <p:sp>
          <p:nvSpPr>
            <p:cNvPr name="TextBox 6" id="6"/>
            <p:cNvSpPr txBox="true"/>
            <p:nvPr/>
          </p:nvSpPr>
          <p:spPr>
            <a:xfrm>
              <a:off x="0" y="-19050"/>
              <a:ext cx="5689600" cy="749300"/>
            </a:xfrm>
            <a:prstGeom prst="rect">
              <a:avLst/>
            </a:prstGeom>
          </p:spPr>
          <p:txBody>
            <a:bodyPr anchor="ctr" rtlCol="false" tIns="0" lIns="0" bIns="0" rIns="0"/>
            <a:lstStyle/>
            <a:p>
              <a:pPr algn="r">
                <a:lnSpc>
                  <a:spcPts val="2160"/>
                </a:lnSpc>
              </a:pPr>
              <a:r>
                <a:rPr lang="en-US" sz="1800" b="1">
                  <a:solidFill>
                    <a:srgbClr val="FFFFFF"/>
                  </a:solidFill>
                  <a:latin typeface="Times New Roman"/>
                  <a:ea typeface="Times New Roman"/>
                  <a:cs typeface="Times New Roman"/>
                  <a:sym typeface="Times New Roman"/>
                </a:rPr>
                <a:t>2</a:t>
              </a:r>
            </a:p>
          </p:txBody>
        </p:sp>
      </p:grpSp>
      <p:grpSp>
        <p:nvGrpSpPr>
          <p:cNvPr name="Group 7" id="7"/>
          <p:cNvGrpSpPr/>
          <p:nvPr/>
        </p:nvGrpSpPr>
        <p:grpSpPr>
          <a:xfrm rot="0">
            <a:off x="6972300" y="9817894"/>
            <a:ext cx="4806001" cy="547688"/>
            <a:chOff x="0" y="0"/>
            <a:chExt cx="6408001" cy="730250"/>
          </a:xfrm>
        </p:grpSpPr>
        <p:sp>
          <p:nvSpPr>
            <p:cNvPr name="Freeform 8" id="8"/>
            <p:cNvSpPr/>
            <p:nvPr/>
          </p:nvSpPr>
          <p:spPr>
            <a:xfrm flipH="false" flipV="false" rot="0">
              <a:off x="0" y="0"/>
              <a:ext cx="6408000" cy="730250"/>
            </a:xfrm>
            <a:custGeom>
              <a:avLst/>
              <a:gdLst/>
              <a:ahLst/>
              <a:cxnLst/>
              <a:rect r="r" b="b" t="t" l="l"/>
              <a:pathLst>
                <a:path h="730250" w="6408000">
                  <a:moveTo>
                    <a:pt x="0" y="0"/>
                  </a:moveTo>
                  <a:lnTo>
                    <a:pt x="6408000" y="0"/>
                  </a:lnTo>
                  <a:lnTo>
                    <a:pt x="6408000" y="730250"/>
                  </a:lnTo>
                  <a:lnTo>
                    <a:pt x="0" y="730250"/>
                  </a:lnTo>
                  <a:close/>
                </a:path>
              </a:pathLst>
            </a:custGeom>
            <a:blipFill>
              <a:blip r:embed="rId2">
                <a:alphaModFix amt="0"/>
              </a:blip>
              <a:stretch>
                <a:fillRect l="0" t="-120982" r="0" b="-120982"/>
              </a:stretch>
            </a:blipFill>
          </p:spPr>
        </p:sp>
        <p:sp>
          <p:nvSpPr>
            <p:cNvPr name="TextBox 9" id="9"/>
            <p:cNvSpPr txBox="true"/>
            <p:nvPr/>
          </p:nvSpPr>
          <p:spPr>
            <a:xfrm>
              <a:off x="0" y="-19050"/>
              <a:ext cx="6408001" cy="749300"/>
            </a:xfrm>
            <a:prstGeom prst="rect">
              <a:avLst/>
            </a:prstGeom>
          </p:spPr>
          <p:txBody>
            <a:bodyPr anchor="ctr" rtlCol="false" tIns="0" lIns="0" bIns="0" rIns="0"/>
            <a:lstStyle/>
            <a:p>
              <a:pPr algn="ctr">
                <a:lnSpc>
                  <a:spcPts val="2160"/>
                </a:lnSpc>
              </a:pPr>
              <a:r>
                <a:rPr lang="en-US" sz="1800">
                  <a:solidFill>
                    <a:srgbClr val="FFFFFF"/>
                  </a:solidFill>
                  <a:latin typeface="Times New Roman"/>
                  <a:ea typeface="Times New Roman"/>
                  <a:cs typeface="Times New Roman"/>
                  <a:sym typeface="Times New Roman"/>
                </a:rPr>
                <a:t>@SIH Idea submission- Template</a:t>
              </a:r>
            </a:p>
          </p:txBody>
        </p:sp>
      </p:grpSp>
      <p:sp>
        <p:nvSpPr>
          <p:cNvPr name="Freeform 10" id="10"/>
          <p:cNvSpPr/>
          <p:nvPr/>
        </p:nvSpPr>
        <p:spPr>
          <a:xfrm flipH="false" flipV="false" rot="0">
            <a:off x="0" y="17990"/>
            <a:ext cx="18320416" cy="9767622"/>
          </a:xfrm>
          <a:custGeom>
            <a:avLst/>
            <a:gdLst/>
            <a:ahLst/>
            <a:cxnLst/>
            <a:rect r="r" b="b" t="t" l="l"/>
            <a:pathLst>
              <a:path h="9767622" w="18320416">
                <a:moveTo>
                  <a:pt x="0" y="0"/>
                </a:moveTo>
                <a:lnTo>
                  <a:pt x="18320416" y="0"/>
                </a:lnTo>
                <a:lnTo>
                  <a:pt x="18320416" y="9767622"/>
                </a:lnTo>
                <a:lnTo>
                  <a:pt x="0" y="9767622"/>
                </a:lnTo>
                <a:lnTo>
                  <a:pt x="0" y="0"/>
                </a:lnTo>
                <a:close/>
              </a:path>
            </a:pathLst>
          </a:custGeom>
          <a:blipFill>
            <a:blip r:embed="rId3"/>
            <a:stretch>
              <a:fillRect l="0" t="-1150" r="0" b="-4118"/>
            </a:stretch>
          </a:blipFill>
        </p:spPr>
      </p:sp>
      <p:grpSp>
        <p:nvGrpSpPr>
          <p:cNvPr name="Group 11" id="11"/>
          <p:cNvGrpSpPr/>
          <p:nvPr/>
        </p:nvGrpSpPr>
        <p:grpSpPr>
          <a:xfrm rot="0">
            <a:off x="376723" y="78448"/>
            <a:ext cx="3469487" cy="796752"/>
            <a:chOff x="0" y="0"/>
            <a:chExt cx="5188174" cy="1191441"/>
          </a:xfrm>
        </p:grpSpPr>
        <p:sp>
          <p:nvSpPr>
            <p:cNvPr name="Freeform 12" id="12" descr="Your startup LOGO"/>
            <p:cNvSpPr/>
            <p:nvPr/>
          </p:nvSpPr>
          <p:spPr>
            <a:xfrm flipH="false" flipV="false" rot="0">
              <a:off x="0" y="0"/>
              <a:ext cx="5188097" cy="1191453"/>
            </a:xfrm>
            <a:custGeom>
              <a:avLst/>
              <a:gdLst/>
              <a:ahLst/>
              <a:cxnLst/>
              <a:rect r="r" b="b" t="t" l="l"/>
              <a:pathLst>
                <a:path h="1191453" w="5188097">
                  <a:moveTo>
                    <a:pt x="0" y="595725"/>
                  </a:moveTo>
                  <a:cubicBezTo>
                    <a:pt x="0" y="266745"/>
                    <a:pt x="1161479" y="0"/>
                    <a:pt x="2594048" y="0"/>
                  </a:cubicBezTo>
                  <a:cubicBezTo>
                    <a:pt x="4026617" y="0"/>
                    <a:pt x="5188097" y="266745"/>
                    <a:pt x="5188097" y="595725"/>
                  </a:cubicBezTo>
                  <a:cubicBezTo>
                    <a:pt x="5188097" y="924705"/>
                    <a:pt x="4026617" y="1191453"/>
                    <a:pt x="2594048" y="1191453"/>
                  </a:cubicBezTo>
                  <a:cubicBezTo>
                    <a:pt x="1161479" y="1191453"/>
                    <a:pt x="0" y="924705"/>
                    <a:pt x="0" y="595725"/>
                  </a:cubicBezTo>
                  <a:close/>
                </a:path>
              </a:pathLst>
            </a:custGeom>
            <a:solidFill>
              <a:srgbClr val="FFFFFF"/>
            </a:solidFill>
            <a:ln w="38100" cap="sq">
              <a:solidFill>
                <a:srgbClr val="8064A2"/>
              </a:solidFill>
              <a:prstDash val="solid"/>
              <a:miter/>
            </a:ln>
          </p:spPr>
        </p:sp>
        <p:sp>
          <p:nvSpPr>
            <p:cNvPr name="TextBox 13" id="13"/>
            <p:cNvSpPr txBox="true"/>
            <p:nvPr/>
          </p:nvSpPr>
          <p:spPr>
            <a:xfrm>
              <a:off x="0" y="-19050"/>
              <a:ext cx="5188174" cy="1210491"/>
            </a:xfrm>
            <a:prstGeom prst="rect">
              <a:avLst/>
            </a:prstGeom>
          </p:spPr>
          <p:txBody>
            <a:bodyPr anchor="ctr" rtlCol="false" tIns="50800" lIns="50800" bIns="50800" rIns="50800"/>
            <a:lstStyle/>
            <a:p>
              <a:pPr algn="ctr">
                <a:lnSpc>
                  <a:spcPts val="3240"/>
                </a:lnSpc>
              </a:pPr>
              <a:r>
                <a:rPr lang="en-US" sz="2700">
                  <a:solidFill>
                    <a:srgbClr val="000000"/>
                  </a:solidFill>
                  <a:latin typeface="Times New Roman"/>
                  <a:ea typeface="Times New Roman"/>
                  <a:cs typeface="Times New Roman"/>
                  <a:sym typeface="Times New Roman"/>
                </a:rPr>
                <a:t>OUT OF TOKENS</a:t>
              </a:r>
            </a:p>
          </p:txBody>
        </p:sp>
      </p:grpSp>
      <p:grpSp>
        <p:nvGrpSpPr>
          <p:cNvPr name="Group 14" id="14"/>
          <p:cNvGrpSpPr/>
          <p:nvPr/>
        </p:nvGrpSpPr>
        <p:grpSpPr>
          <a:xfrm rot="0">
            <a:off x="15636903" y="30823"/>
            <a:ext cx="2408000" cy="1137011"/>
            <a:chOff x="0" y="0"/>
            <a:chExt cx="4499699" cy="2124672"/>
          </a:xfrm>
        </p:grpSpPr>
        <p:sp>
          <p:nvSpPr>
            <p:cNvPr name="Freeform 15" id="15"/>
            <p:cNvSpPr/>
            <p:nvPr/>
          </p:nvSpPr>
          <p:spPr>
            <a:xfrm flipH="false" flipV="false" rot="0">
              <a:off x="0" y="0"/>
              <a:ext cx="4499737" cy="2124710"/>
            </a:xfrm>
            <a:custGeom>
              <a:avLst/>
              <a:gdLst/>
              <a:ahLst/>
              <a:cxnLst/>
              <a:rect r="r" b="b" t="t" l="l"/>
              <a:pathLst>
                <a:path h="2124710" w="4499737">
                  <a:moveTo>
                    <a:pt x="0" y="0"/>
                  </a:moveTo>
                  <a:lnTo>
                    <a:pt x="4499737" y="0"/>
                  </a:lnTo>
                  <a:lnTo>
                    <a:pt x="4499737" y="2124710"/>
                  </a:lnTo>
                  <a:lnTo>
                    <a:pt x="0" y="2124710"/>
                  </a:lnTo>
                  <a:lnTo>
                    <a:pt x="0" y="0"/>
                  </a:lnTo>
                  <a:close/>
                </a:path>
              </a:pathLst>
            </a:custGeom>
            <a:blipFill>
              <a:blip r:embed="rId4"/>
              <a:stretch>
                <a:fillRect l="0" t="0" r="0" b="1"/>
              </a:stretch>
            </a:blipFill>
          </p:spPr>
        </p:sp>
      </p:grpSp>
      <p:sp>
        <p:nvSpPr>
          <p:cNvPr name="Freeform 16" id="16"/>
          <p:cNvSpPr/>
          <p:nvPr/>
        </p:nvSpPr>
        <p:spPr>
          <a:xfrm flipH="false" flipV="false" rot="0">
            <a:off x="732259" y="1312036"/>
            <a:ext cx="677643" cy="559056"/>
          </a:xfrm>
          <a:custGeom>
            <a:avLst/>
            <a:gdLst/>
            <a:ahLst/>
            <a:cxnLst/>
            <a:rect r="r" b="b" t="t" l="l"/>
            <a:pathLst>
              <a:path h="559056" w="677643">
                <a:moveTo>
                  <a:pt x="0" y="0"/>
                </a:moveTo>
                <a:lnTo>
                  <a:pt x="677643" y="0"/>
                </a:lnTo>
                <a:lnTo>
                  <a:pt x="677643" y="559056"/>
                </a:lnTo>
                <a:lnTo>
                  <a:pt x="0" y="55905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7" id="17"/>
          <p:cNvSpPr/>
          <p:nvPr/>
        </p:nvSpPr>
        <p:spPr>
          <a:xfrm flipH="false" flipV="false" rot="0">
            <a:off x="9684179" y="1312036"/>
            <a:ext cx="455631" cy="559056"/>
          </a:xfrm>
          <a:custGeom>
            <a:avLst/>
            <a:gdLst/>
            <a:ahLst/>
            <a:cxnLst/>
            <a:rect r="r" b="b" t="t" l="l"/>
            <a:pathLst>
              <a:path h="559056" w="455631">
                <a:moveTo>
                  <a:pt x="0" y="0"/>
                </a:moveTo>
                <a:lnTo>
                  <a:pt x="455630" y="0"/>
                </a:lnTo>
                <a:lnTo>
                  <a:pt x="455630" y="559056"/>
                </a:lnTo>
                <a:lnTo>
                  <a:pt x="0" y="55905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8" id="18"/>
          <p:cNvSpPr/>
          <p:nvPr/>
        </p:nvSpPr>
        <p:spPr>
          <a:xfrm flipH="false" flipV="false" rot="0">
            <a:off x="3229940" y="4166158"/>
            <a:ext cx="2772878" cy="2274360"/>
          </a:xfrm>
          <a:custGeom>
            <a:avLst/>
            <a:gdLst/>
            <a:ahLst/>
            <a:cxnLst/>
            <a:rect r="r" b="b" t="t" l="l"/>
            <a:pathLst>
              <a:path h="2274360" w="2772878">
                <a:moveTo>
                  <a:pt x="0" y="0"/>
                </a:moveTo>
                <a:lnTo>
                  <a:pt x="2772878" y="0"/>
                </a:lnTo>
                <a:lnTo>
                  <a:pt x="2772878" y="2274361"/>
                </a:lnTo>
                <a:lnTo>
                  <a:pt x="0" y="2274361"/>
                </a:lnTo>
                <a:lnTo>
                  <a:pt x="0" y="0"/>
                </a:lnTo>
                <a:close/>
              </a:path>
            </a:pathLst>
          </a:custGeom>
          <a:blipFill>
            <a:blip r:embed="rId9"/>
            <a:stretch>
              <a:fillRect l="0" t="0" r="0" b="0"/>
            </a:stretch>
          </a:blipFill>
        </p:spPr>
      </p:sp>
      <p:sp>
        <p:nvSpPr>
          <p:cNvPr name="Freeform 20" id="20"/>
          <p:cNvSpPr/>
          <p:nvPr/>
        </p:nvSpPr>
        <p:spPr>
          <a:xfrm flipH="false" flipV="false" rot="0">
            <a:off x="3386840" y="2758121"/>
            <a:ext cx="779602" cy="764010"/>
          </a:xfrm>
          <a:custGeom>
            <a:avLst/>
            <a:gdLst/>
            <a:ahLst/>
            <a:cxnLst/>
            <a:rect r="r" b="b" t="t" l="l"/>
            <a:pathLst>
              <a:path h="764010" w="779602">
                <a:moveTo>
                  <a:pt x="0" y="0"/>
                </a:moveTo>
                <a:lnTo>
                  <a:pt x="779602" y="0"/>
                </a:lnTo>
                <a:lnTo>
                  <a:pt x="779602" y="764010"/>
                </a:lnTo>
                <a:lnTo>
                  <a:pt x="0" y="76401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1" id="21"/>
          <p:cNvSpPr/>
          <p:nvPr/>
        </p:nvSpPr>
        <p:spPr>
          <a:xfrm flipH="false" flipV="false" rot="0">
            <a:off x="7315732" y="2718385"/>
            <a:ext cx="1115798" cy="1085911"/>
          </a:xfrm>
          <a:custGeom>
            <a:avLst/>
            <a:gdLst/>
            <a:ahLst/>
            <a:cxnLst/>
            <a:rect r="r" b="b" t="t" l="l"/>
            <a:pathLst>
              <a:path h="1085911" w="1115798">
                <a:moveTo>
                  <a:pt x="0" y="0"/>
                </a:moveTo>
                <a:lnTo>
                  <a:pt x="1115798" y="0"/>
                </a:lnTo>
                <a:lnTo>
                  <a:pt x="1115798" y="1085911"/>
                </a:lnTo>
                <a:lnTo>
                  <a:pt x="0" y="1085911"/>
                </a:lnTo>
                <a:lnTo>
                  <a:pt x="0" y="0"/>
                </a:lnTo>
                <a:close/>
              </a:path>
            </a:pathLst>
          </a:custGeom>
          <a:blipFill>
            <a:blip r:embed="rId14"/>
            <a:stretch>
              <a:fillRect l="0" t="0" r="0" b="0"/>
            </a:stretch>
          </a:blipFill>
        </p:spPr>
      </p:sp>
      <p:sp>
        <p:nvSpPr>
          <p:cNvPr name="Freeform 22" id="22"/>
          <p:cNvSpPr/>
          <p:nvPr/>
        </p:nvSpPr>
        <p:spPr>
          <a:xfrm flipH="false" flipV="false" rot="0">
            <a:off x="7858367" y="5347826"/>
            <a:ext cx="753936" cy="929854"/>
          </a:xfrm>
          <a:custGeom>
            <a:avLst/>
            <a:gdLst/>
            <a:ahLst/>
            <a:cxnLst/>
            <a:rect r="r" b="b" t="t" l="l"/>
            <a:pathLst>
              <a:path h="929854" w="753936">
                <a:moveTo>
                  <a:pt x="0" y="0"/>
                </a:moveTo>
                <a:lnTo>
                  <a:pt x="753935" y="0"/>
                </a:lnTo>
                <a:lnTo>
                  <a:pt x="753935" y="929854"/>
                </a:lnTo>
                <a:lnTo>
                  <a:pt x="0" y="929854"/>
                </a:lnTo>
                <a:lnTo>
                  <a:pt x="0" y="0"/>
                </a:lnTo>
                <a:close/>
              </a:path>
            </a:pathLst>
          </a:custGeom>
          <a:blipFill>
            <a:blip r:embed="rId15"/>
            <a:stretch>
              <a:fillRect l="0" t="0" r="0" b="0"/>
            </a:stretch>
          </a:blipFill>
        </p:spPr>
      </p:sp>
      <p:sp>
        <p:nvSpPr>
          <p:cNvPr name="Freeform 23" id="23"/>
          <p:cNvSpPr/>
          <p:nvPr/>
        </p:nvSpPr>
        <p:spPr>
          <a:xfrm flipH="false" flipV="false" rot="0">
            <a:off x="2131658" y="4538363"/>
            <a:ext cx="726876" cy="726876"/>
          </a:xfrm>
          <a:custGeom>
            <a:avLst/>
            <a:gdLst/>
            <a:ahLst/>
            <a:cxnLst/>
            <a:rect r="r" b="b" t="t" l="l"/>
            <a:pathLst>
              <a:path h="726876" w="726876">
                <a:moveTo>
                  <a:pt x="0" y="0"/>
                </a:moveTo>
                <a:lnTo>
                  <a:pt x="726875" y="0"/>
                </a:lnTo>
                <a:lnTo>
                  <a:pt x="726875" y="726876"/>
                </a:lnTo>
                <a:lnTo>
                  <a:pt x="0" y="726876"/>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24" id="24"/>
          <p:cNvSpPr/>
          <p:nvPr/>
        </p:nvSpPr>
        <p:spPr>
          <a:xfrm flipH="false" flipV="false" rot="0">
            <a:off x="7658214" y="8921151"/>
            <a:ext cx="609068" cy="606023"/>
          </a:xfrm>
          <a:custGeom>
            <a:avLst/>
            <a:gdLst/>
            <a:ahLst/>
            <a:cxnLst/>
            <a:rect r="r" b="b" t="t" l="l"/>
            <a:pathLst>
              <a:path h="606023" w="609068">
                <a:moveTo>
                  <a:pt x="0" y="0"/>
                </a:moveTo>
                <a:lnTo>
                  <a:pt x="609068" y="0"/>
                </a:lnTo>
                <a:lnTo>
                  <a:pt x="609068" y="606022"/>
                </a:lnTo>
                <a:lnTo>
                  <a:pt x="0" y="606022"/>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25" id="25"/>
          <p:cNvSpPr/>
          <p:nvPr/>
        </p:nvSpPr>
        <p:spPr>
          <a:xfrm flipH="false" flipV="false" rot="0">
            <a:off x="4330572" y="8938355"/>
            <a:ext cx="571614" cy="571614"/>
          </a:xfrm>
          <a:custGeom>
            <a:avLst/>
            <a:gdLst/>
            <a:ahLst/>
            <a:cxnLst/>
            <a:rect r="r" b="b" t="t" l="l"/>
            <a:pathLst>
              <a:path h="571614" w="571614">
                <a:moveTo>
                  <a:pt x="0" y="0"/>
                </a:moveTo>
                <a:lnTo>
                  <a:pt x="571614" y="0"/>
                </a:lnTo>
                <a:lnTo>
                  <a:pt x="571614" y="571614"/>
                </a:lnTo>
                <a:lnTo>
                  <a:pt x="0" y="571614"/>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26" id="26"/>
          <p:cNvSpPr/>
          <p:nvPr/>
        </p:nvSpPr>
        <p:spPr>
          <a:xfrm flipH="false" flipV="false" rot="0">
            <a:off x="11310620" y="9005568"/>
            <a:ext cx="295706" cy="557937"/>
          </a:xfrm>
          <a:custGeom>
            <a:avLst/>
            <a:gdLst/>
            <a:ahLst/>
            <a:cxnLst/>
            <a:rect r="r" b="b" t="t" l="l"/>
            <a:pathLst>
              <a:path h="557937" w="295706">
                <a:moveTo>
                  <a:pt x="0" y="0"/>
                </a:moveTo>
                <a:lnTo>
                  <a:pt x="295707" y="0"/>
                </a:lnTo>
                <a:lnTo>
                  <a:pt x="295707" y="557936"/>
                </a:lnTo>
                <a:lnTo>
                  <a:pt x="0" y="557936"/>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Freeform 27" id="27"/>
          <p:cNvSpPr/>
          <p:nvPr/>
        </p:nvSpPr>
        <p:spPr>
          <a:xfrm flipH="false" flipV="false" rot="0">
            <a:off x="3229940" y="7205609"/>
            <a:ext cx="813665" cy="892832"/>
          </a:xfrm>
          <a:custGeom>
            <a:avLst/>
            <a:gdLst/>
            <a:ahLst/>
            <a:cxnLst/>
            <a:rect r="r" b="b" t="t" l="l"/>
            <a:pathLst>
              <a:path h="892832" w="813665">
                <a:moveTo>
                  <a:pt x="0" y="0"/>
                </a:moveTo>
                <a:lnTo>
                  <a:pt x="813665" y="0"/>
                </a:lnTo>
                <a:lnTo>
                  <a:pt x="813665" y="892832"/>
                </a:lnTo>
                <a:lnTo>
                  <a:pt x="0" y="892832"/>
                </a:lnTo>
                <a:lnTo>
                  <a:pt x="0" y="0"/>
                </a:lnTo>
                <a:close/>
              </a:path>
            </a:pathLst>
          </a:custGeom>
          <a:blipFill>
            <a:blip r:embed="rId24"/>
            <a:stretch>
              <a:fillRect l="0" t="0" r="0" b="0"/>
            </a:stretch>
          </a:blipFill>
        </p:spPr>
      </p:sp>
      <p:sp>
        <p:nvSpPr>
          <p:cNvPr name="Freeform 28" id="28"/>
          <p:cNvSpPr/>
          <p:nvPr/>
        </p:nvSpPr>
        <p:spPr>
          <a:xfrm flipH="false" flipV="false" rot="0">
            <a:off x="14619167" y="8971962"/>
            <a:ext cx="753192" cy="625149"/>
          </a:xfrm>
          <a:custGeom>
            <a:avLst/>
            <a:gdLst/>
            <a:ahLst/>
            <a:cxnLst/>
            <a:rect r="r" b="b" t="t" l="l"/>
            <a:pathLst>
              <a:path h="625149" w="753192">
                <a:moveTo>
                  <a:pt x="0" y="0"/>
                </a:moveTo>
                <a:lnTo>
                  <a:pt x="753192" y="0"/>
                </a:lnTo>
                <a:lnTo>
                  <a:pt x="753192" y="625149"/>
                </a:lnTo>
                <a:lnTo>
                  <a:pt x="0" y="625149"/>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p:spPr>
      </p:sp>
      <p:sp>
        <p:nvSpPr>
          <p:cNvPr name="Freeform 29" id="29"/>
          <p:cNvSpPr/>
          <p:nvPr/>
        </p:nvSpPr>
        <p:spPr>
          <a:xfrm flipH="false" flipV="false" rot="0">
            <a:off x="658368" y="8930676"/>
            <a:ext cx="642993" cy="623704"/>
          </a:xfrm>
          <a:custGeom>
            <a:avLst/>
            <a:gdLst/>
            <a:ahLst/>
            <a:cxnLst/>
            <a:rect r="r" b="b" t="t" l="l"/>
            <a:pathLst>
              <a:path h="623704" w="642993">
                <a:moveTo>
                  <a:pt x="0" y="0"/>
                </a:moveTo>
                <a:lnTo>
                  <a:pt x="642993" y="0"/>
                </a:lnTo>
                <a:lnTo>
                  <a:pt x="642993" y="623703"/>
                </a:lnTo>
                <a:lnTo>
                  <a:pt x="0" y="623703"/>
                </a:lnTo>
                <a:lnTo>
                  <a:pt x="0" y="0"/>
                </a:lnTo>
                <a:close/>
              </a:path>
            </a:pathLst>
          </a:custGeom>
          <a:blipFill>
            <a:blip r:embed="rId27">
              <a:extLst>
                <a:ext uri="{96DAC541-7B7A-43D3-8B79-37D633B846F1}">
                  <asvg:svgBlip xmlns:asvg="http://schemas.microsoft.com/office/drawing/2016/SVG/main" r:embed="rId28"/>
                </a:ext>
              </a:extLst>
            </a:blip>
            <a:stretch>
              <a:fillRect l="0" t="0" r="0" b="0"/>
            </a:stretch>
          </a:blipFill>
        </p:spPr>
      </p:sp>
      <p:sp>
        <p:nvSpPr>
          <p:cNvPr name="Freeform 30" id="30"/>
          <p:cNvSpPr/>
          <p:nvPr/>
        </p:nvSpPr>
        <p:spPr>
          <a:xfrm flipH="false" flipV="false" rot="0">
            <a:off x="5057557" y="7247380"/>
            <a:ext cx="785831" cy="776008"/>
          </a:xfrm>
          <a:custGeom>
            <a:avLst/>
            <a:gdLst/>
            <a:ahLst/>
            <a:cxnLst/>
            <a:rect r="r" b="b" t="t" l="l"/>
            <a:pathLst>
              <a:path h="776008" w="785831">
                <a:moveTo>
                  <a:pt x="0" y="0"/>
                </a:moveTo>
                <a:lnTo>
                  <a:pt x="785832" y="0"/>
                </a:lnTo>
                <a:lnTo>
                  <a:pt x="785832" y="776008"/>
                </a:lnTo>
                <a:lnTo>
                  <a:pt x="0" y="776008"/>
                </a:lnTo>
                <a:lnTo>
                  <a:pt x="0" y="0"/>
                </a:lnTo>
                <a:close/>
              </a:path>
            </a:pathLst>
          </a:custGeom>
          <a:blipFill>
            <a:blip r:embed="rId29"/>
            <a:stretch>
              <a:fillRect l="0" t="0" r="0" b="0"/>
            </a:stretch>
          </a:blipFill>
        </p:spPr>
      </p:sp>
      <p:sp>
        <p:nvSpPr>
          <p:cNvPr name="TextBox 32" id="32"/>
          <p:cNvSpPr txBox="true"/>
          <p:nvPr/>
        </p:nvSpPr>
        <p:spPr>
          <a:xfrm rot="0">
            <a:off x="6374293" y="4844651"/>
            <a:ext cx="1609344" cy="1228400"/>
          </a:xfrm>
          <a:prstGeom prst="rect">
            <a:avLst/>
          </a:prstGeom>
        </p:spPr>
        <p:txBody>
          <a:bodyPr anchor="t" rtlCol="false" tIns="0" lIns="0" bIns="0" rIns="0">
            <a:spAutoFit/>
          </a:bodyPr>
          <a:lstStyle/>
          <a:p>
            <a:pPr algn="l">
              <a:lnSpc>
                <a:spcPts val="1601"/>
              </a:lnSpc>
            </a:pPr>
          </a:p>
          <a:p>
            <a:pPr algn="l">
              <a:lnSpc>
                <a:spcPts val="1601"/>
              </a:lnSpc>
            </a:pPr>
            <a:r>
              <a:rPr lang="en-US" sz="1334">
                <a:solidFill>
                  <a:srgbClr val="100F0D"/>
                </a:solidFill>
                <a:latin typeface="Times New Roman"/>
                <a:ea typeface="Times New Roman"/>
                <a:cs typeface="Times New Roman"/>
                <a:sym typeface="Times New Roman"/>
              </a:rPr>
              <a:t>Understanding a</a:t>
            </a:r>
            <a:r>
              <a:rPr lang="en-US" sz="1334">
                <a:solidFill>
                  <a:srgbClr val="100F0D"/>
                </a:solidFill>
                <a:latin typeface="Times New Roman"/>
                <a:ea typeface="Times New Roman"/>
                <a:cs typeface="Times New Roman"/>
                <a:sym typeface="Times New Roman"/>
              </a:rPr>
              <a:t>udience, objective and context adds further manual effort</a:t>
            </a:r>
          </a:p>
          <a:p>
            <a:pPr algn="l">
              <a:lnSpc>
                <a:spcPts val="1601"/>
              </a:lnSpc>
            </a:pPr>
          </a:p>
        </p:txBody>
      </p:sp>
      <p:sp>
        <p:nvSpPr>
          <p:cNvPr name="TextBox 34" id="34"/>
          <p:cNvSpPr txBox="true"/>
          <p:nvPr/>
        </p:nvSpPr>
        <p:spPr>
          <a:xfrm rot="0">
            <a:off x="1622257" y="1185137"/>
            <a:ext cx="2609363" cy="708079"/>
          </a:xfrm>
          <a:prstGeom prst="rect">
            <a:avLst/>
          </a:prstGeom>
        </p:spPr>
        <p:txBody>
          <a:bodyPr anchor="t" rtlCol="false" tIns="0" lIns="0" bIns="0" rIns="0">
            <a:spAutoFit/>
          </a:bodyPr>
          <a:lstStyle/>
          <a:p>
            <a:pPr algn="ctr">
              <a:lnSpc>
                <a:spcPts val="5600"/>
              </a:lnSpc>
            </a:pPr>
            <a:r>
              <a:rPr lang="en-US" sz="4000">
                <a:solidFill>
                  <a:srgbClr val="000000"/>
                </a:solidFill>
                <a:latin typeface="Times New Roman"/>
                <a:ea typeface="Times New Roman"/>
                <a:cs typeface="Times New Roman"/>
                <a:sym typeface="Times New Roman"/>
              </a:rPr>
              <a:t>The problem</a:t>
            </a:r>
          </a:p>
        </p:txBody>
      </p:sp>
      <p:sp>
        <p:nvSpPr>
          <p:cNvPr name="TextBox 35" id="35"/>
          <p:cNvSpPr txBox="true"/>
          <p:nvPr/>
        </p:nvSpPr>
        <p:spPr>
          <a:xfrm rot="0">
            <a:off x="10337108" y="1185836"/>
            <a:ext cx="6542755" cy="625475"/>
          </a:xfrm>
          <a:prstGeom prst="rect">
            <a:avLst/>
          </a:prstGeom>
        </p:spPr>
        <p:txBody>
          <a:bodyPr anchor="t" rtlCol="false" tIns="0" lIns="0" bIns="0" rIns="0">
            <a:spAutoFit/>
          </a:bodyPr>
          <a:lstStyle/>
          <a:p>
            <a:pPr algn="ctr">
              <a:lnSpc>
                <a:spcPts val="4900"/>
              </a:lnSpc>
            </a:pPr>
            <a:r>
              <a:rPr lang="en-US" sz="3500">
                <a:solidFill>
                  <a:srgbClr val="000000"/>
                </a:solidFill>
                <a:latin typeface="Times New Roman"/>
                <a:ea typeface="Times New Roman"/>
                <a:cs typeface="Times New Roman"/>
                <a:sym typeface="Times New Roman"/>
              </a:rPr>
              <a:t>Our Solution: SpectraSource</a:t>
            </a:r>
          </a:p>
        </p:txBody>
      </p:sp>
      <p:sp>
        <p:nvSpPr>
          <p:cNvPr name="TextBox 37" id="37"/>
          <p:cNvSpPr txBox="true"/>
          <p:nvPr/>
        </p:nvSpPr>
        <p:spPr>
          <a:xfrm rot="0">
            <a:off x="689569" y="2565999"/>
            <a:ext cx="2673231" cy="1162321"/>
          </a:xfrm>
          <a:prstGeom prst="rect">
            <a:avLst/>
          </a:prstGeom>
        </p:spPr>
        <p:txBody>
          <a:bodyPr anchor="t" rtlCol="false" tIns="0" lIns="0" bIns="0" rIns="0">
            <a:spAutoFit/>
          </a:bodyPr>
          <a:lstStyle/>
          <a:p>
            <a:pPr algn="l">
              <a:lnSpc>
                <a:spcPts val="1825"/>
              </a:lnSpc>
            </a:pPr>
          </a:p>
          <a:p>
            <a:pPr algn="l">
              <a:lnSpc>
                <a:spcPts val="1825"/>
              </a:lnSpc>
            </a:pPr>
            <a:r>
              <a:rPr lang="en-US" sz="1521">
                <a:solidFill>
                  <a:srgbClr val="100F0D"/>
                </a:solidFill>
                <a:latin typeface="Times New Roman"/>
                <a:ea typeface="Times New Roman"/>
                <a:cs typeface="Times New Roman"/>
                <a:sym typeface="Times New Roman"/>
              </a:rPr>
              <a:t>Information arrives across diverse formats — reports, advisories, articles, images, videos and more.</a:t>
            </a:r>
          </a:p>
          <a:p>
            <a:pPr algn="l">
              <a:lnSpc>
                <a:spcPts val="1825"/>
              </a:lnSpc>
            </a:pPr>
          </a:p>
        </p:txBody>
      </p:sp>
      <p:sp>
        <p:nvSpPr>
          <p:cNvPr name="TextBox 38" id="38"/>
          <p:cNvSpPr txBox="true"/>
          <p:nvPr/>
        </p:nvSpPr>
        <p:spPr>
          <a:xfrm rot="0">
            <a:off x="658368" y="2329523"/>
            <a:ext cx="3573251" cy="295248"/>
          </a:xfrm>
          <a:prstGeom prst="rect">
            <a:avLst/>
          </a:prstGeom>
        </p:spPr>
        <p:txBody>
          <a:bodyPr anchor="t" rtlCol="false" tIns="0" lIns="0" bIns="0" rIns="0">
            <a:spAutoFit/>
          </a:bodyPr>
          <a:lstStyle/>
          <a:p>
            <a:pPr algn="l">
              <a:lnSpc>
                <a:spcPts val="2123"/>
              </a:lnSpc>
            </a:pPr>
            <a:r>
              <a:rPr lang="en-US" sz="1769" b="1">
                <a:solidFill>
                  <a:srgbClr val="100F0D"/>
                </a:solidFill>
                <a:latin typeface="Times New Roman"/>
                <a:ea typeface="Times New Roman"/>
                <a:cs typeface="Times New Roman"/>
                <a:sym typeface="Times New Roman"/>
              </a:rPr>
              <a:t>MULTIPLE SOURCE FORMATS</a:t>
            </a:r>
          </a:p>
        </p:txBody>
      </p:sp>
      <p:sp>
        <p:nvSpPr>
          <p:cNvPr name="TextBox 39" id="39"/>
          <p:cNvSpPr txBox="true"/>
          <p:nvPr/>
        </p:nvSpPr>
        <p:spPr>
          <a:xfrm rot="0">
            <a:off x="5156827" y="2794653"/>
            <a:ext cx="2280609" cy="705012"/>
          </a:xfrm>
          <a:prstGeom prst="rect">
            <a:avLst/>
          </a:prstGeom>
        </p:spPr>
        <p:txBody>
          <a:bodyPr anchor="t" rtlCol="false" tIns="0" lIns="0" bIns="0" rIns="0">
            <a:spAutoFit/>
          </a:bodyPr>
          <a:lstStyle/>
          <a:p>
            <a:pPr algn="l">
              <a:lnSpc>
                <a:spcPts val="1868"/>
              </a:lnSpc>
            </a:pPr>
            <a:r>
              <a:rPr lang="en-US" sz="1557">
                <a:solidFill>
                  <a:srgbClr val="100F0D"/>
                </a:solidFill>
                <a:latin typeface="Times New Roman"/>
                <a:ea typeface="Times New Roman"/>
                <a:cs typeface="Times New Roman"/>
                <a:sym typeface="Times New Roman"/>
              </a:rPr>
              <a:t>Operators manually analyse content to extract relevant information and context.</a:t>
            </a:r>
          </a:p>
        </p:txBody>
      </p:sp>
      <p:sp>
        <p:nvSpPr>
          <p:cNvPr name="TextBox 40" id="40"/>
          <p:cNvSpPr txBox="true"/>
          <p:nvPr/>
        </p:nvSpPr>
        <p:spPr>
          <a:xfrm rot="0">
            <a:off x="5128252" y="2345821"/>
            <a:ext cx="2670034" cy="295248"/>
          </a:xfrm>
          <a:prstGeom prst="rect">
            <a:avLst/>
          </a:prstGeom>
        </p:spPr>
        <p:txBody>
          <a:bodyPr anchor="t" rtlCol="false" tIns="0" lIns="0" bIns="0" rIns="0">
            <a:spAutoFit/>
          </a:bodyPr>
          <a:lstStyle/>
          <a:p>
            <a:pPr algn="ctr">
              <a:lnSpc>
                <a:spcPts val="2124"/>
              </a:lnSpc>
            </a:pPr>
            <a:r>
              <a:rPr lang="en-US" b="1" sz="1770">
                <a:solidFill>
                  <a:srgbClr val="100F0D"/>
                </a:solidFill>
                <a:latin typeface="Times New Roman"/>
                <a:ea typeface="Times New Roman"/>
                <a:cs typeface="Times New Roman"/>
                <a:sym typeface="Times New Roman"/>
              </a:rPr>
              <a:t>MANUAL ANALYSIS</a:t>
            </a:r>
          </a:p>
        </p:txBody>
      </p:sp>
      <p:sp>
        <p:nvSpPr>
          <p:cNvPr name="TextBox 41" id="41"/>
          <p:cNvSpPr txBox="true"/>
          <p:nvPr/>
        </p:nvSpPr>
        <p:spPr>
          <a:xfrm rot="0">
            <a:off x="6227372" y="4487678"/>
            <a:ext cx="2394455" cy="295248"/>
          </a:xfrm>
          <a:prstGeom prst="rect">
            <a:avLst/>
          </a:prstGeom>
        </p:spPr>
        <p:txBody>
          <a:bodyPr anchor="t" rtlCol="false" tIns="0" lIns="0" bIns="0" rIns="0">
            <a:spAutoFit/>
          </a:bodyPr>
          <a:lstStyle/>
          <a:p>
            <a:pPr algn="ctr">
              <a:lnSpc>
                <a:spcPts val="2124"/>
              </a:lnSpc>
            </a:pPr>
            <a:r>
              <a:rPr lang="en-US" b="1" sz="1770">
                <a:solidFill>
                  <a:srgbClr val="100F0D"/>
                </a:solidFill>
                <a:latin typeface="Times New Roman"/>
                <a:ea typeface="Times New Roman"/>
                <a:cs typeface="Times New Roman"/>
                <a:sym typeface="Times New Roman"/>
              </a:rPr>
              <a:t>CONTEXT &amp; INTENT</a:t>
            </a:r>
          </a:p>
        </p:txBody>
      </p:sp>
      <p:sp>
        <p:nvSpPr>
          <p:cNvPr name="TextBox 42" id="42"/>
          <p:cNvSpPr txBox="true"/>
          <p:nvPr/>
        </p:nvSpPr>
        <p:spPr>
          <a:xfrm rot="0">
            <a:off x="5890260" y="7078694"/>
            <a:ext cx="2560320" cy="1162321"/>
          </a:xfrm>
          <a:prstGeom prst="rect">
            <a:avLst/>
          </a:prstGeom>
        </p:spPr>
        <p:txBody>
          <a:bodyPr anchor="t" rtlCol="false" tIns="0" lIns="0" bIns="0" rIns="0">
            <a:spAutoFit/>
          </a:bodyPr>
          <a:lstStyle/>
          <a:p>
            <a:pPr algn="l">
              <a:lnSpc>
                <a:spcPts val="1841"/>
              </a:lnSpc>
            </a:pPr>
          </a:p>
          <a:p>
            <a:pPr algn="l">
              <a:lnSpc>
                <a:spcPts val="1841"/>
              </a:lnSpc>
            </a:pPr>
            <a:r>
              <a:rPr lang="en-US" sz="1534">
                <a:solidFill>
                  <a:srgbClr val="100F0D"/>
                </a:solidFill>
                <a:latin typeface="Times New Roman"/>
                <a:ea typeface="Times New Roman"/>
                <a:cs typeface="Times New Roman"/>
                <a:sym typeface="Times New Roman"/>
              </a:rPr>
              <a:t>The same information must be recreated separately for every communication format</a:t>
            </a:r>
          </a:p>
          <a:p>
            <a:pPr algn="l">
              <a:lnSpc>
                <a:spcPts val="1841"/>
              </a:lnSpc>
            </a:pPr>
          </a:p>
        </p:txBody>
      </p:sp>
      <p:sp>
        <p:nvSpPr>
          <p:cNvPr name="TextBox 43" id="43"/>
          <p:cNvSpPr txBox="true"/>
          <p:nvPr/>
        </p:nvSpPr>
        <p:spPr>
          <a:xfrm rot="0">
            <a:off x="5061757" y="6817884"/>
            <a:ext cx="3550545" cy="295248"/>
          </a:xfrm>
          <a:prstGeom prst="rect">
            <a:avLst/>
          </a:prstGeom>
        </p:spPr>
        <p:txBody>
          <a:bodyPr anchor="t" rtlCol="false" tIns="0" lIns="0" bIns="0" rIns="0">
            <a:spAutoFit/>
          </a:bodyPr>
          <a:lstStyle/>
          <a:p>
            <a:pPr algn="ctr">
              <a:lnSpc>
                <a:spcPts val="2124"/>
              </a:lnSpc>
            </a:pPr>
            <a:r>
              <a:rPr lang="en-US" b="1" sz="1770">
                <a:solidFill>
                  <a:srgbClr val="100F0D"/>
                </a:solidFill>
                <a:latin typeface="Times New Roman"/>
                <a:ea typeface="Times New Roman"/>
                <a:cs typeface="Times New Roman"/>
                <a:sym typeface="Times New Roman"/>
              </a:rPr>
              <a:t>FORMAT-SPECIFIC CREATION</a:t>
            </a:r>
          </a:p>
        </p:txBody>
      </p:sp>
      <p:sp>
        <p:nvSpPr>
          <p:cNvPr name="TextBox 44" id="44"/>
          <p:cNvSpPr txBox="true"/>
          <p:nvPr/>
        </p:nvSpPr>
        <p:spPr>
          <a:xfrm rot="0">
            <a:off x="822217" y="6954842"/>
            <a:ext cx="2011680" cy="1390975"/>
          </a:xfrm>
          <a:prstGeom prst="rect">
            <a:avLst/>
          </a:prstGeom>
        </p:spPr>
        <p:txBody>
          <a:bodyPr anchor="t" rtlCol="false" tIns="0" lIns="0" bIns="0" rIns="0">
            <a:spAutoFit/>
          </a:bodyPr>
          <a:lstStyle/>
          <a:p>
            <a:pPr algn="l">
              <a:lnSpc>
                <a:spcPts val="1841"/>
              </a:lnSpc>
            </a:pPr>
          </a:p>
          <a:p>
            <a:pPr algn="l">
              <a:lnSpc>
                <a:spcPts val="1841"/>
              </a:lnSpc>
            </a:pPr>
            <a:r>
              <a:rPr lang="en-US" sz="1534">
                <a:solidFill>
                  <a:srgbClr val="100F0D"/>
                </a:solidFill>
                <a:latin typeface="Times New Roman"/>
                <a:ea typeface="Times New Roman"/>
                <a:cs typeface="Times New Roman"/>
                <a:sym typeface="Times New Roman"/>
              </a:rPr>
              <a:t>Crea</a:t>
            </a:r>
            <a:r>
              <a:rPr lang="en-US" sz="1534">
                <a:solidFill>
                  <a:srgbClr val="100F0D"/>
                </a:solidFill>
                <a:latin typeface="Times New Roman"/>
                <a:ea typeface="Times New Roman"/>
                <a:cs typeface="Times New Roman"/>
                <a:sym typeface="Times New Roman"/>
              </a:rPr>
              <a:t>ting effective outputs often requires both domain and communication expertise</a:t>
            </a:r>
          </a:p>
          <a:p>
            <a:pPr algn="l">
              <a:lnSpc>
                <a:spcPts val="1841"/>
              </a:lnSpc>
            </a:pPr>
          </a:p>
        </p:txBody>
      </p:sp>
      <p:sp>
        <p:nvSpPr>
          <p:cNvPr name="TextBox 45" id="45"/>
          <p:cNvSpPr txBox="true"/>
          <p:nvPr/>
        </p:nvSpPr>
        <p:spPr>
          <a:xfrm rot="0">
            <a:off x="752400" y="6817884"/>
            <a:ext cx="2758515" cy="295248"/>
          </a:xfrm>
          <a:prstGeom prst="rect">
            <a:avLst/>
          </a:prstGeom>
        </p:spPr>
        <p:txBody>
          <a:bodyPr anchor="t" rtlCol="false" tIns="0" lIns="0" bIns="0" rIns="0">
            <a:spAutoFit/>
          </a:bodyPr>
          <a:lstStyle/>
          <a:p>
            <a:pPr algn="l">
              <a:lnSpc>
                <a:spcPts val="2124"/>
              </a:lnSpc>
            </a:pPr>
            <a:r>
              <a:rPr lang="en-US" sz="1770" b="1">
                <a:solidFill>
                  <a:srgbClr val="100F0D"/>
                </a:solidFill>
                <a:latin typeface="Times New Roman"/>
                <a:ea typeface="Times New Roman"/>
                <a:cs typeface="Times New Roman"/>
                <a:sym typeface="Times New Roman"/>
              </a:rPr>
              <a:t>EXPERTISE REQUIRED</a:t>
            </a:r>
          </a:p>
        </p:txBody>
      </p:sp>
      <p:sp>
        <p:nvSpPr>
          <p:cNvPr name="TextBox 46" id="46"/>
          <p:cNvSpPr txBox="true"/>
          <p:nvPr/>
        </p:nvSpPr>
        <p:spPr>
          <a:xfrm rot="0">
            <a:off x="658368" y="4294451"/>
            <a:ext cx="1737360" cy="1008888"/>
          </a:xfrm>
          <a:prstGeom prst="rect">
            <a:avLst/>
          </a:prstGeom>
        </p:spPr>
        <p:txBody>
          <a:bodyPr anchor="t" rtlCol="false" tIns="0" lIns="0" bIns="0" rIns="0">
            <a:spAutoFit/>
          </a:bodyPr>
          <a:lstStyle/>
          <a:p>
            <a:pPr algn="l">
              <a:lnSpc>
                <a:spcPts val="2655"/>
              </a:lnSpc>
            </a:pPr>
            <a:r>
              <a:rPr lang="en-US" sz="1770" b="1">
                <a:solidFill>
                  <a:srgbClr val="100F0D"/>
                </a:solidFill>
                <a:latin typeface="Times New Roman"/>
                <a:ea typeface="Times New Roman"/>
                <a:cs typeface="Times New Roman"/>
                <a:sym typeface="Times New Roman"/>
              </a:rPr>
              <a:t>TIME &amp; RESOURCE INTENSIVE</a:t>
            </a:r>
          </a:p>
        </p:txBody>
      </p:sp>
      <p:sp>
        <p:nvSpPr>
          <p:cNvPr name="TextBox 47" id="47"/>
          <p:cNvSpPr txBox="true"/>
          <p:nvPr/>
        </p:nvSpPr>
        <p:spPr>
          <a:xfrm rot="0">
            <a:off x="689569" y="5417639"/>
            <a:ext cx="1865376" cy="628488"/>
          </a:xfrm>
          <a:prstGeom prst="rect">
            <a:avLst/>
          </a:prstGeom>
        </p:spPr>
        <p:txBody>
          <a:bodyPr anchor="t" rtlCol="false" tIns="0" lIns="0" bIns="0" rIns="0">
            <a:spAutoFit/>
          </a:bodyPr>
          <a:lstStyle/>
          <a:p>
            <a:pPr algn="l">
              <a:lnSpc>
                <a:spcPts val="1601"/>
              </a:lnSpc>
            </a:pPr>
            <a:r>
              <a:rPr lang="en-US" sz="1334">
                <a:solidFill>
                  <a:srgbClr val="100F0D"/>
                </a:solidFill>
                <a:latin typeface="Times New Roman"/>
                <a:ea typeface="Times New Roman"/>
                <a:cs typeface="Times New Roman"/>
                <a:sym typeface="Times New Roman"/>
              </a:rPr>
              <a:t>Repeated processing consumes significant time and resources.</a:t>
            </a:r>
          </a:p>
        </p:txBody>
      </p:sp>
      <p:sp>
        <p:nvSpPr>
          <p:cNvPr name="TextBox 54" id="54"/>
          <p:cNvSpPr txBox="true"/>
          <p:nvPr/>
        </p:nvSpPr>
        <p:spPr>
          <a:xfrm rot="0">
            <a:off x="1527048" y="8748474"/>
            <a:ext cx="1609344" cy="676286"/>
          </a:xfrm>
          <a:prstGeom prst="rect">
            <a:avLst/>
          </a:prstGeom>
        </p:spPr>
        <p:txBody>
          <a:bodyPr anchor="t" rtlCol="false" tIns="0" lIns="0" bIns="0" rIns="0">
            <a:spAutoFit/>
          </a:bodyPr>
          <a:lstStyle/>
          <a:p>
            <a:pPr algn="l">
              <a:lnSpc>
                <a:spcPts val="2619"/>
              </a:lnSpc>
            </a:pPr>
            <a:r>
              <a:rPr lang="en-US" sz="2494" b="1">
                <a:solidFill>
                  <a:srgbClr val="100F0D"/>
                </a:solidFill>
                <a:latin typeface="Times New Roman"/>
                <a:ea typeface="Times New Roman"/>
                <a:cs typeface="Times New Roman"/>
                <a:sym typeface="Times New Roman"/>
              </a:rPr>
              <a:t> BENEFITS</a:t>
            </a:r>
          </a:p>
        </p:txBody>
      </p:sp>
      <p:sp>
        <p:nvSpPr>
          <p:cNvPr name="TextBox 55" id="55"/>
          <p:cNvSpPr txBox="true"/>
          <p:nvPr/>
        </p:nvSpPr>
        <p:spPr>
          <a:xfrm rot="0">
            <a:off x="5175877" y="8951875"/>
            <a:ext cx="1691640" cy="559371"/>
          </a:xfrm>
          <a:prstGeom prst="rect">
            <a:avLst/>
          </a:prstGeom>
        </p:spPr>
        <p:txBody>
          <a:bodyPr anchor="t" rtlCol="false" tIns="0" lIns="0" bIns="0" rIns="0">
            <a:spAutoFit/>
          </a:bodyPr>
          <a:lstStyle/>
          <a:p>
            <a:pPr algn="l">
              <a:lnSpc>
                <a:spcPts val="2249"/>
              </a:lnSpc>
            </a:pPr>
            <a:r>
              <a:rPr lang="en-US" sz="1606" b="1">
                <a:solidFill>
                  <a:srgbClr val="100F0D"/>
                </a:solidFill>
                <a:latin typeface="Times New Roman"/>
                <a:ea typeface="Times New Roman"/>
                <a:cs typeface="Times New Roman"/>
                <a:sym typeface="Times New Roman"/>
              </a:rPr>
              <a:t>Reduce manual effort</a:t>
            </a:r>
          </a:p>
        </p:txBody>
      </p:sp>
      <p:sp>
        <p:nvSpPr>
          <p:cNvPr name="TextBox 56" id="56"/>
          <p:cNvSpPr txBox="true"/>
          <p:nvPr/>
        </p:nvSpPr>
        <p:spPr>
          <a:xfrm rot="0">
            <a:off x="8621827" y="8973075"/>
            <a:ext cx="1691640" cy="559371"/>
          </a:xfrm>
          <a:prstGeom prst="rect">
            <a:avLst/>
          </a:prstGeom>
        </p:spPr>
        <p:txBody>
          <a:bodyPr anchor="t" rtlCol="false" tIns="0" lIns="0" bIns="0" rIns="0">
            <a:spAutoFit/>
          </a:bodyPr>
          <a:lstStyle/>
          <a:p>
            <a:pPr algn="l">
              <a:lnSpc>
                <a:spcPts val="2249"/>
              </a:lnSpc>
            </a:pPr>
            <a:r>
              <a:rPr lang="en-US" sz="1606" b="1">
                <a:solidFill>
                  <a:srgbClr val="100F0D"/>
                </a:solidFill>
                <a:latin typeface="Times New Roman"/>
                <a:ea typeface="Times New Roman"/>
                <a:cs typeface="Times New Roman"/>
                <a:sym typeface="Times New Roman"/>
              </a:rPr>
              <a:t>Improve consistency</a:t>
            </a:r>
          </a:p>
        </p:txBody>
      </p:sp>
      <p:sp>
        <p:nvSpPr>
          <p:cNvPr name="TextBox 57" id="57"/>
          <p:cNvSpPr txBox="true"/>
          <p:nvPr/>
        </p:nvSpPr>
        <p:spPr>
          <a:xfrm rot="0">
            <a:off x="11866823" y="8983631"/>
            <a:ext cx="1609344" cy="560124"/>
          </a:xfrm>
          <a:prstGeom prst="rect">
            <a:avLst/>
          </a:prstGeom>
        </p:spPr>
        <p:txBody>
          <a:bodyPr anchor="t" rtlCol="false" tIns="0" lIns="0" bIns="0" rIns="0">
            <a:spAutoFit/>
          </a:bodyPr>
          <a:lstStyle/>
          <a:p>
            <a:pPr algn="l">
              <a:lnSpc>
                <a:spcPts val="2208"/>
              </a:lnSpc>
            </a:pPr>
            <a:r>
              <a:rPr lang="en-US" sz="1577" b="1">
                <a:solidFill>
                  <a:srgbClr val="100F0D"/>
                </a:solidFill>
                <a:latin typeface="Times New Roman"/>
                <a:ea typeface="Times New Roman"/>
                <a:cs typeface="Times New Roman"/>
                <a:sym typeface="Times New Roman"/>
              </a:rPr>
              <a:t>Accelerate content creation</a:t>
            </a:r>
          </a:p>
        </p:txBody>
      </p:sp>
      <p:sp>
        <p:nvSpPr>
          <p:cNvPr name="TextBox 58" id="58"/>
          <p:cNvSpPr txBox="true"/>
          <p:nvPr/>
        </p:nvSpPr>
        <p:spPr>
          <a:xfrm rot="0">
            <a:off x="15416784" y="8973075"/>
            <a:ext cx="2084832" cy="559371"/>
          </a:xfrm>
          <a:prstGeom prst="rect">
            <a:avLst/>
          </a:prstGeom>
        </p:spPr>
        <p:txBody>
          <a:bodyPr anchor="t" rtlCol="false" tIns="0" lIns="0" bIns="0" rIns="0">
            <a:spAutoFit/>
          </a:bodyPr>
          <a:lstStyle/>
          <a:p>
            <a:pPr algn="l">
              <a:lnSpc>
                <a:spcPts val="2249"/>
              </a:lnSpc>
            </a:pPr>
            <a:r>
              <a:rPr lang="en-US" sz="1606" b="1">
                <a:solidFill>
                  <a:srgbClr val="100F0D"/>
                </a:solidFill>
                <a:latin typeface="Times New Roman"/>
                <a:ea typeface="Times New Roman"/>
                <a:cs typeface="Times New Roman"/>
                <a:sym typeface="Times New Roman"/>
              </a:rPr>
              <a:t>Enhance operational efficiency</a:t>
            </a:r>
          </a:p>
        </p:txBody>
      </p:sp>
      <p:grpSp>
        <p:nvGrpSpPr>
          <p:cNvPr name="Group 77" id="77"/>
          <p:cNvGrpSpPr/>
          <p:nvPr/>
        </p:nvGrpSpPr>
        <p:grpSpPr>
          <a:xfrm rot="0">
            <a:off x="914400" y="-217280"/>
            <a:ext cx="16459200" cy="1714500"/>
            <a:chOff x="0" y="0"/>
            <a:chExt cx="21945600" cy="2286000"/>
          </a:xfrm>
        </p:grpSpPr>
        <p:sp>
          <p:nvSpPr>
            <p:cNvPr name="Freeform 78" id="78"/>
            <p:cNvSpPr/>
            <p:nvPr/>
          </p:nvSpPr>
          <p:spPr>
            <a:xfrm flipH="false" flipV="false" rot="0">
              <a:off x="0" y="0"/>
              <a:ext cx="21945600" cy="2286000"/>
            </a:xfrm>
            <a:custGeom>
              <a:avLst/>
              <a:gdLst/>
              <a:ahLst/>
              <a:cxnLst/>
              <a:rect r="r" b="b" t="t" l="l"/>
              <a:pathLst>
                <a:path h="2286000" w="21945600">
                  <a:moveTo>
                    <a:pt x="0" y="0"/>
                  </a:moveTo>
                  <a:lnTo>
                    <a:pt x="21945600" y="0"/>
                  </a:lnTo>
                  <a:lnTo>
                    <a:pt x="21945600" y="2286000"/>
                  </a:lnTo>
                  <a:lnTo>
                    <a:pt x="0" y="2286000"/>
                  </a:lnTo>
                  <a:close/>
                </a:path>
              </a:pathLst>
            </a:custGeom>
            <a:blipFill>
              <a:blip r:embed="rId2">
                <a:alphaModFix amt="0"/>
              </a:blip>
              <a:stretch>
                <a:fillRect l="0" t="-137056" r="0" b="-137056"/>
              </a:stretch>
            </a:blipFill>
          </p:spPr>
        </p:sp>
        <p:sp>
          <p:nvSpPr>
            <p:cNvPr name="TextBox 79" id="79"/>
            <p:cNvSpPr txBox="true"/>
            <p:nvPr/>
          </p:nvSpPr>
          <p:spPr>
            <a:xfrm>
              <a:off x="0" y="-28575"/>
              <a:ext cx="21945600" cy="2314575"/>
            </a:xfrm>
            <a:prstGeom prst="rect">
              <a:avLst/>
            </a:prstGeom>
          </p:spPr>
          <p:txBody>
            <a:bodyPr anchor="ctr" rtlCol="false" tIns="0" lIns="0" bIns="0" rIns="0"/>
            <a:lstStyle/>
            <a:p>
              <a:pPr algn="ctr">
                <a:lnSpc>
                  <a:spcPts val="6480"/>
                </a:lnSpc>
              </a:pPr>
              <a:r>
                <a:rPr lang="en-US" sz="5400" b="1">
                  <a:solidFill>
                    <a:srgbClr val="000000"/>
                  </a:solidFill>
                  <a:latin typeface="Times New Roman"/>
                  <a:ea typeface="Times New Roman"/>
                  <a:cs typeface="Times New Roman"/>
                  <a:sym typeface="Times New Roman"/>
                </a:rPr>
                <a:t>Problem And Proposed Solution</a:t>
              </a:r>
            </a:p>
          </p:txBody>
        </p:sp>
      </p:grpSp>
      <p:sp>
        <p:nvSpPr>
          <p:cNvPr id="80" name="Rounded Rectangle 79"/>
          <p:cNvSpPr/>
          <p:nvPr/>
        </p:nvSpPr>
        <p:spPr>
          <a:xfrm>
            <a:off x="9528048" y="1956816"/>
            <a:ext cx="8412480" cy="6382512"/>
          </a:xfrm>
          <a:prstGeom prst="roundRect">
            <a:avLst>
              <a:gd name="adj" fmla="val 3151"/>
            </a:avLst>
          </a:prstGeom>
          <a:solidFill>
            <a:srgbClr val="FFFFFF"/>
          </a:solidFill>
          <a:ln w="15875">
            <a:solidFill>
              <a:srgbClr val="D9D2FA"/>
            </a:solidFill>
          </a:ln>
          <a:effectLst/>
        </p:spPr>
        <p:txBody>
          <a:bodyPr rtlCol="0" anchor="ctr"/>
          <a:lstStyle/>
          <a:p>
            <a:pPr algn="ctr"/>
          </a:p>
        </p:txBody>
      </p:sp>
      <p:pic>
        <p:nvPicPr>
          <p:cNvPr id="81" name="SpectraSource dashboard screenshot" descr="dashboard.png"/>
          <p:cNvPicPr>
            <a:picLocks noChangeAspect="1"/>
          </p:cNvPicPr>
          <p:nvPr/>
        </p:nvPicPr>
        <p:blipFill>
          <a:blip r:embed="rId43"/>
          <a:stretch>
            <a:fillRect/>
          </a:stretch>
        </p:blipFill>
        <p:spPr>
          <a:xfrm>
            <a:off x="9857232" y="2176272"/>
            <a:ext cx="7754112" cy="4846320"/>
          </a:xfrm>
          <a:prstGeom prst="rect">
            <a:avLst/>
          </a:prstGeom>
          <a:ln w="15875">
            <a:solidFill>
              <a:srgbClr val="D9D2FA"/>
            </a:solidFill>
          </a:ln>
        </p:spPr>
      </p:pic>
      <p:sp>
        <p:nvSpPr>
          <p:cNvPr id="82" name="Rounded Rectangle 81"/>
          <p:cNvSpPr/>
          <p:nvPr/>
        </p:nvSpPr>
        <p:spPr>
          <a:xfrm>
            <a:off x="9857232" y="7296912"/>
            <a:ext cx="1835658" cy="896112"/>
          </a:xfrm>
          <a:prstGeom prst="roundRect">
            <a:avLst>
              <a:gd name="adj" fmla="val 12244"/>
            </a:avLst>
          </a:prstGeom>
          <a:solidFill>
            <a:srgbClr val="EEEAFD"/>
          </a:solidFill>
          <a:ln>
            <a:noFill/>
          </a:ln>
          <a:effectLst/>
        </p:spPr>
        <p:txBody>
          <a:bodyPr rtlCol="0" anchor="ctr"/>
          <a:lstStyle/>
          <a:p>
            <a:pPr algn="ctr"/>
          </a:p>
        </p:txBody>
      </p:sp>
      <p:sp>
        <p:nvSpPr>
          <p:cNvPr id="83" name="Oval 82"/>
          <p:cNvSpPr/>
          <p:nvPr/>
        </p:nvSpPr>
        <p:spPr>
          <a:xfrm>
            <a:off x="9966959" y="7388352"/>
            <a:ext cx="365760" cy="365760"/>
          </a:xfrm>
          <a:prstGeom prst="ellipse">
            <a:avLst/>
          </a:prstGeom>
          <a:solidFill>
            <a:srgbClr val="5641F4"/>
          </a:solidFill>
          <a:ln>
            <a:noFill/>
          </a:ln>
          <a:effectLst/>
        </p:spPr>
        <p:txBody>
          <a:bodyPr rtlCol="0" anchor="ctr"/>
          <a:lstStyle/>
          <a:p>
            <a:pPr algn="ctr"/>
          </a:p>
        </p:txBody>
      </p:sp>
      <p:sp>
        <p:nvSpPr>
          <p:cNvPr id="84" name="TextBox 83"/>
          <p:cNvSpPr txBox="1"/>
          <p:nvPr/>
        </p:nvSpPr>
        <p:spPr>
          <a:xfrm>
            <a:off x="9966959" y="7388352"/>
            <a:ext cx="365760" cy="365760"/>
          </a:xfrm>
          <a:prstGeom prst="rect">
            <a:avLst/>
          </a:prstGeom>
          <a:noFill/>
        </p:spPr>
        <p:txBody>
          <a:bodyPr wrap="square" lIns="0" rIns="0" tIns="0" bIns="0" anchor="ctr">
            <a:noAutofit/>
          </a:bodyPr>
          <a:lstStyle/>
          <a:p>
            <a:pPr algn="ctr"/>
            <a:r>
              <a:rPr sz="1400" b="1" i="0">
                <a:solidFill>
                  <a:srgbClr val="FFFFFF"/>
                </a:solidFill>
                <a:latin typeface="Times New Roman"/>
              </a:rPr>
              <a:t>1</a:t>
            </a:r>
          </a:p>
        </p:txBody>
      </p:sp>
      <p:sp>
        <p:nvSpPr>
          <p:cNvPr id="85" name="TextBox 84"/>
          <p:cNvSpPr txBox="1"/>
          <p:nvPr/>
        </p:nvSpPr>
        <p:spPr>
          <a:xfrm>
            <a:off x="10424159" y="7388352"/>
            <a:ext cx="1195578" cy="365760"/>
          </a:xfrm>
          <a:prstGeom prst="rect">
            <a:avLst/>
          </a:prstGeom>
          <a:noFill/>
        </p:spPr>
        <p:txBody>
          <a:bodyPr wrap="square" lIns="0" rIns="0" tIns="0" bIns="0" anchor="ctr">
            <a:noAutofit/>
          </a:bodyPr>
          <a:lstStyle/>
          <a:p>
            <a:pPr algn="l"/>
            <a:r>
              <a:rPr sz="1600" b="1" i="0">
                <a:solidFill>
                  <a:srgbClr val="1B1340"/>
                </a:solidFill>
                <a:latin typeface="Times New Roman"/>
              </a:rPr>
              <a:t>Upload</a:t>
            </a:r>
          </a:p>
        </p:txBody>
      </p:sp>
      <p:sp>
        <p:nvSpPr>
          <p:cNvPr id="86" name="TextBox 85"/>
          <p:cNvSpPr txBox="1"/>
          <p:nvPr/>
        </p:nvSpPr>
        <p:spPr>
          <a:xfrm>
            <a:off x="9966959" y="7790688"/>
            <a:ext cx="1634490" cy="402336"/>
          </a:xfrm>
          <a:prstGeom prst="rect">
            <a:avLst/>
          </a:prstGeom>
          <a:noFill/>
        </p:spPr>
        <p:txBody>
          <a:bodyPr wrap="square" lIns="0" rIns="0" tIns="0" bIns="0" anchor="t">
            <a:noAutofit/>
          </a:bodyPr>
          <a:lstStyle/>
          <a:p>
            <a:pPr algn="l"/>
            <a:r>
              <a:rPr sz="1200" b="0" i="0">
                <a:solidFill>
                  <a:srgbClr val="2E2A40"/>
                </a:solidFill>
                <a:latin typeface="Times New Roman"/>
              </a:rPr>
              <a:t>Text, PDF, DOCX, image, audio or video</a:t>
            </a:r>
          </a:p>
        </p:txBody>
      </p:sp>
      <p:sp>
        <p:nvSpPr>
          <p:cNvPr id="87" name="Rounded Rectangle 86"/>
          <p:cNvSpPr/>
          <p:nvPr/>
        </p:nvSpPr>
        <p:spPr>
          <a:xfrm>
            <a:off x="11830050" y="7296912"/>
            <a:ext cx="1835658" cy="896112"/>
          </a:xfrm>
          <a:prstGeom prst="roundRect">
            <a:avLst>
              <a:gd name="adj" fmla="val 12244"/>
            </a:avLst>
          </a:prstGeom>
          <a:solidFill>
            <a:srgbClr val="EEEAFD"/>
          </a:solidFill>
          <a:ln>
            <a:noFill/>
          </a:ln>
          <a:effectLst/>
        </p:spPr>
        <p:txBody>
          <a:bodyPr rtlCol="0" anchor="ctr"/>
          <a:lstStyle/>
          <a:p>
            <a:pPr algn="ctr"/>
          </a:p>
        </p:txBody>
      </p:sp>
      <p:sp>
        <p:nvSpPr>
          <p:cNvPr id="88" name="Oval 87"/>
          <p:cNvSpPr/>
          <p:nvPr/>
        </p:nvSpPr>
        <p:spPr>
          <a:xfrm>
            <a:off x="11939778" y="7388352"/>
            <a:ext cx="365760" cy="365760"/>
          </a:xfrm>
          <a:prstGeom prst="ellipse">
            <a:avLst/>
          </a:prstGeom>
          <a:solidFill>
            <a:srgbClr val="5641F4"/>
          </a:solidFill>
          <a:ln>
            <a:noFill/>
          </a:ln>
          <a:effectLst/>
        </p:spPr>
        <p:txBody>
          <a:bodyPr rtlCol="0" anchor="ctr"/>
          <a:lstStyle/>
          <a:p>
            <a:pPr algn="ctr"/>
          </a:p>
        </p:txBody>
      </p:sp>
      <p:sp>
        <p:nvSpPr>
          <p:cNvPr id="89" name="TextBox 88"/>
          <p:cNvSpPr txBox="1"/>
          <p:nvPr/>
        </p:nvSpPr>
        <p:spPr>
          <a:xfrm>
            <a:off x="11939778" y="7388352"/>
            <a:ext cx="365760" cy="365760"/>
          </a:xfrm>
          <a:prstGeom prst="rect">
            <a:avLst/>
          </a:prstGeom>
          <a:noFill/>
        </p:spPr>
        <p:txBody>
          <a:bodyPr wrap="square" lIns="0" rIns="0" tIns="0" bIns="0" anchor="ctr">
            <a:noAutofit/>
          </a:bodyPr>
          <a:lstStyle/>
          <a:p>
            <a:pPr algn="ctr"/>
            <a:r>
              <a:rPr sz="1400" b="1" i="0">
                <a:solidFill>
                  <a:srgbClr val="FFFFFF"/>
                </a:solidFill>
                <a:latin typeface="Times New Roman"/>
              </a:rPr>
              <a:t>2</a:t>
            </a:r>
          </a:p>
        </p:txBody>
      </p:sp>
      <p:sp>
        <p:nvSpPr>
          <p:cNvPr id="90" name="TextBox 89"/>
          <p:cNvSpPr txBox="1"/>
          <p:nvPr/>
        </p:nvSpPr>
        <p:spPr>
          <a:xfrm>
            <a:off x="12396978" y="7388352"/>
            <a:ext cx="1195578" cy="365760"/>
          </a:xfrm>
          <a:prstGeom prst="rect">
            <a:avLst/>
          </a:prstGeom>
          <a:noFill/>
        </p:spPr>
        <p:txBody>
          <a:bodyPr wrap="square" lIns="0" rIns="0" tIns="0" bIns="0" anchor="ctr">
            <a:noAutofit/>
          </a:bodyPr>
          <a:lstStyle/>
          <a:p>
            <a:pPr algn="l"/>
            <a:r>
              <a:rPr sz="1600" b="1" i="0">
                <a:solidFill>
                  <a:srgbClr val="1B1340"/>
                </a:solidFill>
                <a:latin typeface="Times New Roman"/>
              </a:rPr>
              <a:t>Pick</a:t>
            </a:r>
          </a:p>
        </p:txBody>
      </p:sp>
      <p:sp>
        <p:nvSpPr>
          <p:cNvPr id="91" name="TextBox 90"/>
          <p:cNvSpPr txBox="1"/>
          <p:nvPr/>
        </p:nvSpPr>
        <p:spPr>
          <a:xfrm>
            <a:off x="11939778" y="7790688"/>
            <a:ext cx="1634490" cy="402336"/>
          </a:xfrm>
          <a:prstGeom prst="rect">
            <a:avLst/>
          </a:prstGeom>
          <a:noFill/>
        </p:spPr>
        <p:txBody>
          <a:bodyPr wrap="square" lIns="0" rIns="0" tIns="0" bIns="0" anchor="t">
            <a:noAutofit/>
          </a:bodyPr>
          <a:lstStyle/>
          <a:p>
            <a:pPr algn="l"/>
            <a:r>
              <a:rPr sz="1200" b="0" i="0">
                <a:solidFill>
                  <a:srgbClr val="2E2A40"/>
                </a:solidFill>
                <a:latin typeface="Times New Roman"/>
              </a:rPr>
              <a:t>Any of the 7 output types, one or many</a:t>
            </a:r>
          </a:p>
        </p:txBody>
      </p:sp>
      <p:sp>
        <p:nvSpPr>
          <p:cNvPr id="92" name="Rounded Rectangle 91"/>
          <p:cNvSpPr/>
          <p:nvPr/>
        </p:nvSpPr>
        <p:spPr>
          <a:xfrm>
            <a:off x="13802867" y="7296912"/>
            <a:ext cx="1835658" cy="896112"/>
          </a:xfrm>
          <a:prstGeom prst="roundRect">
            <a:avLst>
              <a:gd name="adj" fmla="val 12244"/>
            </a:avLst>
          </a:prstGeom>
          <a:solidFill>
            <a:srgbClr val="EEEAFD"/>
          </a:solidFill>
          <a:ln>
            <a:noFill/>
          </a:ln>
          <a:effectLst/>
        </p:spPr>
        <p:txBody>
          <a:bodyPr rtlCol="0" anchor="ctr"/>
          <a:lstStyle/>
          <a:p>
            <a:pPr algn="ctr"/>
          </a:p>
        </p:txBody>
      </p:sp>
      <p:sp>
        <p:nvSpPr>
          <p:cNvPr id="93" name="Oval 92"/>
          <p:cNvSpPr/>
          <p:nvPr/>
        </p:nvSpPr>
        <p:spPr>
          <a:xfrm>
            <a:off x="13912595" y="7388352"/>
            <a:ext cx="365760" cy="365760"/>
          </a:xfrm>
          <a:prstGeom prst="ellipse">
            <a:avLst/>
          </a:prstGeom>
          <a:solidFill>
            <a:srgbClr val="5641F4"/>
          </a:solidFill>
          <a:ln>
            <a:noFill/>
          </a:ln>
          <a:effectLst/>
        </p:spPr>
        <p:txBody>
          <a:bodyPr rtlCol="0" anchor="ctr"/>
          <a:lstStyle/>
          <a:p>
            <a:pPr algn="ctr"/>
          </a:p>
        </p:txBody>
      </p:sp>
      <p:sp>
        <p:nvSpPr>
          <p:cNvPr id="94" name="TextBox 93"/>
          <p:cNvSpPr txBox="1"/>
          <p:nvPr/>
        </p:nvSpPr>
        <p:spPr>
          <a:xfrm>
            <a:off x="13912595" y="7388352"/>
            <a:ext cx="365760" cy="365760"/>
          </a:xfrm>
          <a:prstGeom prst="rect">
            <a:avLst/>
          </a:prstGeom>
          <a:noFill/>
        </p:spPr>
        <p:txBody>
          <a:bodyPr wrap="square" lIns="0" rIns="0" tIns="0" bIns="0" anchor="ctr">
            <a:noAutofit/>
          </a:bodyPr>
          <a:lstStyle/>
          <a:p>
            <a:pPr algn="ctr"/>
            <a:r>
              <a:rPr sz="1400" b="1" i="0">
                <a:solidFill>
                  <a:srgbClr val="FFFFFF"/>
                </a:solidFill>
                <a:latin typeface="Times New Roman"/>
              </a:rPr>
              <a:t>3</a:t>
            </a:r>
          </a:p>
        </p:txBody>
      </p:sp>
      <p:sp>
        <p:nvSpPr>
          <p:cNvPr id="95" name="TextBox 94"/>
          <p:cNvSpPr txBox="1"/>
          <p:nvPr/>
        </p:nvSpPr>
        <p:spPr>
          <a:xfrm>
            <a:off x="14369795" y="7388352"/>
            <a:ext cx="1195578" cy="365760"/>
          </a:xfrm>
          <a:prstGeom prst="rect">
            <a:avLst/>
          </a:prstGeom>
          <a:noFill/>
        </p:spPr>
        <p:txBody>
          <a:bodyPr wrap="square" lIns="0" rIns="0" tIns="0" bIns="0" anchor="ctr">
            <a:noAutofit/>
          </a:bodyPr>
          <a:lstStyle/>
          <a:p>
            <a:pPr algn="l"/>
            <a:r>
              <a:rPr sz="1600" b="1" i="0">
                <a:solidFill>
                  <a:srgbClr val="1B1340"/>
                </a:solidFill>
                <a:latin typeface="Times New Roman"/>
              </a:rPr>
              <a:t>Tune</a:t>
            </a:r>
          </a:p>
        </p:txBody>
      </p:sp>
      <p:sp>
        <p:nvSpPr>
          <p:cNvPr id="96" name="TextBox 95"/>
          <p:cNvSpPr txBox="1"/>
          <p:nvPr/>
        </p:nvSpPr>
        <p:spPr>
          <a:xfrm>
            <a:off x="13912595" y="7790688"/>
            <a:ext cx="1634490" cy="402336"/>
          </a:xfrm>
          <a:prstGeom prst="rect">
            <a:avLst/>
          </a:prstGeom>
          <a:noFill/>
        </p:spPr>
        <p:txBody>
          <a:bodyPr wrap="square" lIns="0" rIns="0" tIns="0" bIns="0" anchor="t">
            <a:noAutofit/>
          </a:bodyPr>
          <a:lstStyle/>
          <a:p>
            <a:pPr algn="l"/>
            <a:r>
              <a:rPr sz="1200" b="0" i="0">
                <a:solidFill>
                  <a:srgbClr val="2E2A40"/>
                </a:solidFill>
                <a:latin typeface="Times New Roman"/>
              </a:rPr>
              <a:t>6 settings, from audience to tone</a:t>
            </a:r>
          </a:p>
        </p:txBody>
      </p:sp>
      <p:sp>
        <p:nvSpPr>
          <p:cNvPr id="97" name="Rounded Rectangle 96"/>
          <p:cNvSpPr/>
          <p:nvPr/>
        </p:nvSpPr>
        <p:spPr>
          <a:xfrm>
            <a:off x="15775685" y="7296912"/>
            <a:ext cx="1835658" cy="896112"/>
          </a:xfrm>
          <a:prstGeom prst="roundRect">
            <a:avLst>
              <a:gd name="adj" fmla="val 12244"/>
            </a:avLst>
          </a:prstGeom>
          <a:solidFill>
            <a:srgbClr val="EEEAFD"/>
          </a:solidFill>
          <a:ln>
            <a:noFill/>
          </a:ln>
          <a:effectLst/>
        </p:spPr>
        <p:txBody>
          <a:bodyPr rtlCol="0" anchor="ctr"/>
          <a:lstStyle/>
          <a:p>
            <a:pPr algn="ctr"/>
          </a:p>
        </p:txBody>
      </p:sp>
      <p:sp>
        <p:nvSpPr>
          <p:cNvPr id="98" name="Oval 97"/>
          <p:cNvSpPr/>
          <p:nvPr/>
        </p:nvSpPr>
        <p:spPr>
          <a:xfrm>
            <a:off x="15885413" y="7388352"/>
            <a:ext cx="365760" cy="365760"/>
          </a:xfrm>
          <a:prstGeom prst="ellipse">
            <a:avLst/>
          </a:prstGeom>
          <a:solidFill>
            <a:srgbClr val="5641F4"/>
          </a:solidFill>
          <a:ln>
            <a:noFill/>
          </a:ln>
          <a:effectLst/>
        </p:spPr>
        <p:txBody>
          <a:bodyPr rtlCol="0" anchor="ctr"/>
          <a:lstStyle/>
          <a:p>
            <a:pPr algn="ctr"/>
          </a:p>
        </p:txBody>
      </p:sp>
      <p:sp>
        <p:nvSpPr>
          <p:cNvPr id="99" name="TextBox 98"/>
          <p:cNvSpPr txBox="1"/>
          <p:nvPr/>
        </p:nvSpPr>
        <p:spPr>
          <a:xfrm>
            <a:off x="15885413" y="7388352"/>
            <a:ext cx="365760" cy="365760"/>
          </a:xfrm>
          <a:prstGeom prst="rect">
            <a:avLst/>
          </a:prstGeom>
          <a:noFill/>
        </p:spPr>
        <p:txBody>
          <a:bodyPr wrap="square" lIns="0" rIns="0" tIns="0" bIns="0" anchor="ctr">
            <a:noAutofit/>
          </a:bodyPr>
          <a:lstStyle/>
          <a:p>
            <a:pPr algn="ctr"/>
            <a:r>
              <a:rPr sz="1400" b="1" i="0">
                <a:solidFill>
                  <a:srgbClr val="FFFFFF"/>
                </a:solidFill>
                <a:latin typeface="Times New Roman"/>
              </a:rPr>
              <a:t>4</a:t>
            </a:r>
          </a:p>
        </p:txBody>
      </p:sp>
      <p:sp>
        <p:nvSpPr>
          <p:cNvPr id="100" name="TextBox 99"/>
          <p:cNvSpPr txBox="1"/>
          <p:nvPr/>
        </p:nvSpPr>
        <p:spPr>
          <a:xfrm>
            <a:off x="16342613" y="7388352"/>
            <a:ext cx="1195578" cy="365760"/>
          </a:xfrm>
          <a:prstGeom prst="rect">
            <a:avLst/>
          </a:prstGeom>
          <a:noFill/>
        </p:spPr>
        <p:txBody>
          <a:bodyPr wrap="square" lIns="0" rIns="0" tIns="0" bIns="0" anchor="ctr">
            <a:noAutofit/>
          </a:bodyPr>
          <a:lstStyle/>
          <a:p>
            <a:pPr algn="l"/>
            <a:r>
              <a:rPr sz="1600" b="1" i="0">
                <a:solidFill>
                  <a:srgbClr val="1B1340"/>
                </a:solidFill>
                <a:latin typeface="Times New Roman"/>
              </a:rPr>
              <a:t>Export</a:t>
            </a:r>
          </a:p>
        </p:txBody>
      </p:sp>
      <p:sp>
        <p:nvSpPr>
          <p:cNvPr id="101" name="TextBox 100"/>
          <p:cNvSpPr txBox="1"/>
          <p:nvPr/>
        </p:nvSpPr>
        <p:spPr>
          <a:xfrm>
            <a:off x="15885413" y="7790688"/>
            <a:ext cx="1634490" cy="402336"/>
          </a:xfrm>
          <a:prstGeom prst="rect">
            <a:avLst/>
          </a:prstGeom>
          <a:noFill/>
        </p:spPr>
        <p:txBody>
          <a:bodyPr wrap="square" lIns="0" rIns="0" tIns="0" bIns="0" anchor="t">
            <a:noAutofit/>
          </a:bodyPr>
          <a:lstStyle/>
          <a:p>
            <a:pPr algn="l"/>
            <a:r>
              <a:rPr sz="1200" b="0" i="0">
                <a:solidFill>
                  <a:srgbClr val="2E2A40"/>
                </a:solidFill>
                <a:latin typeface="Times New Roman"/>
              </a:rPr>
              <a:t>.pptx, .docx, .srt, HTML, Markdown, JSON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6576" y="-25983"/>
            <a:ext cx="18288000" cy="9888140"/>
          </a:xfrm>
          <a:custGeom>
            <a:avLst/>
            <a:gdLst/>
            <a:ahLst/>
            <a:cxnLst/>
            <a:rect r="r" b="b" t="t" l="l"/>
            <a:pathLst>
              <a:path h="9888140" w="18288000">
                <a:moveTo>
                  <a:pt x="0" y="0"/>
                </a:moveTo>
                <a:lnTo>
                  <a:pt x="18288000" y="0"/>
                </a:lnTo>
                <a:lnTo>
                  <a:pt x="18288000" y="9888140"/>
                </a:lnTo>
                <a:lnTo>
                  <a:pt x="0" y="9888140"/>
                </a:lnTo>
                <a:lnTo>
                  <a:pt x="0" y="0"/>
                </a:lnTo>
                <a:close/>
              </a:path>
            </a:pathLst>
          </a:custGeom>
          <a:blipFill>
            <a:blip r:embed="rId2"/>
            <a:stretch>
              <a:fillRect l="0" t="-2803" r="0" b="-1229"/>
            </a:stretch>
          </a:blipFill>
        </p:spPr>
      </p:sp>
      <p:grpSp>
        <p:nvGrpSpPr>
          <p:cNvPr name="Group 3" id="3"/>
          <p:cNvGrpSpPr/>
          <p:nvPr/>
        </p:nvGrpSpPr>
        <p:grpSpPr>
          <a:xfrm rot="0">
            <a:off x="914400" y="-217280"/>
            <a:ext cx="16459200" cy="1714500"/>
            <a:chOff x="0" y="0"/>
            <a:chExt cx="21945600" cy="2286000"/>
          </a:xfrm>
        </p:grpSpPr>
        <p:sp>
          <p:nvSpPr>
            <p:cNvPr name="Freeform 4" id="4"/>
            <p:cNvSpPr/>
            <p:nvPr/>
          </p:nvSpPr>
          <p:spPr>
            <a:xfrm flipH="false" flipV="false" rot="0">
              <a:off x="0" y="0"/>
              <a:ext cx="21945600" cy="2286000"/>
            </a:xfrm>
            <a:custGeom>
              <a:avLst/>
              <a:gdLst/>
              <a:ahLst/>
              <a:cxnLst/>
              <a:rect r="r" b="b" t="t" l="l"/>
              <a:pathLst>
                <a:path h="2286000" w="21945600">
                  <a:moveTo>
                    <a:pt x="0" y="0"/>
                  </a:moveTo>
                  <a:lnTo>
                    <a:pt x="21945600" y="0"/>
                  </a:lnTo>
                  <a:lnTo>
                    <a:pt x="21945600" y="2286000"/>
                  </a:lnTo>
                  <a:lnTo>
                    <a:pt x="0" y="2286000"/>
                  </a:lnTo>
                  <a:close/>
                </a:path>
              </a:pathLst>
            </a:custGeom>
            <a:blipFill>
              <a:blip r:embed="rId3">
                <a:alphaModFix amt="0"/>
              </a:blip>
              <a:stretch>
                <a:fillRect l="0" t="-137056" r="0" b="-137056"/>
              </a:stretch>
            </a:blipFill>
          </p:spPr>
        </p:sp>
        <p:sp>
          <p:nvSpPr>
            <p:cNvPr name="TextBox 5" id="5"/>
            <p:cNvSpPr txBox="true"/>
            <p:nvPr/>
          </p:nvSpPr>
          <p:spPr>
            <a:xfrm>
              <a:off x="0" y="-28575"/>
              <a:ext cx="21945600" cy="2314575"/>
            </a:xfrm>
            <a:prstGeom prst="rect">
              <a:avLst/>
            </a:prstGeom>
          </p:spPr>
          <p:txBody>
            <a:bodyPr anchor="ctr" rtlCol="false" tIns="0" lIns="0" bIns="0" rIns="0"/>
            <a:lstStyle/>
            <a:p>
              <a:pPr algn="ctr">
                <a:lnSpc>
                  <a:spcPts val="6480"/>
                </a:lnSpc>
              </a:pPr>
              <a:r>
                <a:rPr lang="en-US" b="1" sz="5400">
                  <a:solidFill>
                    <a:srgbClr val="000000"/>
                  </a:solidFill>
                  <a:latin typeface="Times New Roman"/>
                  <a:ea typeface="Times New Roman"/>
                  <a:cs typeface="Times New Roman"/>
                  <a:sym typeface="Times New Roman"/>
                </a:rPr>
                <a:t>Technical Approach</a:t>
              </a:r>
            </a:p>
          </p:txBody>
        </p:sp>
      </p:grpSp>
      <p:grpSp>
        <p:nvGrpSpPr>
          <p:cNvPr name="Group 6" id="6"/>
          <p:cNvGrpSpPr/>
          <p:nvPr/>
        </p:nvGrpSpPr>
        <p:grpSpPr>
          <a:xfrm rot="0">
            <a:off x="13106400" y="9534525"/>
            <a:ext cx="4267200" cy="547688"/>
            <a:chOff x="0" y="0"/>
            <a:chExt cx="5689600" cy="730250"/>
          </a:xfrm>
        </p:grpSpPr>
        <p:sp>
          <p:nvSpPr>
            <p:cNvPr name="Freeform 7" id="7"/>
            <p:cNvSpPr/>
            <p:nvPr/>
          </p:nvSpPr>
          <p:spPr>
            <a:xfrm flipH="false" flipV="false" rot="0">
              <a:off x="0" y="0"/>
              <a:ext cx="5689600" cy="730250"/>
            </a:xfrm>
            <a:custGeom>
              <a:avLst/>
              <a:gdLst/>
              <a:ahLst/>
              <a:cxnLst/>
              <a:rect r="r" b="b" t="t" l="l"/>
              <a:pathLst>
                <a:path h="730250" w="5689600">
                  <a:moveTo>
                    <a:pt x="0" y="0"/>
                  </a:moveTo>
                  <a:lnTo>
                    <a:pt x="5689600" y="0"/>
                  </a:lnTo>
                  <a:lnTo>
                    <a:pt x="5689600" y="730250"/>
                  </a:lnTo>
                  <a:lnTo>
                    <a:pt x="0" y="730250"/>
                  </a:lnTo>
                  <a:close/>
                </a:path>
              </a:pathLst>
            </a:custGeom>
            <a:blipFill>
              <a:blip r:embed="rId3">
                <a:alphaModFix amt="0"/>
              </a:blip>
              <a:stretch>
                <a:fillRect l="0" t="-101813" r="0" b="-101813"/>
              </a:stretch>
            </a:blipFill>
          </p:spPr>
        </p:sp>
        <p:sp>
          <p:nvSpPr>
            <p:cNvPr name="TextBox 8" id="8"/>
            <p:cNvSpPr txBox="true"/>
            <p:nvPr/>
          </p:nvSpPr>
          <p:spPr>
            <a:xfrm>
              <a:off x="0" y="-19050"/>
              <a:ext cx="5689600" cy="749300"/>
            </a:xfrm>
            <a:prstGeom prst="rect">
              <a:avLst/>
            </a:prstGeom>
          </p:spPr>
          <p:txBody>
            <a:bodyPr anchor="ctr" rtlCol="false" tIns="0" lIns="0" bIns="0" rIns="0"/>
            <a:lstStyle/>
            <a:p>
              <a:pPr algn="r">
                <a:lnSpc>
                  <a:spcPts val="2160"/>
                </a:lnSpc>
              </a:pPr>
              <a:r>
                <a:rPr lang="en-US" b="1" sz="1800">
                  <a:solidFill>
                    <a:srgbClr val="FFFFFF"/>
                  </a:solidFill>
                  <a:latin typeface="Times New Roman"/>
                  <a:ea typeface="Times New Roman"/>
                  <a:cs typeface="Times New Roman"/>
                  <a:sym typeface="Times New Roman"/>
                </a:rPr>
                <a:t>3</a:t>
              </a:r>
            </a:p>
          </p:txBody>
        </p:sp>
      </p:grpSp>
      <p:grpSp>
        <p:nvGrpSpPr>
          <p:cNvPr name="Group 9" id="9"/>
          <p:cNvGrpSpPr/>
          <p:nvPr/>
        </p:nvGrpSpPr>
        <p:grpSpPr>
          <a:xfrm rot="0">
            <a:off x="6972300" y="9534525"/>
            <a:ext cx="4806001" cy="547688"/>
            <a:chOff x="0" y="0"/>
            <a:chExt cx="6408001" cy="730250"/>
          </a:xfrm>
        </p:grpSpPr>
        <p:sp>
          <p:nvSpPr>
            <p:cNvPr name="Freeform 10" id="10"/>
            <p:cNvSpPr/>
            <p:nvPr/>
          </p:nvSpPr>
          <p:spPr>
            <a:xfrm flipH="false" flipV="false" rot="0">
              <a:off x="0" y="0"/>
              <a:ext cx="6408000" cy="730250"/>
            </a:xfrm>
            <a:custGeom>
              <a:avLst/>
              <a:gdLst/>
              <a:ahLst/>
              <a:cxnLst/>
              <a:rect r="r" b="b" t="t" l="l"/>
              <a:pathLst>
                <a:path h="730250" w="6408000">
                  <a:moveTo>
                    <a:pt x="0" y="0"/>
                  </a:moveTo>
                  <a:lnTo>
                    <a:pt x="6408000" y="0"/>
                  </a:lnTo>
                  <a:lnTo>
                    <a:pt x="6408000" y="730250"/>
                  </a:lnTo>
                  <a:lnTo>
                    <a:pt x="0" y="730250"/>
                  </a:lnTo>
                  <a:close/>
                </a:path>
              </a:pathLst>
            </a:custGeom>
            <a:blipFill>
              <a:blip r:embed="rId3">
                <a:alphaModFix amt="0"/>
              </a:blip>
              <a:stretch>
                <a:fillRect l="0" t="-120982" r="0" b="-120982"/>
              </a:stretch>
            </a:blipFill>
          </p:spPr>
        </p:sp>
        <p:sp>
          <p:nvSpPr>
            <p:cNvPr name="TextBox 11" id="11"/>
            <p:cNvSpPr txBox="true"/>
            <p:nvPr/>
          </p:nvSpPr>
          <p:spPr>
            <a:xfrm>
              <a:off x="0" y="-19050"/>
              <a:ext cx="6408001" cy="749300"/>
            </a:xfrm>
            <a:prstGeom prst="rect">
              <a:avLst/>
            </a:prstGeom>
          </p:spPr>
          <p:txBody>
            <a:bodyPr anchor="ctr" rtlCol="false" tIns="0" lIns="0" bIns="0" rIns="0"/>
            <a:lstStyle/>
            <a:p>
              <a:pPr algn="ctr">
                <a:lnSpc>
                  <a:spcPts val="2160"/>
                </a:lnSpc>
              </a:pPr>
              <a:r>
                <a:rPr lang="en-US" sz="1800">
                  <a:solidFill>
                    <a:srgbClr val="FFFFFF"/>
                  </a:solidFill>
                  <a:latin typeface="Times New Roman"/>
                  <a:ea typeface="Times New Roman"/>
                  <a:cs typeface="Times New Roman"/>
                  <a:sym typeface="Times New Roman"/>
                </a:rPr>
                <a:t>@SIH Idea submission- Template</a:t>
              </a:r>
            </a:p>
          </p:txBody>
        </p:sp>
      </p:grpSp>
      <p:grpSp>
        <p:nvGrpSpPr>
          <p:cNvPr name="Group 12" id="12"/>
          <p:cNvGrpSpPr/>
          <p:nvPr/>
        </p:nvGrpSpPr>
        <p:grpSpPr>
          <a:xfrm rot="0">
            <a:off x="15607567" y="2248"/>
            <a:ext cx="2437336" cy="1150864"/>
            <a:chOff x="0" y="0"/>
            <a:chExt cx="4499699" cy="2124672"/>
          </a:xfrm>
        </p:grpSpPr>
        <p:sp>
          <p:nvSpPr>
            <p:cNvPr name="Freeform 13" id="13"/>
            <p:cNvSpPr/>
            <p:nvPr/>
          </p:nvSpPr>
          <p:spPr>
            <a:xfrm flipH="false" flipV="false" rot="0">
              <a:off x="0" y="0"/>
              <a:ext cx="4499737" cy="2124710"/>
            </a:xfrm>
            <a:custGeom>
              <a:avLst/>
              <a:gdLst/>
              <a:ahLst/>
              <a:cxnLst/>
              <a:rect r="r" b="b" t="t" l="l"/>
              <a:pathLst>
                <a:path h="2124710" w="4499737">
                  <a:moveTo>
                    <a:pt x="0" y="0"/>
                  </a:moveTo>
                  <a:lnTo>
                    <a:pt x="4499737" y="0"/>
                  </a:lnTo>
                  <a:lnTo>
                    <a:pt x="4499737" y="2124710"/>
                  </a:lnTo>
                  <a:lnTo>
                    <a:pt x="0" y="2124710"/>
                  </a:lnTo>
                  <a:lnTo>
                    <a:pt x="0" y="0"/>
                  </a:lnTo>
                  <a:close/>
                </a:path>
              </a:pathLst>
            </a:custGeom>
            <a:blipFill>
              <a:blip r:embed="rId4"/>
              <a:stretch>
                <a:fillRect l="0" t="0" r="0" b="1"/>
              </a:stretch>
            </a:blipFill>
          </p:spPr>
        </p:sp>
      </p:grpSp>
      <p:grpSp>
        <p:nvGrpSpPr>
          <p:cNvPr name="Group 14" id="14"/>
          <p:cNvGrpSpPr/>
          <p:nvPr/>
        </p:nvGrpSpPr>
        <p:grpSpPr>
          <a:xfrm rot="0">
            <a:off x="367198" y="78448"/>
            <a:ext cx="3469487" cy="796752"/>
            <a:chOff x="0" y="0"/>
            <a:chExt cx="5188174" cy="1191441"/>
          </a:xfrm>
        </p:grpSpPr>
        <p:sp>
          <p:nvSpPr>
            <p:cNvPr name="Freeform 15" id="15" descr="Your startup LOGO"/>
            <p:cNvSpPr/>
            <p:nvPr/>
          </p:nvSpPr>
          <p:spPr>
            <a:xfrm flipH="false" flipV="false" rot="0">
              <a:off x="0" y="0"/>
              <a:ext cx="5188097" cy="1191453"/>
            </a:xfrm>
            <a:custGeom>
              <a:avLst/>
              <a:gdLst/>
              <a:ahLst/>
              <a:cxnLst/>
              <a:rect r="r" b="b" t="t" l="l"/>
              <a:pathLst>
                <a:path h="1191453" w="5188097">
                  <a:moveTo>
                    <a:pt x="0" y="595725"/>
                  </a:moveTo>
                  <a:cubicBezTo>
                    <a:pt x="0" y="266745"/>
                    <a:pt x="1161479" y="0"/>
                    <a:pt x="2594048" y="0"/>
                  </a:cubicBezTo>
                  <a:cubicBezTo>
                    <a:pt x="4026617" y="0"/>
                    <a:pt x="5188097" y="266745"/>
                    <a:pt x="5188097" y="595725"/>
                  </a:cubicBezTo>
                  <a:cubicBezTo>
                    <a:pt x="5188097" y="924705"/>
                    <a:pt x="4026617" y="1191453"/>
                    <a:pt x="2594048" y="1191453"/>
                  </a:cubicBezTo>
                  <a:cubicBezTo>
                    <a:pt x="1161479" y="1191453"/>
                    <a:pt x="0" y="924705"/>
                    <a:pt x="0" y="595725"/>
                  </a:cubicBezTo>
                  <a:close/>
                </a:path>
              </a:pathLst>
            </a:custGeom>
            <a:solidFill>
              <a:srgbClr val="FFFFFF"/>
            </a:solidFill>
            <a:ln w="38100" cap="sq">
              <a:solidFill>
                <a:srgbClr val="8064A2"/>
              </a:solidFill>
              <a:prstDash val="solid"/>
              <a:miter/>
            </a:ln>
          </p:spPr>
        </p:sp>
        <p:sp>
          <p:nvSpPr>
            <p:cNvPr name="TextBox 16" id="16"/>
            <p:cNvSpPr txBox="true"/>
            <p:nvPr/>
          </p:nvSpPr>
          <p:spPr>
            <a:xfrm>
              <a:off x="0" y="-19050"/>
              <a:ext cx="5188174" cy="1210491"/>
            </a:xfrm>
            <a:prstGeom prst="rect">
              <a:avLst/>
            </a:prstGeom>
          </p:spPr>
          <p:txBody>
            <a:bodyPr anchor="ctr" rtlCol="false" tIns="50800" lIns="50800" bIns="50800" rIns="50800"/>
            <a:lstStyle/>
            <a:p>
              <a:pPr algn="ctr">
                <a:lnSpc>
                  <a:spcPts val="3240"/>
                </a:lnSpc>
              </a:pPr>
              <a:r>
                <a:rPr lang="en-US" sz="2700">
                  <a:solidFill>
                    <a:srgbClr val="000000"/>
                  </a:solidFill>
                  <a:latin typeface="Times New Roman"/>
                  <a:ea typeface="Times New Roman"/>
                  <a:cs typeface="Times New Roman"/>
                  <a:sym typeface="Times New Roman"/>
                </a:rPr>
                <a:t>OUT OF TOKENS</a:t>
              </a:r>
            </a:p>
          </p:txBody>
        </p:sp>
      </p:grpSp>
      <p:grpSp>
        <p:nvGrpSpPr>
          <p:cNvPr name="Group 17" id="17"/>
          <p:cNvGrpSpPr/>
          <p:nvPr/>
        </p:nvGrpSpPr>
        <p:grpSpPr>
          <a:xfrm rot="0">
            <a:off x="3836684" y="2570465"/>
            <a:ext cx="3135616" cy="941268"/>
            <a:chOff x="0" y="0"/>
            <a:chExt cx="825841" cy="247906"/>
          </a:xfrm>
        </p:grpSpPr>
        <p:sp>
          <p:nvSpPr>
            <p:cNvPr name="Freeform 18" id="18"/>
            <p:cNvSpPr/>
            <p:nvPr/>
          </p:nvSpPr>
          <p:spPr>
            <a:xfrm flipH="false" flipV="false" rot="0">
              <a:off x="0" y="0"/>
              <a:ext cx="825841" cy="247906"/>
            </a:xfrm>
            <a:custGeom>
              <a:avLst/>
              <a:gdLst/>
              <a:ahLst/>
              <a:cxnLst/>
              <a:rect r="r" b="b" t="t" l="l"/>
              <a:pathLst>
                <a:path h="247906" w="825841">
                  <a:moveTo>
                    <a:pt x="61726" y="0"/>
                  </a:moveTo>
                  <a:lnTo>
                    <a:pt x="764115" y="0"/>
                  </a:lnTo>
                  <a:cubicBezTo>
                    <a:pt x="780486" y="0"/>
                    <a:pt x="796186" y="6503"/>
                    <a:pt x="807762" y="18079"/>
                  </a:cubicBezTo>
                  <a:cubicBezTo>
                    <a:pt x="819338" y="29655"/>
                    <a:pt x="825841" y="45355"/>
                    <a:pt x="825841" y="61726"/>
                  </a:cubicBezTo>
                  <a:lnTo>
                    <a:pt x="825841" y="186180"/>
                  </a:lnTo>
                  <a:cubicBezTo>
                    <a:pt x="825841" y="220271"/>
                    <a:pt x="798206" y="247906"/>
                    <a:pt x="764115" y="247906"/>
                  </a:cubicBezTo>
                  <a:lnTo>
                    <a:pt x="61726" y="247906"/>
                  </a:lnTo>
                  <a:cubicBezTo>
                    <a:pt x="27636" y="247906"/>
                    <a:pt x="0" y="220271"/>
                    <a:pt x="0" y="186180"/>
                  </a:cubicBezTo>
                  <a:lnTo>
                    <a:pt x="0" y="61726"/>
                  </a:lnTo>
                  <a:cubicBezTo>
                    <a:pt x="0" y="27636"/>
                    <a:pt x="27636" y="0"/>
                    <a:pt x="61726" y="0"/>
                  </a:cubicBezTo>
                  <a:close/>
                </a:path>
              </a:pathLst>
            </a:custGeom>
            <a:solidFill>
              <a:srgbClr val="E4E9FF"/>
            </a:solidFill>
            <a:ln w="19050" cap="rnd">
              <a:solidFill>
                <a:srgbClr val="3A20D8"/>
              </a:solidFill>
              <a:prstDash val="solid"/>
              <a:round/>
            </a:ln>
          </p:spPr>
        </p:sp>
        <p:sp>
          <p:nvSpPr>
            <p:cNvPr name="TextBox 19" id="19"/>
            <p:cNvSpPr txBox="true"/>
            <p:nvPr/>
          </p:nvSpPr>
          <p:spPr>
            <a:xfrm>
              <a:off x="0" y="-19050"/>
              <a:ext cx="825841" cy="266956"/>
            </a:xfrm>
            <a:prstGeom prst="rect">
              <a:avLst/>
            </a:prstGeom>
          </p:spPr>
          <p:txBody>
            <a:bodyPr anchor="ctr" rtlCol="false" tIns="50800" lIns="50800" bIns="50800" rIns="50800"/>
            <a:lstStyle/>
            <a:p>
              <a:pPr algn="ctr">
                <a:lnSpc>
                  <a:spcPts val="1841"/>
                </a:lnSpc>
              </a:pPr>
            </a:p>
          </p:txBody>
        </p:sp>
      </p:grpSp>
      <p:grpSp>
        <p:nvGrpSpPr>
          <p:cNvPr name="Group 20" id="20"/>
          <p:cNvGrpSpPr/>
          <p:nvPr/>
        </p:nvGrpSpPr>
        <p:grpSpPr>
          <a:xfrm rot="0">
            <a:off x="3825057" y="3900768"/>
            <a:ext cx="3135616" cy="941268"/>
            <a:chOff x="0" y="0"/>
            <a:chExt cx="825841" cy="247906"/>
          </a:xfrm>
        </p:grpSpPr>
        <p:sp>
          <p:nvSpPr>
            <p:cNvPr name="Freeform 21" id="21"/>
            <p:cNvSpPr/>
            <p:nvPr/>
          </p:nvSpPr>
          <p:spPr>
            <a:xfrm flipH="false" flipV="false" rot="0">
              <a:off x="0" y="0"/>
              <a:ext cx="825841" cy="247906"/>
            </a:xfrm>
            <a:custGeom>
              <a:avLst/>
              <a:gdLst/>
              <a:ahLst/>
              <a:cxnLst/>
              <a:rect r="r" b="b" t="t" l="l"/>
              <a:pathLst>
                <a:path h="247906" w="825841">
                  <a:moveTo>
                    <a:pt x="61726" y="0"/>
                  </a:moveTo>
                  <a:lnTo>
                    <a:pt x="764115" y="0"/>
                  </a:lnTo>
                  <a:cubicBezTo>
                    <a:pt x="780486" y="0"/>
                    <a:pt x="796186" y="6503"/>
                    <a:pt x="807762" y="18079"/>
                  </a:cubicBezTo>
                  <a:cubicBezTo>
                    <a:pt x="819338" y="29655"/>
                    <a:pt x="825841" y="45355"/>
                    <a:pt x="825841" y="61726"/>
                  </a:cubicBezTo>
                  <a:lnTo>
                    <a:pt x="825841" y="186180"/>
                  </a:lnTo>
                  <a:cubicBezTo>
                    <a:pt x="825841" y="220271"/>
                    <a:pt x="798206" y="247906"/>
                    <a:pt x="764115" y="247906"/>
                  </a:cubicBezTo>
                  <a:lnTo>
                    <a:pt x="61726" y="247906"/>
                  </a:lnTo>
                  <a:cubicBezTo>
                    <a:pt x="27636" y="247906"/>
                    <a:pt x="0" y="220271"/>
                    <a:pt x="0" y="186180"/>
                  </a:cubicBezTo>
                  <a:lnTo>
                    <a:pt x="0" y="61726"/>
                  </a:lnTo>
                  <a:cubicBezTo>
                    <a:pt x="0" y="27636"/>
                    <a:pt x="27636" y="0"/>
                    <a:pt x="61726" y="0"/>
                  </a:cubicBezTo>
                  <a:close/>
                </a:path>
              </a:pathLst>
            </a:custGeom>
            <a:solidFill>
              <a:srgbClr val="E4E9FF"/>
            </a:solidFill>
            <a:ln w="19050" cap="rnd">
              <a:solidFill>
                <a:srgbClr val="3A20D8"/>
              </a:solidFill>
              <a:prstDash val="solid"/>
              <a:round/>
            </a:ln>
          </p:spPr>
        </p:sp>
        <p:sp>
          <p:nvSpPr>
            <p:cNvPr name="TextBox 22" id="22"/>
            <p:cNvSpPr txBox="true"/>
            <p:nvPr/>
          </p:nvSpPr>
          <p:spPr>
            <a:xfrm>
              <a:off x="0" y="-19050"/>
              <a:ext cx="825841" cy="266956"/>
            </a:xfrm>
            <a:prstGeom prst="rect">
              <a:avLst/>
            </a:prstGeom>
          </p:spPr>
          <p:txBody>
            <a:bodyPr anchor="ctr" rtlCol="false" tIns="50800" lIns="50800" bIns="50800" rIns="50800"/>
            <a:lstStyle/>
            <a:p>
              <a:pPr algn="ctr">
                <a:lnSpc>
                  <a:spcPts val="1841"/>
                </a:lnSpc>
              </a:pPr>
            </a:p>
          </p:txBody>
        </p:sp>
      </p:grpSp>
      <p:grpSp>
        <p:nvGrpSpPr>
          <p:cNvPr name="Group 23" id="23"/>
          <p:cNvGrpSpPr/>
          <p:nvPr/>
        </p:nvGrpSpPr>
        <p:grpSpPr>
          <a:xfrm rot="0">
            <a:off x="3813429" y="5231072"/>
            <a:ext cx="3135616" cy="941268"/>
            <a:chOff x="0" y="0"/>
            <a:chExt cx="825841" cy="247906"/>
          </a:xfrm>
        </p:grpSpPr>
        <p:sp>
          <p:nvSpPr>
            <p:cNvPr name="Freeform 24" id="24"/>
            <p:cNvSpPr/>
            <p:nvPr/>
          </p:nvSpPr>
          <p:spPr>
            <a:xfrm flipH="false" flipV="false" rot="0">
              <a:off x="0" y="0"/>
              <a:ext cx="825841" cy="247906"/>
            </a:xfrm>
            <a:custGeom>
              <a:avLst/>
              <a:gdLst/>
              <a:ahLst/>
              <a:cxnLst/>
              <a:rect r="r" b="b" t="t" l="l"/>
              <a:pathLst>
                <a:path h="247906" w="825841">
                  <a:moveTo>
                    <a:pt x="61726" y="0"/>
                  </a:moveTo>
                  <a:lnTo>
                    <a:pt x="764115" y="0"/>
                  </a:lnTo>
                  <a:cubicBezTo>
                    <a:pt x="780486" y="0"/>
                    <a:pt x="796186" y="6503"/>
                    <a:pt x="807762" y="18079"/>
                  </a:cubicBezTo>
                  <a:cubicBezTo>
                    <a:pt x="819338" y="29655"/>
                    <a:pt x="825841" y="45355"/>
                    <a:pt x="825841" y="61726"/>
                  </a:cubicBezTo>
                  <a:lnTo>
                    <a:pt x="825841" y="186180"/>
                  </a:lnTo>
                  <a:cubicBezTo>
                    <a:pt x="825841" y="220271"/>
                    <a:pt x="798206" y="247906"/>
                    <a:pt x="764115" y="247906"/>
                  </a:cubicBezTo>
                  <a:lnTo>
                    <a:pt x="61726" y="247906"/>
                  </a:lnTo>
                  <a:cubicBezTo>
                    <a:pt x="27636" y="247906"/>
                    <a:pt x="0" y="220271"/>
                    <a:pt x="0" y="186180"/>
                  </a:cubicBezTo>
                  <a:lnTo>
                    <a:pt x="0" y="61726"/>
                  </a:lnTo>
                  <a:cubicBezTo>
                    <a:pt x="0" y="27636"/>
                    <a:pt x="27636" y="0"/>
                    <a:pt x="61726" y="0"/>
                  </a:cubicBezTo>
                  <a:close/>
                </a:path>
              </a:pathLst>
            </a:custGeom>
            <a:solidFill>
              <a:srgbClr val="E4E9FF"/>
            </a:solidFill>
            <a:ln w="19050" cap="rnd">
              <a:solidFill>
                <a:srgbClr val="3A20D8"/>
              </a:solidFill>
              <a:prstDash val="solid"/>
              <a:round/>
            </a:ln>
          </p:spPr>
        </p:sp>
        <p:sp>
          <p:nvSpPr>
            <p:cNvPr name="TextBox 25" id="25"/>
            <p:cNvSpPr txBox="true"/>
            <p:nvPr/>
          </p:nvSpPr>
          <p:spPr>
            <a:xfrm>
              <a:off x="0" y="-19050"/>
              <a:ext cx="825841" cy="266956"/>
            </a:xfrm>
            <a:prstGeom prst="rect">
              <a:avLst/>
            </a:prstGeom>
          </p:spPr>
          <p:txBody>
            <a:bodyPr anchor="ctr" rtlCol="false" tIns="50800" lIns="50800" bIns="50800" rIns="50800"/>
            <a:lstStyle/>
            <a:p>
              <a:pPr algn="ctr">
                <a:lnSpc>
                  <a:spcPts val="1841"/>
                </a:lnSpc>
              </a:pPr>
            </a:p>
          </p:txBody>
        </p:sp>
      </p:grpSp>
      <p:grpSp>
        <p:nvGrpSpPr>
          <p:cNvPr name="Group 26" id="26"/>
          <p:cNvGrpSpPr/>
          <p:nvPr/>
        </p:nvGrpSpPr>
        <p:grpSpPr>
          <a:xfrm rot="0">
            <a:off x="7504381" y="2517040"/>
            <a:ext cx="3135616" cy="1048118"/>
            <a:chOff x="0" y="0"/>
            <a:chExt cx="825841" cy="276048"/>
          </a:xfrm>
        </p:grpSpPr>
        <p:sp>
          <p:nvSpPr>
            <p:cNvPr name="Freeform 27" id="27"/>
            <p:cNvSpPr/>
            <p:nvPr/>
          </p:nvSpPr>
          <p:spPr>
            <a:xfrm flipH="false" flipV="false" rot="0">
              <a:off x="0" y="0"/>
              <a:ext cx="825841" cy="276048"/>
            </a:xfrm>
            <a:custGeom>
              <a:avLst/>
              <a:gdLst/>
              <a:ahLst/>
              <a:cxnLst/>
              <a:rect r="r" b="b" t="t" l="l"/>
              <a:pathLst>
                <a:path h="276048" w="825841">
                  <a:moveTo>
                    <a:pt x="61726" y="0"/>
                  </a:moveTo>
                  <a:lnTo>
                    <a:pt x="764115" y="0"/>
                  </a:lnTo>
                  <a:cubicBezTo>
                    <a:pt x="780486" y="0"/>
                    <a:pt x="796186" y="6503"/>
                    <a:pt x="807762" y="18079"/>
                  </a:cubicBezTo>
                  <a:cubicBezTo>
                    <a:pt x="819338" y="29655"/>
                    <a:pt x="825841" y="45355"/>
                    <a:pt x="825841" y="61726"/>
                  </a:cubicBezTo>
                  <a:lnTo>
                    <a:pt x="825841" y="214322"/>
                  </a:lnTo>
                  <a:cubicBezTo>
                    <a:pt x="825841" y="230693"/>
                    <a:pt x="819338" y="246393"/>
                    <a:pt x="807762" y="257969"/>
                  </a:cubicBezTo>
                  <a:cubicBezTo>
                    <a:pt x="796186" y="269544"/>
                    <a:pt x="780486" y="276048"/>
                    <a:pt x="764115" y="276048"/>
                  </a:cubicBezTo>
                  <a:lnTo>
                    <a:pt x="61726" y="276048"/>
                  </a:lnTo>
                  <a:cubicBezTo>
                    <a:pt x="27636" y="276048"/>
                    <a:pt x="0" y="248412"/>
                    <a:pt x="0" y="214322"/>
                  </a:cubicBezTo>
                  <a:lnTo>
                    <a:pt x="0" y="61726"/>
                  </a:lnTo>
                  <a:cubicBezTo>
                    <a:pt x="0" y="27636"/>
                    <a:pt x="27636" y="0"/>
                    <a:pt x="61726" y="0"/>
                  </a:cubicBezTo>
                  <a:close/>
                </a:path>
              </a:pathLst>
            </a:custGeom>
            <a:solidFill>
              <a:srgbClr val="E4E9FF"/>
            </a:solidFill>
            <a:ln w="19050" cap="rnd">
              <a:solidFill>
                <a:srgbClr val="3A20D8"/>
              </a:solidFill>
              <a:prstDash val="solid"/>
              <a:round/>
            </a:ln>
          </p:spPr>
        </p:sp>
        <p:sp>
          <p:nvSpPr>
            <p:cNvPr name="TextBox 28" id="28"/>
            <p:cNvSpPr txBox="true"/>
            <p:nvPr/>
          </p:nvSpPr>
          <p:spPr>
            <a:xfrm>
              <a:off x="0" y="-19050"/>
              <a:ext cx="825841" cy="295098"/>
            </a:xfrm>
            <a:prstGeom prst="rect">
              <a:avLst/>
            </a:prstGeom>
          </p:spPr>
          <p:txBody>
            <a:bodyPr anchor="ctr" rtlCol="false" tIns="50800" lIns="50800" bIns="50800" rIns="50800"/>
            <a:lstStyle/>
            <a:p>
              <a:pPr algn="ctr">
                <a:lnSpc>
                  <a:spcPts val="1841"/>
                </a:lnSpc>
              </a:pPr>
            </a:p>
          </p:txBody>
        </p:sp>
      </p:grpSp>
      <p:grpSp>
        <p:nvGrpSpPr>
          <p:cNvPr name="Group 29" id="29"/>
          <p:cNvGrpSpPr/>
          <p:nvPr/>
        </p:nvGrpSpPr>
        <p:grpSpPr>
          <a:xfrm rot="0">
            <a:off x="7539616" y="3747672"/>
            <a:ext cx="3135616" cy="941268"/>
            <a:chOff x="0" y="0"/>
            <a:chExt cx="825841" cy="247906"/>
          </a:xfrm>
        </p:grpSpPr>
        <p:sp>
          <p:nvSpPr>
            <p:cNvPr name="Freeform 30" id="30"/>
            <p:cNvSpPr/>
            <p:nvPr/>
          </p:nvSpPr>
          <p:spPr>
            <a:xfrm flipH="false" flipV="false" rot="0">
              <a:off x="0" y="0"/>
              <a:ext cx="825841" cy="247906"/>
            </a:xfrm>
            <a:custGeom>
              <a:avLst/>
              <a:gdLst/>
              <a:ahLst/>
              <a:cxnLst/>
              <a:rect r="r" b="b" t="t" l="l"/>
              <a:pathLst>
                <a:path h="247906" w="825841">
                  <a:moveTo>
                    <a:pt x="61726" y="0"/>
                  </a:moveTo>
                  <a:lnTo>
                    <a:pt x="764115" y="0"/>
                  </a:lnTo>
                  <a:cubicBezTo>
                    <a:pt x="780486" y="0"/>
                    <a:pt x="796186" y="6503"/>
                    <a:pt x="807762" y="18079"/>
                  </a:cubicBezTo>
                  <a:cubicBezTo>
                    <a:pt x="819338" y="29655"/>
                    <a:pt x="825841" y="45355"/>
                    <a:pt x="825841" y="61726"/>
                  </a:cubicBezTo>
                  <a:lnTo>
                    <a:pt x="825841" y="186180"/>
                  </a:lnTo>
                  <a:cubicBezTo>
                    <a:pt x="825841" y="220271"/>
                    <a:pt x="798206" y="247906"/>
                    <a:pt x="764115" y="247906"/>
                  </a:cubicBezTo>
                  <a:lnTo>
                    <a:pt x="61726" y="247906"/>
                  </a:lnTo>
                  <a:cubicBezTo>
                    <a:pt x="27636" y="247906"/>
                    <a:pt x="0" y="220271"/>
                    <a:pt x="0" y="186180"/>
                  </a:cubicBezTo>
                  <a:lnTo>
                    <a:pt x="0" y="61726"/>
                  </a:lnTo>
                  <a:cubicBezTo>
                    <a:pt x="0" y="27636"/>
                    <a:pt x="27636" y="0"/>
                    <a:pt x="61726" y="0"/>
                  </a:cubicBezTo>
                  <a:close/>
                </a:path>
              </a:pathLst>
            </a:custGeom>
            <a:solidFill>
              <a:srgbClr val="E4E9FF"/>
            </a:solidFill>
            <a:ln w="19050" cap="rnd">
              <a:solidFill>
                <a:srgbClr val="3A20D8"/>
              </a:solidFill>
              <a:prstDash val="solid"/>
              <a:round/>
            </a:ln>
          </p:spPr>
        </p:sp>
        <p:sp>
          <p:nvSpPr>
            <p:cNvPr name="TextBox 31" id="31"/>
            <p:cNvSpPr txBox="true"/>
            <p:nvPr/>
          </p:nvSpPr>
          <p:spPr>
            <a:xfrm>
              <a:off x="0" y="-19050"/>
              <a:ext cx="825841" cy="266956"/>
            </a:xfrm>
            <a:prstGeom prst="rect">
              <a:avLst/>
            </a:prstGeom>
          </p:spPr>
          <p:txBody>
            <a:bodyPr anchor="ctr" rtlCol="false" tIns="50800" lIns="50800" bIns="50800" rIns="50800"/>
            <a:lstStyle/>
            <a:p>
              <a:pPr algn="ctr">
                <a:lnSpc>
                  <a:spcPts val="1841"/>
                </a:lnSpc>
              </a:pPr>
            </a:p>
          </p:txBody>
        </p:sp>
      </p:grpSp>
      <p:grpSp>
        <p:nvGrpSpPr>
          <p:cNvPr name="Group 32" id="32"/>
          <p:cNvGrpSpPr/>
          <p:nvPr/>
        </p:nvGrpSpPr>
        <p:grpSpPr>
          <a:xfrm rot="0">
            <a:off x="7595032" y="4831816"/>
            <a:ext cx="3135616" cy="1160509"/>
            <a:chOff x="0" y="0"/>
            <a:chExt cx="825841" cy="305649"/>
          </a:xfrm>
        </p:grpSpPr>
        <p:sp>
          <p:nvSpPr>
            <p:cNvPr name="Freeform 33" id="33"/>
            <p:cNvSpPr/>
            <p:nvPr/>
          </p:nvSpPr>
          <p:spPr>
            <a:xfrm flipH="false" flipV="false" rot="0">
              <a:off x="0" y="0"/>
              <a:ext cx="825841" cy="305649"/>
            </a:xfrm>
            <a:custGeom>
              <a:avLst/>
              <a:gdLst/>
              <a:ahLst/>
              <a:cxnLst/>
              <a:rect r="r" b="b" t="t" l="l"/>
              <a:pathLst>
                <a:path h="305649" w="825841">
                  <a:moveTo>
                    <a:pt x="61726" y="0"/>
                  </a:moveTo>
                  <a:lnTo>
                    <a:pt x="764115" y="0"/>
                  </a:lnTo>
                  <a:cubicBezTo>
                    <a:pt x="780486" y="0"/>
                    <a:pt x="796186" y="6503"/>
                    <a:pt x="807762" y="18079"/>
                  </a:cubicBezTo>
                  <a:cubicBezTo>
                    <a:pt x="819338" y="29655"/>
                    <a:pt x="825841" y="45355"/>
                    <a:pt x="825841" y="61726"/>
                  </a:cubicBezTo>
                  <a:lnTo>
                    <a:pt x="825841" y="243923"/>
                  </a:lnTo>
                  <a:cubicBezTo>
                    <a:pt x="825841" y="278013"/>
                    <a:pt x="798206" y="305649"/>
                    <a:pt x="764115" y="305649"/>
                  </a:cubicBezTo>
                  <a:lnTo>
                    <a:pt x="61726" y="305649"/>
                  </a:lnTo>
                  <a:cubicBezTo>
                    <a:pt x="45355" y="305649"/>
                    <a:pt x="29655" y="299145"/>
                    <a:pt x="18079" y="287570"/>
                  </a:cubicBezTo>
                  <a:cubicBezTo>
                    <a:pt x="6503" y="275994"/>
                    <a:pt x="0" y="260294"/>
                    <a:pt x="0" y="243923"/>
                  </a:cubicBezTo>
                  <a:lnTo>
                    <a:pt x="0" y="61726"/>
                  </a:lnTo>
                  <a:cubicBezTo>
                    <a:pt x="0" y="27636"/>
                    <a:pt x="27636" y="0"/>
                    <a:pt x="61726" y="0"/>
                  </a:cubicBezTo>
                  <a:close/>
                </a:path>
              </a:pathLst>
            </a:custGeom>
            <a:solidFill>
              <a:srgbClr val="E2CBF6"/>
            </a:solidFill>
            <a:ln w="19050" cap="rnd">
              <a:solidFill>
                <a:srgbClr val="3A20D8"/>
              </a:solidFill>
              <a:prstDash val="solid"/>
              <a:round/>
            </a:ln>
          </p:spPr>
        </p:sp>
        <p:sp>
          <p:nvSpPr>
            <p:cNvPr name="TextBox 34" id="34"/>
            <p:cNvSpPr txBox="true"/>
            <p:nvPr/>
          </p:nvSpPr>
          <p:spPr>
            <a:xfrm>
              <a:off x="0" y="-19050"/>
              <a:ext cx="825841" cy="324699"/>
            </a:xfrm>
            <a:prstGeom prst="rect">
              <a:avLst/>
            </a:prstGeom>
          </p:spPr>
          <p:txBody>
            <a:bodyPr anchor="ctr" rtlCol="false" tIns="50800" lIns="50800" bIns="50800" rIns="50800"/>
            <a:lstStyle/>
            <a:p>
              <a:pPr algn="ctr">
                <a:lnSpc>
                  <a:spcPts val="1841"/>
                </a:lnSpc>
              </a:pPr>
            </a:p>
          </p:txBody>
        </p:sp>
      </p:grpSp>
      <p:sp>
        <p:nvSpPr>
          <p:cNvPr name="Freeform 35" id="35"/>
          <p:cNvSpPr/>
          <p:nvPr/>
        </p:nvSpPr>
        <p:spPr>
          <a:xfrm flipH="false" flipV="false" rot="0">
            <a:off x="7765092" y="5089123"/>
            <a:ext cx="642665" cy="645895"/>
          </a:xfrm>
          <a:custGeom>
            <a:avLst/>
            <a:gdLst/>
            <a:ahLst/>
            <a:cxnLst/>
            <a:rect r="r" b="b" t="t" l="l"/>
            <a:pathLst>
              <a:path h="645895" w="642665">
                <a:moveTo>
                  <a:pt x="0" y="0"/>
                </a:moveTo>
                <a:lnTo>
                  <a:pt x="642666" y="0"/>
                </a:lnTo>
                <a:lnTo>
                  <a:pt x="642666" y="645895"/>
                </a:lnTo>
                <a:lnTo>
                  <a:pt x="0" y="64589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36" id="36"/>
          <p:cNvGrpSpPr/>
          <p:nvPr/>
        </p:nvGrpSpPr>
        <p:grpSpPr>
          <a:xfrm rot="0">
            <a:off x="485671" y="2371178"/>
            <a:ext cx="2766005" cy="4123096"/>
            <a:chOff x="0" y="0"/>
            <a:chExt cx="3688007" cy="5497462"/>
          </a:xfrm>
        </p:grpSpPr>
        <p:grpSp>
          <p:nvGrpSpPr>
            <p:cNvPr name="Group 37" id="37"/>
            <p:cNvGrpSpPr/>
            <p:nvPr/>
          </p:nvGrpSpPr>
          <p:grpSpPr>
            <a:xfrm rot="0">
              <a:off x="0" y="0"/>
              <a:ext cx="3524172" cy="597510"/>
              <a:chOff x="0" y="0"/>
              <a:chExt cx="688705" cy="116767"/>
            </a:xfrm>
          </p:grpSpPr>
          <p:sp>
            <p:nvSpPr>
              <p:cNvPr name="Freeform 38" id="38"/>
              <p:cNvSpPr/>
              <p:nvPr/>
            </p:nvSpPr>
            <p:spPr>
              <a:xfrm flipH="false" flipV="false" rot="0">
                <a:off x="0" y="0"/>
                <a:ext cx="688705" cy="116767"/>
              </a:xfrm>
              <a:custGeom>
                <a:avLst/>
                <a:gdLst/>
                <a:ahLst/>
                <a:cxnLst/>
                <a:rect r="r" b="b" t="t" l="l"/>
                <a:pathLst>
                  <a:path h="116767" w="688705">
                    <a:moveTo>
                      <a:pt x="58384" y="0"/>
                    </a:moveTo>
                    <a:lnTo>
                      <a:pt x="630321" y="0"/>
                    </a:lnTo>
                    <a:cubicBezTo>
                      <a:pt x="645806" y="0"/>
                      <a:pt x="660656" y="6151"/>
                      <a:pt x="671605" y="17100"/>
                    </a:cubicBezTo>
                    <a:cubicBezTo>
                      <a:pt x="682554" y="28049"/>
                      <a:pt x="688705" y="42899"/>
                      <a:pt x="688705" y="58384"/>
                    </a:cubicBezTo>
                    <a:lnTo>
                      <a:pt x="688705" y="58384"/>
                    </a:lnTo>
                    <a:cubicBezTo>
                      <a:pt x="688705" y="90628"/>
                      <a:pt x="662566" y="116767"/>
                      <a:pt x="630321" y="116767"/>
                    </a:cubicBezTo>
                    <a:lnTo>
                      <a:pt x="58384" y="116767"/>
                    </a:lnTo>
                    <a:cubicBezTo>
                      <a:pt x="42899" y="116767"/>
                      <a:pt x="28049" y="110616"/>
                      <a:pt x="17100" y="99667"/>
                    </a:cubicBezTo>
                    <a:cubicBezTo>
                      <a:pt x="6151" y="88718"/>
                      <a:pt x="0" y="73868"/>
                      <a:pt x="0" y="58384"/>
                    </a:cubicBezTo>
                    <a:lnTo>
                      <a:pt x="0" y="58384"/>
                    </a:lnTo>
                    <a:cubicBezTo>
                      <a:pt x="0" y="42899"/>
                      <a:pt x="6151" y="28049"/>
                      <a:pt x="17100" y="17100"/>
                    </a:cubicBezTo>
                    <a:cubicBezTo>
                      <a:pt x="28049" y="6151"/>
                      <a:pt x="42899" y="0"/>
                      <a:pt x="58384" y="0"/>
                    </a:cubicBezTo>
                    <a:close/>
                  </a:path>
                </a:pathLst>
              </a:custGeom>
              <a:solidFill>
                <a:srgbClr val="E2CBF6"/>
              </a:solidFill>
            </p:spPr>
          </p:sp>
          <p:sp>
            <p:nvSpPr>
              <p:cNvPr name="TextBox 39" id="39"/>
              <p:cNvSpPr txBox="true"/>
              <p:nvPr/>
            </p:nvSpPr>
            <p:spPr>
              <a:xfrm>
                <a:off x="0" y="-19050"/>
                <a:ext cx="688705" cy="135817"/>
              </a:xfrm>
              <a:prstGeom prst="rect">
                <a:avLst/>
              </a:prstGeom>
            </p:spPr>
            <p:txBody>
              <a:bodyPr anchor="ctr" rtlCol="false" tIns="50800" lIns="50800" bIns="50800" rIns="50800"/>
              <a:lstStyle/>
              <a:p>
                <a:pPr algn="ctr">
                  <a:lnSpc>
                    <a:spcPts val="1841"/>
                  </a:lnSpc>
                </a:pPr>
              </a:p>
            </p:txBody>
          </p:sp>
        </p:grpSp>
        <p:grpSp>
          <p:nvGrpSpPr>
            <p:cNvPr name="Group 40" id="40"/>
            <p:cNvGrpSpPr/>
            <p:nvPr/>
          </p:nvGrpSpPr>
          <p:grpSpPr>
            <a:xfrm rot="0">
              <a:off x="0" y="697818"/>
              <a:ext cx="3524172" cy="597510"/>
              <a:chOff x="0" y="0"/>
              <a:chExt cx="688705" cy="116767"/>
            </a:xfrm>
          </p:grpSpPr>
          <p:sp>
            <p:nvSpPr>
              <p:cNvPr name="Freeform 41" id="41"/>
              <p:cNvSpPr/>
              <p:nvPr/>
            </p:nvSpPr>
            <p:spPr>
              <a:xfrm flipH="false" flipV="false" rot="0">
                <a:off x="0" y="0"/>
                <a:ext cx="688705" cy="116767"/>
              </a:xfrm>
              <a:custGeom>
                <a:avLst/>
                <a:gdLst/>
                <a:ahLst/>
                <a:cxnLst/>
                <a:rect r="r" b="b" t="t" l="l"/>
                <a:pathLst>
                  <a:path h="116767" w="688705">
                    <a:moveTo>
                      <a:pt x="58384" y="0"/>
                    </a:moveTo>
                    <a:lnTo>
                      <a:pt x="630321" y="0"/>
                    </a:lnTo>
                    <a:cubicBezTo>
                      <a:pt x="645806" y="0"/>
                      <a:pt x="660656" y="6151"/>
                      <a:pt x="671605" y="17100"/>
                    </a:cubicBezTo>
                    <a:cubicBezTo>
                      <a:pt x="682554" y="28049"/>
                      <a:pt x="688705" y="42899"/>
                      <a:pt x="688705" y="58384"/>
                    </a:cubicBezTo>
                    <a:lnTo>
                      <a:pt x="688705" y="58384"/>
                    </a:lnTo>
                    <a:cubicBezTo>
                      <a:pt x="688705" y="90628"/>
                      <a:pt x="662566" y="116767"/>
                      <a:pt x="630321" y="116767"/>
                    </a:cubicBezTo>
                    <a:lnTo>
                      <a:pt x="58384" y="116767"/>
                    </a:lnTo>
                    <a:cubicBezTo>
                      <a:pt x="42899" y="116767"/>
                      <a:pt x="28049" y="110616"/>
                      <a:pt x="17100" y="99667"/>
                    </a:cubicBezTo>
                    <a:cubicBezTo>
                      <a:pt x="6151" y="88718"/>
                      <a:pt x="0" y="73868"/>
                      <a:pt x="0" y="58384"/>
                    </a:cubicBezTo>
                    <a:lnTo>
                      <a:pt x="0" y="58384"/>
                    </a:lnTo>
                    <a:cubicBezTo>
                      <a:pt x="0" y="42899"/>
                      <a:pt x="6151" y="28049"/>
                      <a:pt x="17100" y="17100"/>
                    </a:cubicBezTo>
                    <a:cubicBezTo>
                      <a:pt x="28049" y="6151"/>
                      <a:pt x="42899" y="0"/>
                      <a:pt x="58384" y="0"/>
                    </a:cubicBezTo>
                    <a:close/>
                  </a:path>
                </a:pathLst>
              </a:custGeom>
              <a:solidFill>
                <a:srgbClr val="E2CBF6"/>
              </a:solidFill>
            </p:spPr>
          </p:sp>
          <p:sp>
            <p:nvSpPr>
              <p:cNvPr name="TextBox 42" id="42"/>
              <p:cNvSpPr txBox="true"/>
              <p:nvPr/>
            </p:nvSpPr>
            <p:spPr>
              <a:xfrm>
                <a:off x="0" y="-19050"/>
                <a:ext cx="688705" cy="135817"/>
              </a:xfrm>
              <a:prstGeom prst="rect">
                <a:avLst/>
              </a:prstGeom>
            </p:spPr>
            <p:txBody>
              <a:bodyPr anchor="ctr" rtlCol="false" tIns="50800" lIns="50800" bIns="50800" rIns="50800"/>
              <a:lstStyle/>
              <a:p>
                <a:pPr algn="ctr">
                  <a:lnSpc>
                    <a:spcPts val="1841"/>
                  </a:lnSpc>
                </a:pPr>
              </a:p>
            </p:txBody>
          </p:sp>
        </p:grpSp>
        <p:grpSp>
          <p:nvGrpSpPr>
            <p:cNvPr name="Group 43" id="43"/>
            <p:cNvGrpSpPr/>
            <p:nvPr/>
          </p:nvGrpSpPr>
          <p:grpSpPr>
            <a:xfrm rot="0">
              <a:off x="0" y="1395636"/>
              <a:ext cx="3524172" cy="597510"/>
              <a:chOff x="0" y="0"/>
              <a:chExt cx="688705" cy="116767"/>
            </a:xfrm>
          </p:grpSpPr>
          <p:sp>
            <p:nvSpPr>
              <p:cNvPr name="Freeform 44" id="44"/>
              <p:cNvSpPr/>
              <p:nvPr/>
            </p:nvSpPr>
            <p:spPr>
              <a:xfrm flipH="false" flipV="false" rot="0">
                <a:off x="0" y="0"/>
                <a:ext cx="688705" cy="116767"/>
              </a:xfrm>
              <a:custGeom>
                <a:avLst/>
                <a:gdLst/>
                <a:ahLst/>
                <a:cxnLst/>
                <a:rect r="r" b="b" t="t" l="l"/>
                <a:pathLst>
                  <a:path h="116767" w="688705">
                    <a:moveTo>
                      <a:pt x="58384" y="0"/>
                    </a:moveTo>
                    <a:lnTo>
                      <a:pt x="630321" y="0"/>
                    </a:lnTo>
                    <a:cubicBezTo>
                      <a:pt x="645806" y="0"/>
                      <a:pt x="660656" y="6151"/>
                      <a:pt x="671605" y="17100"/>
                    </a:cubicBezTo>
                    <a:cubicBezTo>
                      <a:pt x="682554" y="28049"/>
                      <a:pt x="688705" y="42899"/>
                      <a:pt x="688705" y="58384"/>
                    </a:cubicBezTo>
                    <a:lnTo>
                      <a:pt x="688705" y="58384"/>
                    </a:lnTo>
                    <a:cubicBezTo>
                      <a:pt x="688705" y="90628"/>
                      <a:pt x="662566" y="116767"/>
                      <a:pt x="630321" y="116767"/>
                    </a:cubicBezTo>
                    <a:lnTo>
                      <a:pt x="58384" y="116767"/>
                    </a:lnTo>
                    <a:cubicBezTo>
                      <a:pt x="42899" y="116767"/>
                      <a:pt x="28049" y="110616"/>
                      <a:pt x="17100" y="99667"/>
                    </a:cubicBezTo>
                    <a:cubicBezTo>
                      <a:pt x="6151" y="88718"/>
                      <a:pt x="0" y="73868"/>
                      <a:pt x="0" y="58384"/>
                    </a:cubicBezTo>
                    <a:lnTo>
                      <a:pt x="0" y="58384"/>
                    </a:lnTo>
                    <a:cubicBezTo>
                      <a:pt x="0" y="42899"/>
                      <a:pt x="6151" y="28049"/>
                      <a:pt x="17100" y="17100"/>
                    </a:cubicBezTo>
                    <a:cubicBezTo>
                      <a:pt x="28049" y="6151"/>
                      <a:pt x="42899" y="0"/>
                      <a:pt x="58384" y="0"/>
                    </a:cubicBezTo>
                    <a:close/>
                  </a:path>
                </a:pathLst>
              </a:custGeom>
              <a:solidFill>
                <a:srgbClr val="E2CBF6"/>
              </a:solidFill>
            </p:spPr>
          </p:sp>
          <p:sp>
            <p:nvSpPr>
              <p:cNvPr name="TextBox 45" id="45"/>
              <p:cNvSpPr txBox="true"/>
              <p:nvPr/>
            </p:nvSpPr>
            <p:spPr>
              <a:xfrm>
                <a:off x="0" y="-19050"/>
                <a:ext cx="688705" cy="135817"/>
              </a:xfrm>
              <a:prstGeom prst="rect">
                <a:avLst/>
              </a:prstGeom>
            </p:spPr>
            <p:txBody>
              <a:bodyPr anchor="ctr" rtlCol="false" tIns="50800" lIns="50800" bIns="50800" rIns="50800"/>
              <a:lstStyle/>
              <a:p>
                <a:pPr algn="ctr">
                  <a:lnSpc>
                    <a:spcPts val="1841"/>
                  </a:lnSpc>
                </a:pPr>
              </a:p>
            </p:txBody>
          </p:sp>
        </p:grpSp>
        <p:grpSp>
          <p:nvGrpSpPr>
            <p:cNvPr name="Group 46" id="46"/>
            <p:cNvGrpSpPr/>
            <p:nvPr/>
          </p:nvGrpSpPr>
          <p:grpSpPr>
            <a:xfrm rot="0">
              <a:off x="0" y="2093455"/>
              <a:ext cx="3524172" cy="597510"/>
              <a:chOff x="0" y="0"/>
              <a:chExt cx="688705" cy="116767"/>
            </a:xfrm>
          </p:grpSpPr>
          <p:sp>
            <p:nvSpPr>
              <p:cNvPr name="Freeform 47" id="47"/>
              <p:cNvSpPr/>
              <p:nvPr/>
            </p:nvSpPr>
            <p:spPr>
              <a:xfrm flipH="false" flipV="false" rot="0">
                <a:off x="0" y="0"/>
                <a:ext cx="688705" cy="116767"/>
              </a:xfrm>
              <a:custGeom>
                <a:avLst/>
                <a:gdLst/>
                <a:ahLst/>
                <a:cxnLst/>
                <a:rect r="r" b="b" t="t" l="l"/>
                <a:pathLst>
                  <a:path h="116767" w="688705">
                    <a:moveTo>
                      <a:pt x="58384" y="0"/>
                    </a:moveTo>
                    <a:lnTo>
                      <a:pt x="630321" y="0"/>
                    </a:lnTo>
                    <a:cubicBezTo>
                      <a:pt x="645806" y="0"/>
                      <a:pt x="660656" y="6151"/>
                      <a:pt x="671605" y="17100"/>
                    </a:cubicBezTo>
                    <a:cubicBezTo>
                      <a:pt x="682554" y="28049"/>
                      <a:pt x="688705" y="42899"/>
                      <a:pt x="688705" y="58384"/>
                    </a:cubicBezTo>
                    <a:lnTo>
                      <a:pt x="688705" y="58384"/>
                    </a:lnTo>
                    <a:cubicBezTo>
                      <a:pt x="688705" y="90628"/>
                      <a:pt x="662566" y="116767"/>
                      <a:pt x="630321" y="116767"/>
                    </a:cubicBezTo>
                    <a:lnTo>
                      <a:pt x="58384" y="116767"/>
                    </a:lnTo>
                    <a:cubicBezTo>
                      <a:pt x="42899" y="116767"/>
                      <a:pt x="28049" y="110616"/>
                      <a:pt x="17100" y="99667"/>
                    </a:cubicBezTo>
                    <a:cubicBezTo>
                      <a:pt x="6151" y="88718"/>
                      <a:pt x="0" y="73868"/>
                      <a:pt x="0" y="58384"/>
                    </a:cubicBezTo>
                    <a:lnTo>
                      <a:pt x="0" y="58384"/>
                    </a:lnTo>
                    <a:cubicBezTo>
                      <a:pt x="0" y="42899"/>
                      <a:pt x="6151" y="28049"/>
                      <a:pt x="17100" y="17100"/>
                    </a:cubicBezTo>
                    <a:cubicBezTo>
                      <a:pt x="28049" y="6151"/>
                      <a:pt x="42899" y="0"/>
                      <a:pt x="58384" y="0"/>
                    </a:cubicBezTo>
                    <a:close/>
                  </a:path>
                </a:pathLst>
              </a:custGeom>
              <a:solidFill>
                <a:srgbClr val="E2CBF6"/>
              </a:solidFill>
            </p:spPr>
          </p:sp>
          <p:sp>
            <p:nvSpPr>
              <p:cNvPr name="TextBox 48" id="48"/>
              <p:cNvSpPr txBox="true"/>
              <p:nvPr/>
            </p:nvSpPr>
            <p:spPr>
              <a:xfrm>
                <a:off x="0" y="-19050"/>
                <a:ext cx="688705" cy="135817"/>
              </a:xfrm>
              <a:prstGeom prst="rect">
                <a:avLst/>
              </a:prstGeom>
            </p:spPr>
            <p:txBody>
              <a:bodyPr anchor="ctr" rtlCol="false" tIns="50800" lIns="50800" bIns="50800" rIns="50800"/>
              <a:lstStyle/>
              <a:p>
                <a:pPr algn="ctr">
                  <a:lnSpc>
                    <a:spcPts val="1841"/>
                  </a:lnSpc>
                </a:pPr>
              </a:p>
            </p:txBody>
          </p:sp>
        </p:grpSp>
        <p:grpSp>
          <p:nvGrpSpPr>
            <p:cNvPr name="Group 49" id="49"/>
            <p:cNvGrpSpPr/>
            <p:nvPr/>
          </p:nvGrpSpPr>
          <p:grpSpPr>
            <a:xfrm rot="0">
              <a:off x="0" y="2791273"/>
              <a:ext cx="3524172" cy="597510"/>
              <a:chOff x="0" y="0"/>
              <a:chExt cx="688705" cy="116767"/>
            </a:xfrm>
          </p:grpSpPr>
          <p:sp>
            <p:nvSpPr>
              <p:cNvPr name="Freeform 50" id="50"/>
              <p:cNvSpPr/>
              <p:nvPr/>
            </p:nvSpPr>
            <p:spPr>
              <a:xfrm flipH="false" flipV="false" rot="0">
                <a:off x="0" y="0"/>
                <a:ext cx="688705" cy="116767"/>
              </a:xfrm>
              <a:custGeom>
                <a:avLst/>
                <a:gdLst/>
                <a:ahLst/>
                <a:cxnLst/>
                <a:rect r="r" b="b" t="t" l="l"/>
                <a:pathLst>
                  <a:path h="116767" w="688705">
                    <a:moveTo>
                      <a:pt x="58384" y="0"/>
                    </a:moveTo>
                    <a:lnTo>
                      <a:pt x="630321" y="0"/>
                    </a:lnTo>
                    <a:cubicBezTo>
                      <a:pt x="645806" y="0"/>
                      <a:pt x="660656" y="6151"/>
                      <a:pt x="671605" y="17100"/>
                    </a:cubicBezTo>
                    <a:cubicBezTo>
                      <a:pt x="682554" y="28049"/>
                      <a:pt x="688705" y="42899"/>
                      <a:pt x="688705" y="58384"/>
                    </a:cubicBezTo>
                    <a:lnTo>
                      <a:pt x="688705" y="58384"/>
                    </a:lnTo>
                    <a:cubicBezTo>
                      <a:pt x="688705" y="90628"/>
                      <a:pt x="662566" y="116767"/>
                      <a:pt x="630321" y="116767"/>
                    </a:cubicBezTo>
                    <a:lnTo>
                      <a:pt x="58384" y="116767"/>
                    </a:lnTo>
                    <a:cubicBezTo>
                      <a:pt x="42899" y="116767"/>
                      <a:pt x="28049" y="110616"/>
                      <a:pt x="17100" y="99667"/>
                    </a:cubicBezTo>
                    <a:cubicBezTo>
                      <a:pt x="6151" y="88718"/>
                      <a:pt x="0" y="73868"/>
                      <a:pt x="0" y="58384"/>
                    </a:cubicBezTo>
                    <a:lnTo>
                      <a:pt x="0" y="58384"/>
                    </a:lnTo>
                    <a:cubicBezTo>
                      <a:pt x="0" y="42899"/>
                      <a:pt x="6151" y="28049"/>
                      <a:pt x="17100" y="17100"/>
                    </a:cubicBezTo>
                    <a:cubicBezTo>
                      <a:pt x="28049" y="6151"/>
                      <a:pt x="42899" y="0"/>
                      <a:pt x="58384" y="0"/>
                    </a:cubicBezTo>
                    <a:close/>
                  </a:path>
                </a:pathLst>
              </a:custGeom>
              <a:solidFill>
                <a:srgbClr val="E2CBF6"/>
              </a:solidFill>
            </p:spPr>
          </p:sp>
          <p:sp>
            <p:nvSpPr>
              <p:cNvPr name="TextBox 51" id="51"/>
              <p:cNvSpPr txBox="true"/>
              <p:nvPr/>
            </p:nvSpPr>
            <p:spPr>
              <a:xfrm>
                <a:off x="0" y="-19050"/>
                <a:ext cx="688705" cy="135817"/>
              </a:xfrm>
              <a:prstGeom prst="rect">
                <a:avLst/>
              </a:prstGeom>
            </p:spPr>
            <p:txBody>
              <a:bodyPr anchor="ctr" rtlCol="false" tIns="50800" lIns="50800" bIns="50800" rIns="50800"/>
              <a:lstStyle/>
              <a:p>
                <a:pPr algn="ctr">
                  <a:lnSpc>
                    <a:spcPts val="1841"/>
                  </a:lnSpc>
                </a:pPr>
              </a:p>
            </p:txBody>
          </p:sp>
        </p:grpSp>
        <p:grpSp>
          <p:nvGrpSpPr>
            <p:cNvPr name="Group 52" id="52"/>
            <p:cNvGrpSpPr/>
            <p:nvPr/>
          </p:nvGrpSpPr>
          <p:grpSpPr>
            <a:xfrm rot="0">
              <a:off x="0" y="3489091"/>
              <a:ext cx="3524172" cy="597510"/>
              <a:chOff x="0" y="0"/>
              <a:chExt cx="688705" cy="116767"/>
            </a:xfrm>
          </p:grpSpPr>
          <p:sp>
            <p:nvSpPr>
              <p:cNvPr name="Freeform 53" id="53"/>
              <p:cNvSpPr/>
              <p:nvPr/>
            </p:nvSpPr>
            <p:spPr>
              <a:xfrm flipH="false" flipV="false" rot="0">
                <a:off x="0" y="0"/>
                <a:ext cx="688705" cy="116767"/>
              </a:xfrm>
              <a:custGeom>
                <a:avLst/>
                <a:gdLst/>
                <a:ahLst/>
                <a:cxnLst/>
                <a:rect r="r" b="b" t="t" l="l"/>
                <a:pathLst>
                  <a:path h="116767" w="688705">
                    <a:moveTo>
                      <a:pt x="58384" y="0"/>
                    </a:moveTo>
                    <a:lnTo>
                      <a:pt x="630321" y="0"/>
                    </a:lnTo>
                    <a:cubicBezTo>
                      <a:pt x="645806" y="0"/>
                      <a:pt x="660656" y="6151"/>
                      <a:pt x="671605" y="17100"/>
                    </a:cubicBezTo>
                    <a:cubicBezTo>
                      <a:pt x="682554" y="28049"/>
                      <a:pt x="688705" y="42899"/>
                      <a:pt x="688705" y="58384"/>
                    </a:cubicBezTo>
                    <a:lnTo>
                      <a:pt x="688705" y="58384"/>
                    </a:lnTo>
                    <a:cubicBezTo>
                      <a:pt x="688705" y="90628"/>
                      <a:pt x="662566" y="116767"/>
                      <a:pt x="630321" y="116767"/>
                    </a:cubicBezTo>
                    <a:lnTo>
                      <a:pt x="58384" y="116767"/>
                    </a:lnTo>
                    <a:cubicBezTo>
                      <a:pt x="42899" y="116767"/>
                      <a:pt x="28049" y="110616"/>
                      <a:pt x="17100" y="99667"/>
                    </a:cubicBezTo>
                    <a:cubicBezTo>
                      <a:pt x="6151" y="88718"/>
                      <a:pt x="0" y="73868"/>
                      <a:pt x="0" y="58384"/>
                    </a:cubicBezTo>
                    <a:lnTo>
                      <a:pt x="0" y="58384"/>
                    </a:lnTo>
                    <a:cubicBezTo>
                      <a:pt x="0" y="42899"/>
                      <a:pt x="6151" y="28049"/>
                      <a:pt x="17100" y="17100"/>
                    </a:cubicBezTo>
                    <a:cubicBezTo>
                      <a:pt x="28049" y="6151"/>
                      <a:pt x="42899" y="0"/>
                      <a:pt x="58384" y="0"/>
                    </a:cubicBezTo>
                    <a:close/>
                  </a:path>
                </a:pathLst>
              </a:custGeom>
              <a:solidFill>
                <a:srgbClr val="E2CBF6"/>
              </a:solidFill>
            </p:spPr>
          </p:sp>
          <p:sp>
            <p:nvSpPr>
              <p:cNvPr name="TextBox 54" id="54"/>
              <p:cNvSpPr txBox="true"/>
              <p:nvPr/>
            </p:nvSpPr>
            <p:spPr>
              <a:xfrm>
                <a:off x="0" y="-19050"/>
                <a:ext cx="688705" cy="135817"/>
              </a:xfrm>
              <a:prstGeom prst="rect">
                <a:avLst/>
              </a:prstGeom>
            </p:spPr>
            <p:txBody>
              <a:bodyPr anchor="ctr" rtlCol="false" tIns="50800" lIns="50800" bIns="50800" rIns="50800"/>
              <a:lstStyle/>
              <a:p>
                <a:pPr algn="ctr">
                  <a:lnSpc>
                    <a:spcPts val="1841"/>
                  </a:lnSpc>
                </a:pPr>
              </a:p>
            </p:txBody>
          </p:sp>
        </p:grpSp>
        <p:grpSp>
          <p:nvGrpSpPr>
            <p:cNvPr name="Group 55" id="55"/>
            <p:cNvGrpSpPr/>
            <p:nvPr/>
          </p:nvGrpSpPr>
          <p:grpSpPr>
            <a:xfrm rot="0">
              <a:off x="0" y="4186909"/>
              <a:ext cx="3524172" cy="597510"/>
              <a:chOff x="0" y="0"/>
              <a:chExt cx="688705" cy="116767"/>
            </a:xfrm>
          </p:grpSpPr>
          <p:sp>
            <p:nvSpPr>
              <p:cNvPr name="Freeform 56" id="56"/>
              <p:cNvSpPr/>
              <p:nvPr/>
            </p:nvSpPr>
            <p:spPr>
              <a:xfrm flipH="false" flipV="false" rot="0">
                <a:off x="0" y="0"/>
                <a:ext cx="688705" cy="116767"/>
              </a:xfrm>
              <a:custGeom>
                <a:avLst/>
                <a:gdLst/>
                <a:ahLst/>
                <a:cxnLst/>
                <a:rect r="r" b="b" t="t" l="l"/>
                <a:pathLst>
                  <a:path h="116767" w="688705">
                    <a:moveTo>
                      <a:pt x="58384" y="0"/>
                    </a:moveTo>
                    <a:lnTo>
                      <a:pt x="630321" y="0"/>
                    </a:lnTo>
                    <a:cubicBezTo>
                      <a:pt x="645806" y="0"/>
                      <a:pt x="660656" y="6151"/>
                      <a:pt x="671605" y="17100"/>
                    </a:cubicBezTo>
                    <a:cubicBezTo>
                      <a:pt x="682554" y="28049"/>
                      <a:pt x="688705" y="42899"/>
                      <a:pt x="688705" y="58384"/>
                    </a:cubicBezTo>
                    <a:lnTo>
                      <a:pt x="688705" y="58384"/>
                    </a:lnTo>
                    <a:cubicBezTo>
                      <a:pt x="688705" y="90628"/>
                      <a:pt x="662566" y="116767"/>
                      <a:pt x="630321" y="116767"/>
                    </a:cubicBezTo>
                    <a:lnTo>
                      <a:pt x="58384" y="116767"/>
                    </a:lnTo>
                    <a:cubicBezTo>
                      <a:pt x="42899" y="116767"/>
                      <a:pt x="28049" y="110616"/>
                      <a:pt x="17100" y="99667"/>
                    </a:cubicBezTo>
                    <a:cubicBezTo>
                      <a:pt x="6151" y="88718"/>
                      <a:pt x="0" y="73868"/>
                      <a:pt x="0" y="58384"/>
                    </a:cubicBezTo>
                    <a:lnTo>
                      <a:pt x="0" y="58384"/>
                    </a:lnTo>
                    <a:cubicBezTo>
                      <a:pt x="0" y="42899"/>
                      <a:pt x="6151" y="28049"/>
                      <a:pt x="17100" y="17100"/>
                    </a:cubicBezTo>
                    <a:cubicBezTo>
                      <a:pt x="28049" y="6151"/>
                      <a:pt x="42899" y="0"/>
                      <a:pt x="58384" y="0"/>
                    </a:cubicBezTo>
                    <a:close/>
                  </a:path>
                </a:pathLst>
              </a:custGeom>
              <a:solidFill>
                <a:srgbClr val="E2CBF6"/>
              </a:solidFill>
            </p:spPr>
          </p:sp>
          <p:sp>
            <p:nvSpPr>
              <p:cNvPr name="TextBox 57" id="57"/>
              <p:cNvSpPr txBox="true"/>
              <p:nvPr/>
            </p:nvSpPr>
            <p:spPr>
              <a:xfrm>
                <a:off x="0" y="-19050"/>
                <a:ext cx="688705" cy="135817"/>
              </a:xfrm>
              <a:prstGeom prst="rect">
                <a:avLst/>
              </a:prstGeom>
            </p:spPr>
            <p:txBody>
              <a:bodyPr anchor="ctr" rtlCol="false" tIns="50800" lIns="50800" bIns="50800" rIns="50800"/>
              <a:lstStyle/>
              <a:p>
                <a:pPr algn="ctr">
                  <a:lnSpc>
                    <a:spcPts val="1841"/>
                  </a:lnSpc>
                </a:pPr>
              </a:p>
            </p:txBody>
          </p:sp>
        </p:grpSp>
        <p:grpSp>
          <p:nvGrpSpPr>
            <p:cNvPr name="Group 58" id="58"/>
            <p:cNvGrpSpPr/>
            <p:nvPr/>
          </p:nvGrpSpPr>
          <p:grpSpPr>
            <a:xfrm rot="0">
              <a:off x="0" y="4899952"/>
              <a:ext cx="3524172" cy="597510"/>
              <a:chOff x="0" y="0"/>
              <a:chExt cx="688705" cy="116767"/>
            </a:xfrm>
          </p:grpSpPr>
          <p:sp>
            <p:nvSpPr>
              <p:cNvPr name="Freeform 59" id="59"/>
              <p:cNvSpPr/>
              <p:nvPr/>
            </p:nvSpPr>
            <p:spPr>
              <a:xfrm flipH="false" flipV="false" rot="0">
                <a:off x="0" y="0"/>
                <a:ext cx="688705" cy="116767"/>
              </a:xfrm>
              <a:custGeom>
                <a:avLst/>
                <a:gdLst/>
                <a:ahLst/>
                <a:cxnLst/>
                <a:rect r="r" b="b" t="t" l="l"/>
                <a:pathLst>
                  <a:path h="116767" w="688705">
                    <a:moveTo>
                      <a:pt x="58384" y="0"/>
                    </a:moveTo>
                    <a:lnTo>
                      <a:pt x="630321" y="0"/>
                    </a:lnTo>
                    <a:cubicBezTo>
                      <a:pt x="645806" y="0"/>
                      <a:pt x="660656" y="6151"/>
                      <a:pt x="671605" y="17100"/>
                    </a:cubicBezTo>
                    <a:cubicBezTo>
                      <a:pt x="682554" y="28049"/>
                      <a:pt x="688705" y="42899"/>
                      <a:pt x="688705" y="58384"/>
                    </a:cubicBezTo>
                    <a:lnTo>
                      <a:pt x="688705" y="58384"/>
                    </a:lnTo>
                    <a:cubicBezTo>
                      <a:pt x="688705" y="90628"/>
                      <a:pt x="662566" y="116767"/>
                      <a:pt x="630321" y="116767"/>
                    </a:cubicBezTo>
                    <a:lnTo>
                      <a:pt x="58384" y="116767"/>
                    </a:lnTo>
                    <a:cubicBezTo>
                      <a:pt x="42899" y="116767"/>
                      <a:pt x="28049" y="110616"/>
                      <a:pt x="17100" y="99667"/>
                    </a:cubicBezTo>
                    <a:cubicBezTo>
                      <a:pt x="6151" y="88718"/>
                      <a:pt x="0" y="73868"/>
                      <a:pt x="0" y="58384"/>
                    </a:cubicBezTo>
                    <a:lnTo>
                      <a:pt x="0" y="58384"/>
                    </a:lnTo>
                    <a:cubicBezTo>
                      <a:pt x="0" y="42899"/>
                      <a:pt x="6151" y="28049"/>
                      <a:pt x="17100" y="17100"/>
                    </a:cubicBezTo>
                    <a:cubicBezTo>
                      <a:pt x="28049" y="6151"/>
                      <a:pt x="42899" y="0"/>
                      <a:pt x="58384" y="0"/>
                    </a:cubicBezTo>
                    <a:close/>
                  </a:path>
                </a:pathLst>
              </a:custGeom>
              <a:solidFill>
                <a:srgbClr val="E2CBF6"/>
              </a:solidFill>
            </p:spPr>
          </p:sp>
          <p:sp>
            <p:nvSpPr>
              <p:cNvPr name="TextBox 60" id="60"/>
              <p:cNvSpPr txBox="true"/>
              <p:nvPr/>
            </p:nvSpPr>
            <p:spPr>
              <a:xfrm>
                <a:off x="0" y="-19050"/>
                <a:ext cx="688705" cy="135817"/>
              </a:xfrm>
              <a:prstGeom prst="rect">
                <a:avLst/>
              </a:prstGeom>
            </p:spPr>
            <p:txBody>
              <a:bodyPr anchor="ctr" rtlCol="false" tIns="50800" lIns="50800" bIns="50800" rIns="50800"/>
              <a:lstStyle/>
              <a:p>
                <a:pPr algn="ctr">
                  <a:lnSpc>
                    <a:spcPts val="1841"/>
                  </a:lnSpc>
                </a:pPr>
              </a:p>
            </p:txBody>
          </p:sp>
        </p:grpSp>
        <p:sp>
          <p:nvSpPr>
            <p:cNvPr name="Freeform 61" id="61"/>
            <p:cNvSpPr/>
            <p:nvPr/>
          </p:nvSpPr>
          <p:spPr>
            <a:xfrm flipH="false" flipV="false" rot="0">
              <a:off x="345806" y="747514"/>
              <a:ext cx="386042" cy="498119"/>
            </a:xfrm>
            <a:custGeom>
              <a:avLst/>
              <a:gdLst/>
              <a:ahLst/>
              <a:cxnLst/>
              <a:rect r="r" b="b" t="t" l="l"/>
              <a:pathLst>
                <a:path h="498119" w="386042">
                  <a:moveTo>
                    <a:pt x="0" y="0"/>
                  </a:moveTo>
                  <a:lnTo>
                    <a:pt x="386042" y="0"/>
                  </a:lnTo>
                  <a:lnTo>
                    <a:pt x="386042" y="498119"/>
                  </a:lnTo>
                  <a:lnTo>
                    <a:pt x="0" y="49811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2" id="62"/>
            <p:cNvSpPr/>
            <p:nvPr/>
          </p:nvSpPr>
          <p:spPr>
            <a:xfrm flipH="false" flipV="false" rot="0">
              <a:off x="345806" y="1449372"/>
              <a:ext cx="386042" cy="498119"/>
            </a:xfrm>
            <a:custGeom>
              <a:avLst/>
              <a:gdLst/>
              <a:ahLst/>
              <a:cxnLst/>
              <a:rect r="r" b="b" t="t" l="l"/>
              <a:pathLst>
                <a:path h="498119" w="386042">
                  <a:moveTo>
                    <a:pt x="0" y="0"/>
                  </a:moveTo>
                  <a:lnTo>
                    <a:pt x="386042" y="0"/>
                  </a:lnTo>
                  <a:lnTo>
                    <a:pt x="386042" y="498119"/>
                  </a:lnTo>
                  <a:lnTo>
                    <a:pt x="0" y="49811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3" id="63"/>
            <p:cNvSpPr/>
            <p:nvPr/>
          </p:nvSpPr>
          <p:spPr>
            <a:xfrm flipH="false" flipV="false" rot="0">
              <a:off x="345806" y="45655"/>
              <a:ext cx="386042" cy="498119"/>
            </a:xfrm>
            <a:custGeom>
              <a:avLst/>
              <a:gdLst/>
              <a:ahLst/>
              <a:cxnLst/>
              <a:rect r="r" b="b" t="t" l="l"/>
              <a:pathLst>
                <a:path h="498119" w="386042">
                  <a:moveTo>
                    <a:pt x="0" y="0"/>
                  </a:moveTo>
                  <a:lnTo>
                    <a:pt x="386042" y="0"/>
                  </a:lnTo>
                  <a:lnTo>
                    <a:pt x="386042" y="498120"/>
                  </a:lnTo>
                  <a:lnTo>
                    <a:pt x="0" y="49812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4" id="64"/>
            <p:cNvSpPr/>
            <p:nvPr/>
          </p:nvSpPr>
          <p:spPr>
            <a:xfrm flipH="false" flipV="false" rot="0">
              <a:off x="247779" y="2191671"/>
              <a:ext cx="484069" cy="484069"/>
            </a:xfrm>
            <a:custGeom>
              <a:avLst/>
              <a:gdLst/>
              <a:ahLst/>
              <a:cxnLst/>
              <a:rect r="r" b="b" t="t" l="l"/>
              <a:pathLst>
                <a:path h="484069" w="484069">
                  <a:moveTo>
                    <a:pt x="0" y="0"/>
                  </a:moveTo>
                  <a:lnTo>
                    <a:pt x="484069" y="0"/>
                  </a:lnTo>
                  <a:lnTo>
                    <a:pt x="484069" y="484069"/>
                  </a:lnTo>
                  <a:lnTo>
                    <a:pt x="0" y="48406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65" id="65"/>
            <p:cNvSpPr/>
            <p:nvPr/>
          </p:nvSpPr>
          <p:spPr>
            <a:xfrm flipH="false" flipV="false" rot="0">
              <a:off x="244522" y="2899432"/>
              <a:ext cx="487325" cy="381192"/>
            </a:xfrm>
            <a:custGeom>
              <a:avLst/>
              <a:gdLst/>
              <a:ahLst/>
              <a:cxnLst/>
              <a:rect r="r" b="b" t="t" l="l"/>
              <a:pathLst>
                <a:path h="381192" w="487325">
                  <a:moveTo>
                    <a:pt x="0" y="0"/>
                  </a:moveTo>
                  <a:lnTo>
                    <a:pt x="487326" y="0"/>
                  </a:lnTo>
                  <a:lnTo>
                    <a:pt x="487326" y="381192"/>
                  </a:lnTo>
                  <a:lnTo>
                    <a:pt x="0" y="381192"/>
                  </a:lnTo>
                  <a:lnTo>
                    <a:pt x="0" y="0"/>
                  </a:lnTo>
                  <a:close/>
                </a:path>
              </a:pathLst>
            </a:custGeom>
            <a:blipFill>
              <a:blip r:embed="rId11">
                <a:extLst>
                  <a:ext uri="{96DAC541-7B7A-43D3-8B79-37D633B846F1}">
                    <asvg:svgBlip xmlns:asvg="http://schemas.microsoft.com/office/drawing/2016/SVG/main" r:embed="rId12"/>
                  </a:ext>
                </a:extLst>
              </a:blip>
              <a:stretch>
                <a:fillRect l="0" t="-26708" r="-17293" b="0"/>
              </a:stretch>
            </a:blipFill>
          </p:spPr>
        </p:sp>
        <p:sp>
          <p:nvSpPr>
            <p:cNvPr name="Freeform 66" id="66"/>
            <p:cNvSpPr/>
            <p:nvPr/>
          </p:nvSpPr>
          <p:spPr>
            <a:xfrm flipH="false" flipV="false" rot="0">
              <a:off x="233020" y="3587541"/>
              <a:ext cx="510330" cy="400609"/>
            </a:xfrm>
            <a:custGeom>
              <a:avLst/>
              <a:gdLst/>
              <a:ahLst/>
              <a:cxnLst/>
              <a:rect r="r" b="b" t="t" l="l"/>
              <a:pathLst>
                <a:path h="400609" w="510330">
                  <a:moveTo>
                    <a:pt x="0" y="0"/>
                  </a:moveTo>
                  <a:lnTo>
                    <a:pt x="510330" y="0"/>
                  </a:lnTo>
                  <a:lnTo>
                    <a:pt x="510330" y="400609"/>
                  </a:lnTo>
                  <a:lnTo>
                    <a:pt x="0" y="400609"/>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67" id="67"/>
            <p:cNvSpPr/>
            <p:nvPr/>
          </p:nvSpPr>
          <p:spPr>
            <a:xfrm flipH="false" flipV="false" rot="0">
              <a:off x="191025" y="4291992"/>
              <a:ext cx="540823" cy="386688"/>
            </a:xfrm>
            <a:custGeom>
              <a:avLst/>
              <a:gdLst/>
              <a:ahLst/>
              <a:cxnLst/>
              <a:rect r="r" b="b" t="t" l="l"/>
              <a:pathLst>
                <a:path h="386688" w="540823">
                  <a:moveTo>
                    <a:pt x="0" y="0"/>
                  </a:moveTo>
                  <a:lnTo>
                    <a:pt x="540823" y="0"/>
                  </a:lnTo>
                  <a:lnTo>
                    <a:pt x="540823" y="386689"/>
                  </a:lnTo>
                  <a:lnTo>
                    <a:pt x="0" y="386689"/>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68" id="68"/>
            <p:cNvSpPr/>
            <p:nvPr/>
          </p:nvSpPr>
          <p:spPr>
            <a:xfrm flipH="false" flipV="false" rot="0">
              <a:off x="191025" y="4949152"/>
              <a:ext cx="499109" cy="499109"/>
            </a:xfrm>
            <a:custGeom>
              <a:avLst/>
              <a:gdLst/>
              <a:ahLst/>
              <a:cxnLst/>
              <a:rect r="r" b="b" t="t" l="l"/>
              <a:pathLst>
                <a:path h="499109" w="499109">
                  <a:moveTo>
                    <a:pt x="0" y="0"/>
                  </a:moveTo>
                  <a:lnTo>
                    <a:pt x="499109" y="0"/>
                  </a:lnTo>
                  <a:lnTo>
                    <a:pt x="499109" y="499109"/>
                  </a:lnTo>
                  <a:lnTo>
                    <a:pt x="0" y="499109"/>
                  </a:lnTo>
                  <a:lnTo>
                    <a:pt x="0" y="0"/>
                  </a:lnTo>
                  <a:close/>
                </a:path>
              </a:pathLst>
            </a:custGeom>
            <a:blipFill>
              <a:blip r:embed="rId17"/>
              <a:stretch>
                <a:fillRect l="0" t="0" r="0" b="0"/>
              </a:stretch>
            </a:blipFill>
          </p:spPr>
        </p:sp>
        <p:sp>
          <p:nvSpPr>
            <p:cNvPr name="TextBox 69" id="69"/>
            <p:cNvSpPr txBox="true"/>
            <p:nvPr/>
          </p:nvSpPr>
          <p:spPr>
            <a:xfrm rot="0">
              <a:off x="960545" y="110259"/>
              <a:ext cx="2514600" cy="279472"/>
            </a:xfrm>
            <a:prstGeom prst="rect">
              <a:avLst/>
            </a:prstGeom>
          </p:spPr>
          <p:txBody>
            <a:bodyPr anchor="t" rtlCol="false" tIns="0" lIns="0" bIns="0" rIns="0">
              <a:spAutoFit/>
            </a:bodyPr>
            <a:lstStyle/>
            <a:p>
              <a:pPr algn="l">
                <a:lnSpc>
                  <a:spcPts val="1698"/>
                </a:lnSpc>
              </a:pPr>
              <a:r>
                <a:rPr lang="en-US" sz="1212" b="1">
                  <a:solidFill>
                    <a:srgbClr val="000000"/>
                  </a:solidFill>
                  <a:latin typeface="Times New Roman"/>
                  <a:ea typeface="Times New Roman"/>
                  <a:cs typeface="Times New Roman"/>
                  <a:sym typeface="Times New Roman"/>
                </a:rPr>
                <a:t>Typed text</a:t>
              </a:r>
            </a:p>
          </p:txBody>
        </p:sp>
        <p:sp>
          <p:nvSpPr>
            <p:cNvPr name="TextBox 70" id="70"/>
            <p:cNvSpPr txBox="true"/>
            <p:nvPr/>
          </p:nvSpPr>
          <p:spPr>
            <a:xfrm rot="0">
              <a:off x="960545" y="822190"/>
              <a:ext cx="2514600" cy="279472"/>
            </a:xfrm>
            <a:prstGeom prst="rect">
              <a:avLst/>
            </a:prstGeom>
          </p:spPr>
          <p:txBody>
            <a:bodyPr anchor="t" rtlCol="false" tIns="0" lIns="0" bIns="0" rIns="0">
              <a:spAutoFit/>
            </a:bodyPr>
            <a:lstStyle/>
            <a:p>
              <a:pPr algn="l">
                <a:lnSpc>
                  <a:spcPts val="1698"/>
                </a:lnSpc>
              </a:pPr>
              <a:r>
                <a:rPr lang="en-US" sz="1212" b="1">
                  <a:solidFill>
                    <a:srgbClr val="000000"/>
                  </a:solidFill>
                  <a:latin typeface="Times New Roman"/>
                  <a:ea typeface="Times New Roman"/>
                  <a:cs typeface="Times New Roman"/>
                  <a:sym typeface="Times New Roman"/>
                </a:rPr>
                <a:t>PDF documents</a:t>
              </a:r>
            </a:p>
          </p:txBody>
        </p:sp>
        <p:sp>
          <p:nvSpPr>
            <p:cNvPr name="TextBox 71" id="71"/>
            <p:cNvSpPr txBox="true"/>
            <p:nvPr/>
          </p:nvSpPr>
          <p:spPr>
            <a:xfrm rot="0">
              <a:off x="924088" y="2922441"/>
              <a:ext cx="1126900" cy="279472"/>
            </a:xfrm>
            <a:prstGeom prst="rect">
              <a:avLst/>
            </a:prstGeom>
          </p:spPr>
          <p:txBody>
            <a:bodyPr anchor="t" rtlCol="false" tIns="0" lIns="0" bIns="0" rIns="0">
              <a:spAutoFit/>
            </a:bodyPr>
            <a:lstStyle/>
            <a:p>
              <a:pPr algn="l">
                <a:lnSpc>
                  <a:spcPts val="1698"/>
                </a:lnSpc>
              </a:pPr>
              <a:r>
                <a:rPr lang="en-US" sz="1212" b="1">
                  <a:solidFill>
                    <a:srgbClr val="000000"/>
                  </a:solidFill>
                  <a:latin typeface="Times New Roman"/>
                  <a:ea typeface="Times New Roman"/>
                  <a:cs typeface="Times New Roman"/>
                  <a:sym typeface="Times New Roman"/>
                </a:rPr>
                <a:t>Prompts</a:t>
              </a:r>
            </a:p>
          </p:txBody>
        </p:sp>
        <p:sp>
          <p:nvSpPr>
            <p:cNvPr name="TextBox 72" id="72"/>
            <p:cNvSpPr txBox="true"/>
            <p:nvPr/>
          </p:nvSpPr>
          <p:spPr>
            <a:xfrm rot="0">
              <a:off x="960545" y="1552478"/>
              <a:ext cx="2514600" cy="279472"/>
            </a:xfrm>
            <a:prstGeom prst="rect">
              <a:avLst/>
            </a:prstGeom>
          </p:spPr>
          <p:txBody>
            <a:bodyPr anchor="t" rtlCol="false" tIns="0" lIns="0" bIns="0" rIns="0">
              <a:spAutoFit/>
            </a:bodyPr>
            <a:lstStyle/>
            <a:p>
              <a:pPr algn="l">
                <a:lnSpc>
                  <a:spcPts val="1698"/>
                </a:lnSpc>
              </a:pPr>
              <a:r>
                <a:rPr lang="en-US" sz="1212" b="1">
                  <a:solidFill>
                    <a:srgbClr val="000000"/>
                  </a:solidFill>
                  <a:latin typeface="Times New Roman"/>
                  <a:ea typeface="Times New Roman"/>
                  <a:cs typeface="Times New Roman"/>
                  <a:sym typeface="Times New Roman"/>
                </a:rPr>
                <a:t>Word (DOCX)</a:t>
              </a:r>
            </a:p>
          </p:txBody>
        </p:sp>
        <p:sp>
          <p:nvSpPr>
            <p:cNvPr name="TextBox 73" id="73"/>
            <p:cNvSpPr txBox="true"/>
            <p:nvPr/>
          </p:nvSpPr>
          <p:spPr>
            <a:xfrm rot="0">
              <a:off x="924088" y="2217826"/>
              <a:ext cx="2514600" cy="279472"/>
            </a:xfrm>
            <a:prstGeom prst="rect">
              <a:avLst/>
            </a:prstGeom>
          </p:spPr>
          <p:txBody>
            <a:bodyPr anchor="t" rtlCol="false" tIns="0" lIns="0" bIns="0" rIns="0">
              <a:spAutoFit/>
            </a:bodyPr>
            <a:lstStyle/>
            <a:p>
              <a:pPr algn="l">
                <a:lnSpc>
                  <a:spcPts val="1698"/>
                </a:lnSpc>
              </a:pPr>
              <a:r>
                <a:rPr lang="en-US" sz="1212" b="1">
                  <a:solidFill>
                    <a:srgbClr val="000000"/>
                  </a:solidFill>
                  <a:latin typeface="Times New Roman"/>
                  <a:ea typeface="Times New Roman"/>
                  <a:cs typeface="Times New Roman"/>
                  <a:sym typeface="Times New Roman"/>
                </a:rPr>
                <a:t>TXT · MD · CSV · HTML</a:t>
              </a:r>
            </a:p>
          </p:txBody>
        </p:sp>
        <p:sp>
          <p:nvSpPr>
            <p:cNvPr name="TextBox 74" id="74"/>
            <p:cNvSpPr txBox="true"/>
            <p:nvPr/>
          </p:nvSpPr>
          <p:spPr>
            <a:xfrm rot="0">
              <a:off x="924088" y="3620259"/>
              <a:ext cx="2514600" cy="279472"/>
            </a:xfrm>
            <a:prstGeom prst="rect">
              <a:avLst/>
            </a:prstGeom>
          </p:spPr>
          <p:txBody>
            <a:bodyPr anchor="t" rtlCol="false" tIns="0" lIns="0" bIns="0" rIns="0">
              <a:spAutoFit/>
            </a:bodyPr>
            <a:lstStyle/>
            <a:p>
              <a:pPr algn="l">
                <a:lnSpc>
                  <a:spcPts val="1698"/>
                </a:lnSpc>
              </a:pPr>
              <a:r>
                <a:rPr lang="en-US" sz="1212" b="1">
                  <a:solidFill>
                    <a:srgbClr val="000000"/>
                  </a:solidFill>
                  <a:latin typeface="Times New Roman"/>
                  <a:ea typeface="Times New Roman"/>
                  <a:cs typeface="Times New Roman"/>
                  <a:sym typeface="Times New Roman"/>
                </a:rPr>
                <a:t>Images</a:t>
              </a:r>
            </a:p>
          </p:txBody>
        </p:sp>
        <p:sp>
          <p:nvSpPr>
            <p:cNvPr name="TextBox 75" id="75"/>
            <p:cNvSpPr txBox="true"/>
            <p:nvPr/>
          </p:nvSpPr>
          <p:spPr>
            <a:xfrm rot="0">
              <a:off x="908998" y="4318077"/>
              <a:ext cx="2514600" cy="279472"/>
            </a:xfrm>
            <a:prstGeom prst="rect">
              <a:avLst/>
            </a:prstGeom>
          </p:spPr>
          <p:txBody>
            <a:bodyPr anchor="t" rtlCol="false" tIns="0" lIns="0" bIns="0" rIns="0">
              <a:spAutoFit/>
            </a:bodyPr>
            <a:lstStyle/>
            <a:p>
              <a:pPr algn="l">
                <a:lnSpc>
                  <a:spcPts val="1698"/>
                </a:lnSpc>
              </a:pPr>
              <a:r>
                <a:rPr lang="en-US" sz="1212" b="1">
                  <a:solidFill>
                    <a:srgbClr val="000000"/>
                  </a:solidFill>
                  <a:latin typeface="Times New Roman"/>
                  <a:ea typeface="Times New Roman"/>
                  <a:cs typeface="Times New Roman"/>
                  <a:sym typeface="Times New Roman"/>
                </a:rPr>
                <a:t>Video &amp; audio</a:t>
              </a:r>
            </a:p>
          </p:txBody>
        </p:sp>
        <p:sp>
          <p:nvSpPr>
            <p:cNvPr name="TextBox 76" id="76"/>
            <p:cNvSpPr txBox="true"/>
            <p:nvPr/>
          </p:nvSpPr>
          <p:spPr>
            <a:xfrm rot="0">
              <a:off x="833982" y="5041569"/>
              <a:ext cx="2854025" cy="279472"/>
            </a:xfrm>
            <a:prstGeom prst="rect">
              <a:avLst/>
            </a:prstGeom>
          </p:spPr>
          <p:txBody>
            <a:bodyPr anchor="t" rtlCol="false" tIns="0" lIns="0" bIns="0" rIns="0">
              <a:spAutoFit/>
            </a:bodyPr>
            <a:lstStyle/>
            <a:p>
              <a:pPr algn="l">
                <a:lnSpc>
                  <a:spcPts val="1698"/>
                </a:lnSpc>
              </a:pPr>
              <a:r>
                <a:rPr lang="en-US" sz="1212" b="1">
                  <a:solidFill>
                    <a:srgbClr val="000000"/>
                  </a:solidFill>
                  <a:latin typeface="Times New Roman"/>
                  <a:ea typeface="Times New Roman"/>
                  <a:cs typeface="Times New Roman"/>
                  <a:sym typeface="Times New Roman"/>
                </a:rPr>
                <a:t>Contextual Information</a:t>
              </a:r>
            </a:p>
          </p:txBody>
        </p:sp>
      </p:grpSp>
      <p:grpSp>
        <p:nvGrpSpPr>
          <p:cNvPr name="Group 77" id="77"/>
          <p:cNvGrpSpPr/>
          <p:nvPr/>
        </p:nvGrpSpPr>
        <p:grpSpPr>
          <a:xfrm rot="0">
            <a:off x="11322932" y="1938833"/>
            <a:ext cx="3311732" cy="513539"/>
            <a:chOff x="0" y="0"/>
            <a:chExt cx="872226" cy="135253"/>
          </a:xfrm>
        </p:grpSpPr>
        <p:sp>
          <p:nvSpPr>
            <p:cNvPr name="Freeform 78" id="78"/>
            <p:cNvSpPr/>
            <p:nvPr/>
          </p:nvSpPr>
          <p:spPr>
            <a:xfrm flipH="false" flipV="false" rot="0">
              <a:off x="0" y="0"/>
              <a:ext cx="872226" cy="135253"/>
            </a:xfrm>
            <a:custGeom>
              <a:avLst/>
              <a:gdLst/>
              <a:ahLst/>
              <a:cxnLst/>
              <a:rect r="r" b="b" t="t" l="l"/>
              <a:pathLst>
                <a:path h="135253" w="872226">
                  <a:moveTo>
                    <a:pt x="67627" y="0"/>
                  </a:moveTo>
                  <a:lnTo>
                    <a:pt x="804599" y="0"/>
                  </a:lnTo>
                  <a:cubicBezTo>
                    <a:pt x="841948" y="0"/>
                    <a:pt x="872226" y="30277"/>
                    <a:pt x="872226" y="67627"/>
                  </a:cubicBezTo>
                  <a:lnTo>
                    <a:pt x="872226" y="67627"/>
                  </a:lnTo>
                  <a:cubicBezTo>
                    <a:pt x="872226" y="85562"/>
                    <a:pt x="865101" y="102763"/>
                    <a:pt x="852419" y="115446"/>
                  </a:cubicBezTo>
                  <a:cubicBezTo>
                    <a:pt x="839736" y="128128"/>
                    <a:pt x="822535" y="135253"/>
                    <a:pt x="804599" y="135253"/>
                  </a:cubicBezTo>
                  <a:lnTo>
                    <a:pt x="67627" y="135253"/>
                  </a:lnTo>
                  <a:cubicBezTo>
                    <a:pt x="30277" y="135253"/>
                    <a:pt x="0" y="104976"/>
                    <a:pt x="0" y="67627"/>
                  </a:cubicBezTo>
                  <a:lnTo>
                    <a:pt x="0" y="67627"/>
                  </a:lnTo>
                  <a:cubicBezTo>
                    <a:pt x="0" y="30277"/>
                    <a:pt x="30277" y="0"/>
                    <a:pt x="67627" y="0"/>
                  </a:cubicBezTo>
                  <a:close/>
                </a:path>
              </a:pathLst>
            </a:custGeom>
            <a:solidFill>
              <a:srgbClr val="C2FFE1"/>
            </a:solidFill>
            <a:ln w="9525" cap="rnd">
              <a:solidFill>
                <a:srgbClr val="000000"/>
              </a:solidFill>
              <a:prstDash val="solid"/>
              <a:round/>
            </a:ln>
          </p:spPr>
        </p:sp>
        <p:sp>
          <p:nvSpPr>
            <p:cNvPr name="TextBox 79" id="79"/>
            <p:cNvSpPr txBox="true"/>
            <p:nvPr/>
          </p:nvSpPr>
          <p:spPr>
            <a:xfrm>
              <a:off x="0" y="-19050"/>
              <a:ext cx="872226" cy="154303"/>
            </a:xfrm>
            <a:prstGeom prst="rect">
              <a:avLst/>
            </a:prstGeom>
          </p:spPr>
          <p:txBody>
            <a:bodyPr anchor="ctr" rtlCol="false" tIns="50800" lIns="50800" bIns="50800" rIns="50800"/>
            <a:lstStyle/>
            <a:p>
              <a:pPr algn="ctr">
                <a:lnSpc>
                  <a:spcPts val="1841"/>
                </a:lnSpc>
              </a:pPr>
            </a:p>
          </p:txBody>
        </p:sp>
      </p:grpSp>
      <p:grpSp>
        <p:nvGrpSpPr>
          <p:cNvPr name="Group 80" id="80"/>
          <p:cNvGrpSpPr/>
          <p:nvPr/>
        </p:nvGrpSpPr>
        <p:grpSpPr>
          <a:xfrm rot="0">
            <a:off x="11322932" y="2536589"/>
            <a:ext cx="3311732" cy="513539"/>
            <a:chOff x="0" y="0"/>
            <a:chExt cx="872226" cy="135253"/>
          </a:xfrm>
        </p:grpSpPr>
        <p:sp>
          <p:nvSpPr>
            <p:cNvPr name="Freeform 81" id="81"/>
            <p:cNvSpPr/>
            <p:nvPr/>
          </p:nvSpPr>
          <p:spPr>
            <a:xfrm flipH="false" flipV="false" rot="0">
              <a:off x="0" y="0"/>
              <a:ext cx="872226" cy="135253"/>
            </a:xfrm>
            <a:custGeom>
              <a:avLst/>
              <a:gdLst/>
              <a:ahLst/>
              <a:cxnLst/>
              <a:rect r="r" b="b" t="t" l="l"/>
              <a:pathLst>
                <a:path h="135253" w="872226">
                  <a:moveTo>
                    <a:pt x="67627" y="0"/>
                  </a:moveTo>
                  <a:lnTo>
                    <a:pt x="804599" y="0"/>
                  </a:lnTo>
                  <a:cubicBezTo>
                    <a:pt x="841948" y="0"/>
                    <a:pt x="872226" y="30277"/>
                    <a:pt x="872226" y="67627"/>
                  </a:cubicBezTo>
                  <a:lnTo>
                    <a:pt x="872226" y="67627"/>
                  </a:lnTo>
                  <a:cubicBezTo>
                    <a:pt x="872226" y="85562"/>
                    <a:pt x="865101" y="102763"/>
                    <a:pt x="852419" y="115446"/>
                  </a:cubicBezTo>
                  <a:cubicBezTo>
                    <a:pt x="839736" y="128128"/>
                    <a:pt x="822535" y="135253"/>
                    <a:pt x="804599" y="135253"/>
                  </a:cubicBezTo>
                  <a:lnTo>
                    <a:pt x="67627" y="135253"/>
                  </a:lnTo>
                  <a:cubicBezTo>
                    <a:pt x="30277" y="135253"/>
                    <a:pt x="0" y="104976"/>
                    <a:pt x="0" y="67627"/>
                  </a:cubicBezTo>
                  <a:lnTo>
                    <a:pt x="0" y="67627"/>
                  </a:lnTo>
                  <a:cubicBezTo>
                    <a:pt x="0" y="30277"/>
                    <a:pt x="30277" y="0"/>
                    <a:pt x="67627" y="0"/>
                  </a:cubicBezTo>
                  <a:close/>
                </a:path>
              </a:pathLst>
            </a:custGeom>
            <a:solidFill>
              <a:srgbClr val="C2FFE1"/>
            </a:solidFill>
            <a:ln w="9525" cap="rnd">
              <a:solidFill>
                <a:srgbClr val="000000"/>
              </a:solidFill>
              <a:prstDash val="solid"/>
              <a:round/>
            </a:ln>
          </p:spPr>
        </p:sp>
        <p:sp>
          <p:nvSpPr>
            <p:cNvPr name="TextBox 82" id="82"/>
            <p:cNvSpPr txBox="true"/>
            <p:nvPr/>
          </p:nvSpPr>
          <p:spPr>
            <a:xfrm>
              <a:off x="0" y="-19050"/>
              <a:ext cx="872226" cy="154303"/>
            </a:xfrm>
            <a:prstGeom prst="rect">
              <a:avLst/>
            </a:prstGeom>
          </p:spPr>
          <p:txBody>
            <a:bodyPr anchor="ctr" rtlCol="false" tIns="50800" lIns="50800" bIns="50800" rIns="50800"/>
            <a:lstStyle/>
            <a:p>
              <a:pPr algn="ctr">
                <a:lnSpc>
                  <a:spcPts val="1841"/>
                </a:lnSpc>
              </a:pPr>
            </a:p>
          </p:txBody>
        </p:sp>
      </p:grpSp>
      <p:grpSp>
        <p:nvGrpSpPr>
          <p:cNvPr name="Group 83" id="83"/>
          <p:cNvGrpSpPr/>
          <p:nvPr/>
        </p:nvGrpSpPr>
        <p:grpSpPr>
          <a:xfrm rot="0">
            <a:off x="11322932" y="3134345"/>
            <a:ext cx="3311732" cy="513539"/>
            <a:chOff x="0" y="0"/>
            <a:chExt cx="872226" cy="135253"/>
          </a:xfrm>
        </p:grpSpPr>
        <p:sp>
          <p:nvSpPr>
            <p:cNvPr name="Freeform 84" id="84"/>
            <p:cNvSpPr/>
            <p:nvPr/>
          </p:nvSpPr>
          <p:spPr>
            <a:xfrm flipH="false" flipV="false" rot="0">
              <a:off x="0" y="0"/>
              <a:ext cx="872226" cy="135253"/>
            </a:xfrm>
            <a:custGeom>
              <a:avLst/>
              <a:gdLst/>
              <a:ahLst/>
              <a:cxnLst/>
              <a:rect r="r" b="b" t="t" l="l"/>
              <a:pathLst>
                <a:path h="135253" w="872226">
                  <a:moveTo>
                    <a:pt x="67627" y="0"/>
                  </a:moveTo>
                  <a:lnTo>
                    <a:pt x="804599" y="0"/>
                  </a:lnTo>
                  <a:cubicBezTo>
                    <a:pt x="841948" y="0"/>
                    <a:pt x="872226" y="30277"/>
                    <a:pt x="872226" y="67627"/>
                  </a:cubicBezTo>
                  <a:lnTo>
                    <a:pt x="872226" y="67627"/>
                  </a:lnTo>
                  <a:cubicBezTo>
                    <a:pt x="872226" y="85562"/>
                    <a:pt x="865101" y="102763"/>
                    <a:pt x="852419" y="115446"/>
                  </a:cubicBezTo>
                  <a:cubicBezTo>
                    <a:pt x="839736" y="128128"/>
                    <a:pt x="822535" y="135253"/>
                    <a:pt x="804599" y="135253"/>
                  </a:cubicBezTo>
                  <a:lnTo>
                    <a:pt x="67627" y="135253"/>
                  </a:lnTo>
                  <a:cubicBezTo>
                    <a:pt x="30277" y="135253"/>
                    <a:pt x="0" y="104976"/>
                    <a:pt x="0" y="67627"/>
                  </a:cubicBezTo>
                  <a:lnTo>
                    <a:pt x="0" y="67627"/>
                  </a:lnTo>
                  <a:cubicBezTo>
                    <a:pt x="0" y="30277"/>
                    <a:pt x="30277" y="0"/>
                    <a:pt x="67627" y="0"/>
                  </a:cubicBezTo>
                  <a:close/>
                </a:path>
              </a:pathLst>
            </a:custGeom>
            <a:solidFill>
              <a:srgbClr val="C2FFE1"/>
            </a:solidFill>
            <a:ln w="9525" cap="rnd">
              <a:solidFill>
                <a:srgbClr val="000000"/>
              </a:solidFill>
              <a:prstDash val="solid"/>
              <a:round/>
            </a:ln>
          </p:spPr>
        </p:sp>
        <p:sp>
          <p:nvSpPr>
            <p:cNvPr name="TextBox 85" id="85"/>
            <p:cNvSpPr txBox="true"/>
            <p:nvPr/>
          </p:nvSpPr>
          <p:spPr>
            <a:xfrm>
              <a:off x="0" y="-19050"/>
              <a:ext cx="872226" cy="154303"/>
            </a:xfrm>
            <a:prstGeom prst="rect">
              <a:avLst/>
            </a:prstGeom>
          </p:spPr>
          <p:txBody>
            <a:bodyPr anchor="ctr" rtlCol="false" tIns="50800" lIns="50800" bIns="50800" rIns="50800"/>
            <a:lstStyle/>
            <a:p>
              <a:pPr algn="ctr">
                <a:lnSpc>
                  <a:spcPts val="1841"/>
                </a:lnSpc>
              </a:pPr>
            </a:p>
          </p:txBody>
        </p:sp>
      </p:grpSp>
      <p:grpSp>
        <p:nvGrpSpPr>
          <p:cNvPr name="Group 86" id="86"/>
          <p:cNvGrpSpPr/>
          <p:nvPr/>
        </p:nvGrpSpPr>
        <p:grpSpPr>
          <a:xfrm rot="0">
            <a:off x="11322932" y="3732100"/>
            <a:ext cx="3311732" cy="513539"/>
            <a:chOff x="0" y="0"/>
            <a:chExt cx="872226" cy="135253"/>
          </a:xfrm>
        </p:grpSpPr>
        <p:sp>
          <p:nvSpPr>
            <p:cNvPr name="Freeform 87" id="87"/>
            <p:cNvSpPr/>
            <p:nvPr/>
          </p:nvSpPr>
          <p:spPr>
            <a:xfrm flipH="false" flipV="false" rot="0">
              <a:off x="0" y="0"/>
              <a:ext cx="872226" cy="135253"/>
            </a:xfrm>
            <a:custGeom>
              <a:avLst/>
              <a:gdLst/>
              <a:ahLst/>
              <a:cxnLst/>
              <a:rect r="r" b="b" t="t" l="l"/>
              <a:pathLst>
                <a:path h="135253" w="872226">
                  <a:moveTo>
                    <a:pt x="67627" y="0"/>
                  </a:moveTo>
                  <a:lnTo>
                    <a:pt x="804599" y="0"/>
                  </a:lnTo>
                  <a:cubicBezTo>
                    <a:pt x="841948" y="0"/>
                    <a:pt x="872226" y="30277"/>
                    <a:pt x="872226" y="67627"/>
                  </a:cubicBezTo>
                  <a:lnTo>
                    <a:pt x="872226" y="67627"/>
                  </a:lnTo>
                  <a:cubicBezTo>
                    <a:pt x="872226" y="85562"/>
                    <a:pt x="865101" y="102763"/>
                    <a:pt x="852419" y="115446"/>
                  </a:cubicBezTo>
                  <a:cubicBezTo>
                    <a:pt x="839736" y="128128"/>
                    <a:pt x="822535" y="135253"/>
                    <a:pt x="804599" y="135253"/>
                  </a:cubicBezTo>
                  <a:lnTo>
                    <a:pt x="67627" y="135253"/>
                  </a:lnTo>
                  <a:cubicBezTo>
                    <a:pt x="30277" y="135253"/>
                    <a:pt x="0" y="104976"/>
                    <a:pt x="0" y="67627"/>
                  </a:cubicBezTo>
                  <a:lnTo>
                    <a:pt x="0" y="67627"/>
                  </a:lnTo>
                  <a:cubicBezTo>
                    <a:pt x="0" y="30277"/>
                    <a:pt x="30277" y="0"/>
                    <a:pt x="67627" y="0"/>
                  </a:cubicBezTo>
                  <a:close/>
                </a:path>
              </a:pathLst>
            </a:custGeom>
            <a:solidFill>
              <a:srgbClr val="C2FFE1"/>
            </a:solidFill>
            <a:ln w="9525" cap="rnd">
              <a:solidFill>
                <a:srgbClr val="000000"/>
              </a:solidFill>
              <a:prstDash val="solid"/>
              <a:round/>
            </a:ln>
          </p:spPr>
        </p:sp>
        <p:sp>
          <p:nvSpPr>
            <p:cNvPr name="TextBox 88" id="88"/>
            <p:cNvSpPr txBox="true"/>
            <p:nvPr/>
          </p:nvSpPr>
          <p:spPr>
            <a:xfrm>
              <a:off x="0" y="-19050"/>
              <a:ext cx="872226" cy="154303"/>
            </a:xfrm>
            <a:prstGeom prst="rect">
              <a:avLst/>
            </a:prstGeom>
          </p:spPr>
          <p:txBody>
            <a:bodyPr anchor="ctr" rtlCol="false" tIns="50800" lIns="50800" bIns="50800" rIns="50800"/>
            <a:lstStyle/>
            <a:p>
              <a:pPr algn="ctr">
                <a:lnSpc>
                  <a:spcPts val="1841"/>
                </a:lnSpc>
              </a:pPr>
            </a:p>
          </p:txBody>
        </p:sp>
      </p:grpSp>
      <p:grpSp>
        <p:nvGrpSpPr>
          <p:cNvPr name="Group 89" id="89"/>
          <p:cNvGrpSpPr/>
          <p:nvPr/>
        </p:nvGrpSpPr>
        <p:grpSpPr>
          <a:xfrm rot="0">
            <a:off x="11322932" y="4329856"/>
            <a:ext cx="3311732" cy="513539"/>
            <a:chOff x="0" y="0"/>
            <a:chExt cx="872226" cy="135253"/>
          </a:xfrm>
        </p:grpSpPr>
        <p:sp>
          <p:nvSpPr>
            <p:cNvPr name="Freeform 90" id="90"/>
            <p:cNvSpPr/>
            <p:nvPr/>
          </p:nvSpPr>
          <p:spPr>
            <a:xfrm flipH="false" flipV="false" rot="0">
              <a:off x="0" y="0"/>
              <a:ext cx="872226" cy="135253"/>
            </a:xfrm>
            <a:custGeom>
              <a:avLst/>
              <a:gdLst/>
              <a:ahLst/>
              <a:cxnLst/>
              <a:rect r="r" b="b" t="t" l="l"/>
              <a:pathLst>
                <a:path h="135253" w="872226">
                  <a:moveTo>
                    <a:pt x="67627" y="0"/>
                  </a:moveTo>
                  <a:lnTo>
                    <a:pt x="804599" y="0"/>
                  </a:lnTo>
                  <a:cubicBezTo>
                    <a:pt x="841948" y="0"/>
                    <a:pt x="872226" y="30277"/>
                    <a:pt x="872226" y="67627"/>
                  </a:cubicBezTo>
                  <a:lnTo>
                    <a:pt x="872226" y="67627"/>
                  </a:lnTo>
                  <a:cubicBezTo>
                    <a:pt x="872226" y="85562"/>
                    <a:pt x="865101" y="102763"/>
                    <a:pt x="852419" y="115446"/>
                  </a:cubicBezTo>
                  <a:cubicBezTo>
                    <a:pt x="839736" y="128128"/>
                    <a:pt x="822535" y="135253"/>
                    <a:pt x="804599" y="135253"/>
                  </a:cubicBezTo>
                  <a:lnTo>
                    <a:pt x="67627" y="135253"/>
                  </a:lnTo>
                  <a:cubicBezTo>
                    <a:pt x="30277" y="135253"/>
                    <a:pt x="0" y="104976"/>
                    <a:pt x="0" y="67627"/>
                  </a:cubicBezTo>
                  <a:lnTo>
                    <a:pt x="0" y="67627"/>
                  </a:lnTo>
                  <a:cubicBezTo>
                    <a:pt x="0" y="30277"/>
                    <a:pt x="30277" y="0"/>
                    <a:pt x="67627" y="0"/>
                  </a:cubicBezTo>
                  <a:close/>
                </a:path>
              </a:pathLst>
            </a:custGeom>
            <a:solidFill>
              <a:srgbClr val="C2FFE1"/>
            </a:solidFill>
            <a:ln w="9525" cap="rnd">
              <a:solidFill>
                <a:srgbClr val="000000"/>
              </a:solidFill>
              <a:prstDash val="solid"/>
              <a:round/>
            </a:ln>
          </p:spPr>
        </p:sp>
        <p:sp>
          <p:nvSpPr>
            <p:cNvPr name="TextBox 91" id="91"/>
            <p:cNvSpPr txBox="true"/>
            <p:nvPr/>
          </p:nvSpPr>
          <p:spPr>
            <a:xfrm>
              <a:off x="0" y="-19050"/>
              <a:ext cx="872226" cy="154303"/>
            </a:xfrm>
            <a:prstGeom prst="rect">
              <a:avLst/>
            </a:prstGeom>
          </p:spPr>
          <p:txBody>
            <a:bodyPr anchor="ctr" rtlCol="false" tIns="50800" lIns="50800" bIns="50800" rIns="50800"/>
            <a:lstStyle/>
            <a:p>
              <a:pPr algn="ctr">
                <a:lnSpc>
                  <a:spcPts val="1841"/>
                </a:lnSpc>
              </a:pPr>
            </a:p>
          </p:txBody>
        </p:sp>
      </p:grpSp>
      <p:grpSp>
        <p:nvGrpSpPr>
          <p:cNvPr name="Group 92" id="92"/>
          <p:cNvGrpSpPr/>
          <p:nvPr/>
        </p:nvGrpSpPr>
        <p:grpSpPr>
          <a:xfrm rot="0">
            <a:off x="11322932" y="4927612"/>
            <a:ext cx="3311732" cy="513539"/>
            <a:chOff x="0" y="0"/>
            <a:chExt cx="872226" cy="135253"/>
          </a:xfrm>
        </p:grpSpPr>
        <p:sp>
          <p:nvSpPr>
            <p:cNvPr name="Freeform 93" id="93"/>
            <p:cNvSpPr/>
            <p:nvPr/>
          </p:nvSpPr>
          <p:spPr>
            <a:xfrm flipH="false" flipV="false" rot="0">
              <a:off x="0" y="0"/>
              <a:ext cx="872226" cy="135253"/>
            </a:xfrm>
            <a:custGeom>
              <a:avLst/>
              <a:gdLst/>
              <a:ahLst/>
              <a:cxnLst/>
              <a:rect r="r" b="b" t="t" l="l"/>
              <a:pathLst>
                <a:path h="135253" w="872226">
                  <a:moveTo>
                    <a:pt x="67627" y="0"/>
                  </a:moveTo>
                  <a:lnTo>
                    <a:pt x="804599" y="0"/>
                  </a:lnTo>
                  <a:cubicBezTo>
                    <a:pt x="841948" y="0"/>
                    <a:pt x="872226" y="30277"/>
                    <a:pt x="872226" y="67627"/>
                  </a:cubicBezTo>
                  <a:lnTo>
                    <a:pt x="872226" y="67627"/>
                  </a:lnTo>
                  <a:cubicBezTo>
                    <a:pt x="872226" y="85562"/>
                    <a:pt x="865101" y="102763"/>
                    <a:pt x="852419" y="115446"/>
                  </a:cubicBezTo>
                  <a:cubicBezTo>
                    <a:pt x="839736" y="128128"/>
                    <a:pt x="822535" y="135253"/>
                    <a:pt x="804599" y="135253"/>
                  </a:cubicBezTo>
                  <a:lnTo>
                    <a:pt x="67627" y="135253"/>
                  </a:lnTo>
                  <a:cubicBezTo>
                    <a:pt x="30277" y="135253"/>
                    <a:pt x="0" y="104976"/>
                    <a:pt x="0" y="67627"/>
                  </a:cubicBezTo>
                  <a:lnTo>
                    <a:pt x="0" y="67627"/>
                  </a:lnTo>
                  <a:cubicBezTo>
                    <a:pt x="0" y="30277"/>
                    <a:pt x="30277" y="0"/>
                    <a:pt x="67627" y="0"/>
                  </a:cubicBezTo>
                  <a:close/>
                </a:path>
              </a:pathLst>
            </a:custGeom>
            <a:solidFill>
              <a:srgbClr val="C2FFE1"/>
            </a:solidFill>
            <a:ln w="9525" cap="rnd">
              <a:solidFill>
                <a:srgbClr val="000000"/>
              </a:solidFill>
              <a:prstDash val="solid"/>
              <a:round/>
            </a:ln>
          </p:spPr>
        </p:sp>
        <p:sp>
          <p:nvSpPr>
            <p:cNvPr name="TextBox 94" id="94"/>
            <p:cNvSpPr txBox="true"/>
            <p:nvPr/>
          </p:nvSpPr>
          <p:spPr>
            <a:xfrm>
              <a:off x="0" y="-19050"/>
              <a:ext cx="872226" cy="154303"/>
            </a:xfrm>
            <a:prstGeom prst="rect">
              <a:avLst/>
            </a:prstGeom>
          </p:spPr>
          <p:txBody>
            <a:bodyPr anchor="ctr" rtlCol="false" tIns="50800" lIns="50800" bIns="50800" rIns="50800"/>
            <a:lstStyle/>
            <a:p>
              <a:pPr algn="ctr">
                <a:lnSpc>
                  <a:spcPts val="1841"/>
                </a:lnSpc>
              </a:pPr>
            </a:p>
          </p:txBody>
        </p:sp>
      </p:grpSp>
      <p:grpSp>
        <p:nvGrpSpPr>
          <p:cNvPr name="Group 95" id="95"/>
          <p:cNvGrpSpPr/>
          <p:nvPr/>
        </p:nvGrpSpPr>
        <p:grpSpPr>
          <a:xfrm rot="0">
            <a:off x="11322932" y="5525368"/>
            <a:ext cx="3311732" cy="513539"/>
            <a:chOff x="0" y="0"/>
            <a:chExt cx="872226" cy="135253"/>
          </a:xfrm>
        </p:grpSpPr>
        <p:sp>
          <p:nvSpPr>
            <p:cNvPr name="Freeform 96" id="96"/>
            <p:cNvSpPr/>
            <p:nvPr/>
          </p:nvSpPr>
          <p:spPr>
            <a:xfrm flipH="false" flipV="false" rot="0">
              <a:off x="0" y="0"/>
              <a:ext cx="872226" cy="135253"/>
            </a:xfrm>
            <a:custGeom>
              <a:avLst/>
              <a:gdLst/>
              <a:ahLst/>
              <a:cxnLst/>
              <a:rect r="r" b="b" t="t" l="l"/>
              <a:pathLst>
                <a:path h="135253" w="872226">
                  <a:moveTo>
                    <a:pt x="67627" y="0"/>
                  </a:moveTo>
                  <a:lnTo>
                    <a:pt x="804599" y="0"/>
                  </a:lnTo>
                  <a:cubicBezTo>
                    <a:pt x="841948" y="0"/>
                    <a:pt x="872226" y="30277"/>
                    <a:pt x="872226" y="67627"/>
                  </a:cubicBezTo>
                  <a:lnTo>
                    <a:pt x="872226" y="67627"/>
                  </a:lnTo>
                  <a:cubicBezTo>
                    <a:pt x="872226" y="85562"/>
                    <a:pt x="865101" y="102763"/>
                    <a:pt x="852419" y="115446"/>
                  </a:cubicBezTo>
                  <a:cubicBezTo>
                    <a:pt x="839736" y="128128"/>
                    <a:pt x="822535" y="135253"/>
                    <a:pt x="804599" y="135253"/>
                  </a:cubicBezTo>
                  <a:lnTo>
                    <a:pt x="67627" y="135253"/>
                  </a:lnTo>
                  <a:cubicBezTo>
                    <a:pt x="30277" y="135253"/>
                    <a:pt x="0" y="104976"/>
                    <a:pt x="0" y="67627"/>
                  </a:cubicBezTo>
                  <a:lnTo>
                    <a:pt x="0" y="67627"/>
                  </a:lnTo>
                  <a:cubicBezTo>
                    <a:pt x="0" y="30277"/>
                    <a:pt x="30277" y="0"/>
                    <a:pt x="67627" y="0"/>
                  </a:cubicBezTo>
                  <a:close/>
                </a:path>
              </a:pathLst>
            </a:custGeom>
            <a:solidFill>
              <a:srgbClr val="C2FFE1"/>
            </a:solidFill>
            <a:ln w="9525" cap="rnd">
              <a:solidFill>
                <a:srgbClr val="000000"/>
              </a:solidFill>
              <a:prstDash val="solid"/>
              <a:round/>
            </a:ln>
          </p:spPr>
        </p:sp>
        <p:sp>
          <p:nvSpPr>
            <p:cNvPr name="TextBox 97" id="97"/>
            <p:cNvSpPr txBox="true"/>
            <p:nvPr/>
          </p:nvSpPr>
          <p:spPr>
            <a:xfrm>
              <a:off x="0" y="-19050"/>
              <a:ext cx="872226" cy="154303"/>
            </a:xfrm>
            <a:prstGeom prst="rect">
              <a:avLst/>
            </a:prstGeom>
          </p:spPr>
          <p:txBody>
            <a:bodyPr anchor="ctr" rtlCol="false" tIns="50800" lIns="50800" bIns="50800" rIns="50800"/>
            <a:lstStyle/>
            <a:p>
              <a:pPr algn="ctr">
                <a:lnSpc>
                  <a:spcPts val="1841"/>
                </a:lnSpc>
              </a:pPr>
            </a:p>
          </p:txBody>
        </p:sp>
      </p:grpSp>
      <p:sp>
        <p:nvSpPr>
          <p:cNvPr name="Freeform 98" id="98"/>
          <p:cNvSpPr/>
          <p:nvPr/>
        </p:nvSpPr>
        <p:spPr>
          <a:xfrm flipH="false" flipV="false" rot="0">
            <a:off x="11503794" y="2000102"/>
            <a:ext cx="537185" cy="384087"/>
          </a:xfrm>
          <a:custGeom>
            <a:avLst/>
            <a:gdLst/>
            <a:ahLst/>
            <a:cxnLst/>
            <a:rect r="r" b="b" t="t" l="l"/>
            <a:pathLst>
              <a:path h="384087" w="537185">
                <a:moveTo>
                  <a:pt x="0" y="0"/>
                </a:moveTo>
                <a:lnTo>
                  <a:pt x="537185" y="0"/>
                </a:lnTo>
                <a:lnTo>
                  <a:pt x="537185" y="384087"/>
                </a:lnTo>
                <a:lnTo>
                  <a:pt x="0" y="384087"/>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99" id="99"/>
          <p:cNvSpPr/>
          <p:nvPr/>
        </p:nvSpPr>
        <p:spPr>
          <a:xfrm flipH="false" flipV="false" rot="0">
            <a:off x="11490175" y="2582554"/>
            <a:ext cx="493109" cy="421608"/>
          </a:xfrm>
          <a:custGeom>
            <a:avLst/>
            <a:gdLst/>
            <a:ahLst/>
            <a:cxnLst/>
            <a:rect r="r" b="b" t="t" l="l"/>
            <a:pathLst>
              <a:path h="421608" w="493109">
                <a:moveTo>
                  <a:pt x="0" y="0"/>
                </a:moveTo>
                <a:lnTo>
                  <a:pt x="493109" y="0"/>
                </a:lnTo>
                <a:lnTo>
                  <a:pt x="493109" y="421608"/>
                </a:lnTo>
                <a:lnTo>
                  <a:pt x="0" y="421608"/>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00" id="100"/>
          <p:cNvSpPr/>
          <p:nvPr/>
        </p:nvSpPr>
        <p:spPr>
          <a:xfrm flipH="false" flipV="false" rot="0">
            <a:off x="11490175" y="3211072"/>
            <a:ext cx="379924" cy="387678"/>
          </a:xfrm>
          <a:custGeom>
            <a:avLst/>
            <a:gdLst/>
            <a:ahLst/>
            <a:cxnLst/>
            <a:rect r="r" b="b" t="t" l="l"/>
            <a:pathLst>
              <a:path h="387678" w="379924">
                <a:moveTo>
                  <a:pt x="0" y="0"/>
                </a:moveTo>
                <a:lnTo>
                  <a:pt x="379924" y="0"/>
                </a:lnTo>
                <a:lnTo>
                  <a:pt x="379924" y="387678"/>
                </a:lnTo>
                <a:lnTo>
                  <a:pt x="0" y="387678"/>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101" id="101"/>
          <p:cNvSpPr/>
          <p:nvPr/>
        </p:nvSpPr>
        <p:spPr>
          <a:xfrm flipH="false" flipV="false" rot="0">
            <a:off x="11490175" y="3782400"/>
            <a:ext cx="320932" cy="414106"/>
          </a:xfrm>
          <a:custGeom>
            <a:avLst/>
            <a:gdLst/>
            <a:ahLst/>
            <a:cxnLst/>
            <a:rect r="r" b="b" t="t" l="l"/>
            <a:pathLst>
              <a:path h="414106" w="320932">
                <a:moveTo>
                  <a:pt x="0" y="0"/>
                </a:moveTo>
                <a:lnTo>
                  <a:pt x="320932" y="0"/>
                </a:lnTo>
                <a:lnTo>
                  <a:pt x="320932" y="414106"/>
                </a:lnTo>
                <a:lnTo>
                  <a:pt x="0" y="41410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2" id="102"/>
          <p:cNvSpPr/>
          <p:nvPr/>
        </p:nvSpPr>
        <p:spPr>
          <a:xfrm flipH="false" flipV="false" rot="0">
            <a:off x="11490175" y="4394696"/>
            <a:ext cx="463935" cy="364189"/>
          </a:xfrm>
          <a:custGeom>
            <a:avLst/>
            <a:gdLst/>
            <a:ahLst/>
            <a:cxnLst/>
            <a:rect r="r" b="b" t="t" l="l"/>
            <a:pathLst>
              <a:path h="364189" w="463935">
                <a:moveTo>
                  <a:pt x="0" y="0"/>
                </a:moveTo>
                <a:lnTo>
                  <a:pt x="463935" y="0"/>
                </a:lnTo>
                <a:lnTo>
                  <a:pt x="463935" y="364189"/>
                </a:lnTo>
                <a:lnTo>
                  <a:pt x="0" y="364189"/>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03" id="103"/>
          <p:cNvSpPr/>
          <p:nvPr/>
        </p:nvSpPr>
        <p:spPr>
          <a:xfrm flipH="false" flipV="false" rot="0">
            <a:off x="11490175" y="4995795"/>
            <a:ext cx="306087" cy="394951"/>
          </a:xfrm>
          <a:custGeom>
            <a:avLst/>
            <a:gdLst/>
            <a:ahLst/>
            <a:cxnLst/>
            <a:rect r="r" b="b" t="t" l="l"/>
            <a:pathLst>
              <a:path h="394951" w="306087">
                <a:moveTo>
                  <a:pt x="0" y="0"/>
                </a:moveTo>
                <a:lnTo>
                  <a:pt x="306087" y="0"/>
                </a:lnTo>
                <a:lnTo>
                  <a:pt x="306087" y="394951"/>
                </a:lnTo>
                <a:lnTo>
                  <a:pt x="0" y="39495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4" id="104"/>
          <p:cNvSpPr/>
          <p:nvPr/>
        </p:nvSpPr>
        <p:spPr>
          <a:xfrm flipH="false" flipV="false" rot="0">
            <a:off x="11503794" y="5590901"/>
            <a:ext cx="426781" cy="426781"/>
          </a:xfrm>
          <a:custGeom>
            <a:avLst/>
            <a:gdLst/>
            <a:ahLst/>
            <a:cxnLst/>
            <a:rect r="r" b="b" t="t" l="l"/>
            <a:pathLst>
              <a:path h="426781" w="426781">
                <a:moveTo>
                  <a:pt x="0" y="0"/>
                </a:moveTo>
                <a:lnTo>
                  <a:pt x="426781" y="0"/>
                </a:lnTo>
                <a:lnTo>
                  <a:pt x="426781" y="426782"/>
                </a:lnTo>
                <a:lnTo>
                  <a:pt x="0" y="426782"/>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grpSp>
        <p:nvGrpSpPr>
          <p:cNvPr name="Group 107" id="107"/>
          <p:cNvGrpSpPr/>
          <p:nvPr/>
        </p:nvGrpSpPr>
        <p:grpSpPr>
          <a:xfrm rot="0">
            <a:off x="0" y="9816875"/>
            <a:ext cx="18288000" cy="470125"/>
            <a:chOff x="0" y="0"/>
            <a:chExt cx="24384000" cy="626834"/>
          </a:xfrm>
        </p:grpSpPr>
        <p:sp>
          <p:nvSpPr>
            <p:cNvPr name="Freeform 108" id="108"/>
            <p:cNvSpPr/>
            <p:nvPr/>
          </p:nvSpPr>
          <p:spPr>
            <a:xfrm flipH="false" flipV="false" rot="0">
              <a:off x="0" y="0"/>
              <a:ext cx="24384000" cy="626834"/>
            </a:xfrm>
            <a:custGeom>
              <a:avLst/>
              <a:gdLst/>
              <a:ahLst/>
              <a:cxnLst/>
              <a:rect r="r" b="b" t="t" l="l"/>
              <a:pathLst>
                <a:path h="626834" w="24384000">
                  <a:moveTo>
                    <a:pt x="0" y="0"/>
                  </a:moveTo>
                  <a:lnTo>
                    <a:pt x="24384000" y="0"/>
                  </a:lnTo>
                  <a:lnTo>
                    <a:pt x="24384000" y="626834"/>
                  </a:lnTo>
                  <a:lnTo>
                    <a:pt x="0" y="626834"/>
                  </a:lnTo>
                  <a:close/>
                </a:path>
              </a:pathLst>
            </a:custGeom>
            <a:solidFill>
              <a:srgbClr val="0070C0"/>
            </a:solidFill>
          </p:spPr>
        </p:sp>
      </p:grpSp>
      <p:grpSp>
        <p:nvGrpSpPr>
          <p:cNvPr name="Group 109" id="109"/>
          <p:cNvGrpSpPr/>
          <p:nvPr/>
        </p:nvGrpSpPr>
        <p:grpSpPr>
          <a:xfrm rot="0">
            <a:off x="13106400" y="9881387"/>
            <a:ext cx="4267200" cy="341100"/>
            <a:chOff x="0" y="0"/>
            <a:chExt cx="5689600" cy="454800"/>
          </a:xfrm>
        </p:grpSpPr>
        <p:sp>
          <p:nvSpPr>
            <p:cNvPr name="Freeform 110" id="110"/>
            <p:cNvSpPr/>
            <p:nvPr/>
          </p:nvSpPr>
          <p:spPr>
            <a:xfrm flipH="false" flipV="false" rot="0">
              <a:off x="0" y="0"/>
              <a:ext cx="5689600" cy="454800"/>
            </a:xfrm>
            <a:custGeom>
              <a:avLst/>
              <a:gdLst/>
              <a:ahLst/>
              <a:cxnLst/>
              <a:rect r="r" b="b" t="t" l="l"/>
              <a:pathLst>
                <a:path h="454800" w="5689600">
                  <a:moveTo>
                    <a:pt x="0" y="0"/>
                  </a:moveTo>
                  <a:lnTo>
                    <a:pt x="5689600" y="0"/>
                  </a:lnTo>
                  <a:lnTo>
                    <a:pt x="5689600" y="454800"/>
                  </a:lnTo>
                  <a:lnTo>
                    <a:pt x="0" y="454800"/>
                  </a:lnTo>
                  <a:close/>
                </a:path>
              </a:pathLst>
            </a:custGeom>
            <a:blipFill>
              <a:blip r:embed="rId3">
                <a:alphaModFix amt="0"/>
              </a:blip>
              <a:stretch>
                <a:fillRect l="0" t="-163477" r="0" b="-224042"/>
              </a:stretch>
            </a:blipFill>
          </p:spPr>
        </p:sp>
        <p:sp>
          <p:nvSpPr>
            <p:cNvPr name="TextBox 111" id="111"/>
            <p:cNvSpPr txBox="true"/>
            <p:nvPr/>
          </p:nvSpPr>
          <p:spPr>
            <a:xfrm>
              <a:off x="0" y="-38100"/>
              <a:ext cx="5689600" cy="492900"/>
            </a:xfrm>
            <a:prstGeom prst="rect">
              <a:avLst/>
            </a:prstGeom>
          </p:spPr>
          <p:txBody>
            <a:bodyPr anchor="ctr" rtlCol="false" tIns="0" lIns="0" bIns="0" rIns="0"/>
            <a:lstStyle/>
            <a:p>
              <a:pPr algn="r">
                <a:lnSpc>
                  <a:spcPts val="2160"/>
                </a:lnSpc>
              </a:pPr>
              <a:r>
                <a:rPr lang="en-US" b="true" sz="1800">
                  <a:solidFill>
                    <a:srgbClr val="FFFFFF"/>
                  </a:solidFill>
                  <a:latin typeface="Trade Gothic Condensed Bold"/>
                  <a:ea typeface="Trade Gothic Condensed Bold"/>
                  <a:cs typeface="Trade Gothic Condensed Bold"/>
                  <a:sym typeface="Trade Gothic Condensed Bold"/>
                </a:rPr>
                <a:t>3</a:t>
              </a:r>
            </a:p>
          </p:txBody>
        </p:sp>
      </p:grpSp>
      <p:grpSp>
        <p:nvGrpSpPr>
          <p:cNvPr name="Group 112" id="112"/>
          <p:cNvGrpSpPr/>
          <p:nvPr/>
        </p:nvGrpSpPr>
        <p:grpSpPr>
          <a:xfrm rot="0">
            <a:off x="6972300" y="9890732"/>
            <a:ext cx="4806001" cy="341100"/>
            <a:chOff x="0" y="0"/>
            <a:chExt cx="6408001" cy="454800"/>
          </a:xfrm>
        </p:grpSpPr>
        <p:sp>
          <p:nvSpPr>
            <p:cNvPr name="Freeform 113" id="113"/>
            <p:cNvSpPr/>
            <p:nvPr/>
          </p:nvSpPr>
          <p:spPr>
            <a:xfrm flipH="false" flipV="false" rot="0">
              <a:off x="0" y="0"/>
              <a:ext cx="6408000" cy="454800"/>
            </a:xfrm>
            <a:custGeom>
              <a:avLst/>
              <a:gdLst/>
              <a:ahLst/>
              <a:cxnLst/>
              <a:rect r="r" b="b" t="t" l="l"/>
              <a:pathLst>
                <a:path h="454800" w="6408000">
                  <a:moveTo>
                    <a:pt x="0" y="0"/>
                  </a:moveTo>
                  <a:lnTo>
                    <a:pt x="6408000" y="0"/>
                  </a:lnTo>
                  <a:lnTo>
                    <a:pt x="6408000" y="454800"/>
                  </a:lnTo>
                  <a:lnTo>
                    <a:pt x="0" y="454800"/>
                  </a:lnTo>
                  <a:close/>
                </a:path>
              </a:pathLst>
            </a:custGeom>
            <a:blipFill>
              <a:blip r:embed="rId3">
                <a:alphaModFix amt="0"/>
              </a:blip>
              <a:stretch>
                <a:fillRect l="0" t="-194255" r="0" b="-254820"/>
              </a:stretch>
            </a:blipFill>
          </p:spPr>
        </p:sp>
        <p:sp>
          <p:nvSpPr>
            <p:cNvPr name="TextBox 114" id="114"/>
            <p:cNvSpPr txBox="true"/>
            <p:nvPr/>
          </p:nvSpPr>
          <p:spPr>
            <a:xfrm>
              <a:off x="0" y="-38100"/>
              <a:ext cx="6408001" cy="492900"/>
            </a:xfrm>
            <a:prstGeom prst="rect">
              <a:avLst/>
            </a:prstGeom>
          </p:spPr>
          <p:txBody>
            <a:bodyPr anchor="ctr" rtlCol="false" tIns="0" lIns="0" bIns="0" rIns="0"/>
            <a:lstStyle/>
            <a:p>
              <a:pPr algn="ctr">
                <a:lnSpc>
                  <a:spcPts val="2160"/>
                </a:lnSpc>
              </a:pPr>
              <a:r>
                <a:rPr lang="en-US" sz="1800">
                  <a:solidFill>
                    <a:srgbClr val="FFFFFF"/>
                  </a:solidFill>
                  <a:latin typeface="Trade Gothic Condensed"/>
                  <a:ea typeface="Trade Gothic Condensed"/>
                  <a:cs typeface="Trade Gothic Condensed"/>
                  <a:sym typeface="Trade Gothic Condensed"/>
                </a:rPr>
                <a:t>@SIH Idea submission- Template</a:t>
              </a:r>
            </a:p>
          </p:txBody>
        </p:sp>
      </p:grpSp>
      <p:sp>
        <p:nvSpPr>
          <p:cNvPr name="Freeform 115" id="115"/>
          <p:cNvSpPr/>
          <p:nvPr/>
        </p:nvSpPr>
        <p:spPr>
          <a:xfrm flipH="false" flipV="false" rot="0">
            <a:off x="302944" y="1410247"/>
            <a:ext cx="427531" cy="427531"/>
          </a:xfrm>
          <a:custGeom>
            <a:avLst/>
            <a:gdLst/>
            <a:ahLst/>
            <a:cxnLst/>
            <a:rect r="r" b="b" t="t" l="l"/>
            <a:pathLst>
              <a:path h="427531" w="427531">
                <a:moveTo>
                  <a:pt x="0" y="0"/>
                </a:moveTo>
                <a:lnTo>
                  <a:pt x="427532" y="0"/>
                </a:lnTo>
                <a:lnTo>
                  <a:pt x="427532" y="427531"/>
                </a:lnTo>
                <a:lnTo>
                  <a:pt x="0" y="427531"/>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p:spPr>
      </p:sp>
      <p:sp>
        <p:nvSpPr>
          <p:cNvPr name="Freeform 116" id="116"/>
          <p:cNvSpPr/>
          <p:nvPr/>
        </p:nvSpPr>
        <p:spPr>
          <a:xfrm flipH="false" flipV="false" rot="0">
            <a:off x="3779280" y="1429297"/>
            <a:ext cx="427531" cy="427531"/>
          </a:xfrm>
          <a:custGeom>
            <a:avLst/>
            <a:gdLst/>
            <a:ahLst/>
            <a:cxnLst/>
            <a:rect r="r" b="b" t="t" l="l"/>
            <a:pathLst>
              <a:path h="427531" w="427531">
                <a:moveTo>
                  <a:pt x="0" y="0"/>
                </a:moveTo>
                <a:lnTo>
                  <a:pt x="427532" y="0"/>
                </a:lnTo>
                <a:lnTo>
                  <a:pt x="427532" y="427531"/>
                </a:lnTo>
                <a:lnTo>
                  <a:pt x="0" y="427531"/>
                </a:lnTo>
                <a:lnTo>
                  <a:pt x="0" y="0"/>
                </a:lnTo>
                <a:close/>
              </a:path>
            </a:pathLst>
          </a:custGeom>
          <a:blipFill>
            <a:blip r:embed="rId28">
              <a:extLst>
                <a:ext uri="{96DAC541-7B7A-43D3-8B79-37D633B846F1}">
                  <asvg:svgBlip xmlns:asvg="http://schemas.microsoft.com/office/drawing/2016/SVG/main" r:embed="rId29"/>
                </a:ext>
              </a:extLst>
            </a:blip>
            <a:stretch>
              <a:fillRect l="0" t="0" r="0" b="0"/>
            </a:stretch>
          </a:blipFill>
        </p:spPr>
      </p:sp>
      <p:sp>
        <p:nvSpPr>
          <p:cNvPr name="Freeform 117" id="117"/>
          <p:cNvSpPr/>
          <p:nvPr/>
        </p:nvSpPr>
        <p:spPr>
          <a:xfrm flipH="false" flipV="false" rot="0">
            <a:off x="7531195" y="1417607"/>
            <a:ext cx="439221" cy="439221"/>
          </a:xfrm>
          <a:custGeom>
            <a:avLst/>
            <a:gdLst/>
            <a:ahLst/>
            <a:cxnLst/>
            <a:rect r="r" b="b" t="t" l="l"/>
            <a:pathLst>
              <a:path h="439221" w="439221">
                <a:moveTo>
                  <a:pt x="0" y="0"/>
                </a:moveTo>
                <a:lnTo>
                  <a:pt x="439220" y="0"/>
                </a:lnTo>
                <a:lnTo>
                  <a:pt x="439220" y="439221"/>
                </a:lnTo>
                <a:lnTo>
                  <a:pt x="0" y="439221"/>
                </a:lnTo>
                <a:lnTo>
                  <a:pt x="0" y="0"/>
                </a:lnTo>
                <a:close/>
              </a:path>
            </a:pathLst>
          </a:custGeom>
          <a:blipFill>
            <a:blip r:embed="rId30">
              <a:extLst>
                <a:ext uri="{96DAC541-7B7A-43D3-8B79-37D633B846F1}">
                  <asvg:svgBlip xmlns:asvg="http://schemas.microsoft.com/office/drawing/2016/SVG/main" r:embed="rId31"/>
                </a:ext>
              </a:extLst>
            </a:blip>
            <a:stretch>
              <a:fillRect l="0" t="0" r="0" b="0"/>
            </a:stretch>
          </a:blipFill>
        </p:spPr>
      </p:sp>
      <p:sp>
        <p:nvSpPr>
          <p:cNvPr name="Freeform 118" id="118"/>
          <p:cNvSpPr/>
          <p:nvPr/>
        </p:nvSpPr>
        <p:spPr>
          <a:xfrm flipH="false" flipV="false" rot="0">
            <a:off x="11269138" y="1395900"/>
            <a:ext cx="469312" cy="469312"/>
          </a:xfrm>
          <a:custGeom>
            <a:avLst/>
            <a:gdLst/>
            <a:ahLst/>
            <a:cxnLst/>
            <a:rect r="r" b="b" t="t" l="l"/>
            <a:pathLst>
              <a:path h="469312" w="469312">
                <a:moveTo>
                  <a:pt x="0" y="0"/>
                </a:moveTo>
                <a:lnTo>
                  <a:pt x="469312" y="0"/>
                </a:lnTo>
                <a:lnTo>
                  <a:pt x="469312" y="469313"/>
                </a:lnTo>
                <a:lnTo>
                  <a:pt x="0" y="469313"/>
                </a:lnTo>
                <a:lnTo>
                  <a:pt x="0" y="0"/>
                </a:lnTo>
                <a:close/>
              </a:path>
            </a:pathLst>
          </a:custGeom>
          <a:blipFill>
            <a:blip r:embed="rId32">
              <a:extLst>
                <a:ext uri="{96DAC541-7B7A-43D3-8B79-37D633B846F1}">
                  <asvg:svgBlip xmlns:asvg="http://schemas.microsoft.com/office/drawing/2016/SVG/main" r:embed="rId33"/>
                </a:ext>
              </a:extLst>
            </a:blip>
            <a:stretch>
              <a:fillRect l="0" t="0" r="0" b="0"/>
            </a:stretch>
          </a:blipFill>
        </p:spPr>
      </p:sp>
      <p:sp>
        <p:nvSpPr>
          <p:cNvPr name="Freeform 119" id="119"/>
          <p:cNvSpPr/>
          <p:nvPr/>
        </p:nvSpPr>
        <p:spPr>
          <a:xfrm flipH="false" flipV="false" rot="0">
            <a:off x="15206164" y="1417607"/>
            <a:ext cx="427531" cy="427531"/>
          </a:xfrm>
          <a:custGeom>
            <a:avLst/>
            <a:gdLst/>
            <a:ahLst/>
            <a:cxnLst/>
            <a:rect r="r" b="b" t="t" l="l"/>
            <a:pathLst>
              <a:path h="427531" w="427531">
                <a:moveTo>
                  <a:pt x="0" y="0"/>
                </a:moveTo>
                <a:lnTo>
                  <a:pt x="427531" y="0"/>
                </a:lnTo>
                <a:lnTo>
                  <a:pt x="427531" y="427532"/>
                </a:lnTo>
                <a:lnTo>
                  <a:pt x="0" y="427532"/>
                </a:lnTo>
                <a:lnTo>
                  <a:pt x="0" y="0"/>
                </a:lnTo>
                <a:close/>
              </a:path>
            </a:pathLst>
          </a:custGeom>
          <a:blipFill>
            <a:blip r:embed="rId34">
              <a:extLst>
                <a:ext uri="{96DAC541-7B7A-43D3-8B79-37D633B846F1}">
                  <asvg:svgBlip xmlns:asvg="http://schemas.microsoft.com/office/drawing/2016/SVG/main" r:embed="rId35"/>
                </a:ext>
              </a:extLst>
            </a:blip>
            <a:stretch>
              <a:fillRect l="0" t="0" r="0" b="0"/>
            </a:stretch>
          </a:blipFill>
        </p:spPr>
      </p:sp>
      <p:sp>
        <p:nvSpPr>
          <p:cNvPr name="Freeform 120" id="120"/>
          <p:cNvSpPr/>
          <p:nvPr/>
        </p:nvSpPr>
        <p:spPr>
          <a:xfrm flipH="false" flipV="false" rot="0">
            <a:off x="4244912" y="6679912"/>
            <a:ext cx="381888" cy="381888"/>
          </a:xfrm>
          <a:custGeom>
            <a:avLst/>
            <a:gdLst/>
            <a:ahLst/>
            <a:cxnLst/>
            <a:rect r="r" b="b" t="t" l="l"/>
            <a:pathLst>
              <a:path h="381888" w="381888">
                <a:moveTo>
                  <a:pt x="0" y="0"/>
                </a:moveTo>
                <a:lnTo>
                  <a:pt x="381888" y="0"/>
                </a:lnTo>
                <a:lnTo>
                  <a:pt x="381888" y="381888"/>
                </a:lnTo>
                <a:lnTo>
                  <a:pt x="0" y="381888"/>
                </a:lnTo>
                <a:lnTo>
                  <a:pt x="0" y="0"/>
                </a:lnTo>
                <a:close/>
              </a:path>
            </a:pathLst>
          </a:custGeom>
          <a:blipFill>
            <a:blip r:embed="rId36">
              <a:extLst>
                <a:ext uri="{96DAC541-7B7A-43D3-8B79-37D633B846F1}">
                  <asvg:svgBlip xmlns:asvg="http://schemas.microsoft.com/office/drawing/2016/SVG/main" r:embed="rId37"/>
                </a:ext>
              </a:extLst>
            </a:blip>
            <a:stretch>
              <a:fillRect l="0" t="0" r="0" b="0"/>
            </a:stretch>
          </a:blipFill>
        </p:spPr>
      </p:sp>
      <p:sp>
        <p:nvSpPr>
          <p:cNvPr name="Freeform 123" id="123"/>
          <p:cNvSpPr/>
          <p:nvPr/>
        </p:nvSpPr>
        <p:spPr>
          <a:xfrm flipH="false" flipV="false" rot="0">
            <a:off x="4041830" y="2721443"/>
            <a:ext cx="462832" cy="597203"/>
          </a:xfrm>
          <a:custGeom>
            <a:avLst/>
            <a:gdLst/>
            <a:ahLst/>
            <a:cxnLst/>
            <a:rect r="r" b="b" t="t" l="l"/>
            <a:pathLst>
              <a:path h="597203" w="462832">
                <a:moveTo>
                  <a:pt x="0" y="0"/>
                </a:moveTo>
                <a:lnTo>
                  <a:pt x="462832" y="0"/>
                </a:lnTo>
                <a:lnTo>
                  <a:pt x="462832" y="597203"/>
                </a:lnTo>
                <a:lnTo>
                  <a:pt x="0" y="59720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24" id="124"/>
          <p:cNvSpPr/>
          <p:nvPr/>
        </p:nvSpPr>
        <p:spPr>
          <a:xfrm flipH="false" flipV="false" rot="0">
            <a:off x="4008909" y="4054650"/>
            <a:ext cx="617891" cy="633506"/>
          </a:xfrm>
          <a:custGeom>
            <a:avLst/>
            <a:gdLst/>
            <a:ahLst/>
            <a:cxnLst/>
            <a:rect r="r" b="b" t="t" l="l"/>
            <a:pathLst>
              <a:path h="633506" w="617891">
                <a:moveTo>
                  <a:pt x="0" y="0"/>
                </a:moveTo>
                <a:lnTo>
                  <a:pt x="617891" y="0"/>
                </a:lnTo>
                <a:lnTo>
                  <a:pt x="617891" y="633506"/>
                </a:lnTo>
                <a:lnTo>
                  <a:pt x="0" y="633506"/>
                </a:lnTo>
                <a:lnTo>
                  <a:pt x="0" y="0"/>
                </a:lnTo>
                <a:close/>
              </a:path>
            </a:pathLst>
          </a:custGeom>
          <a:blipFill>
            <a:blip r:embed="rId40">
              <a:extLst>
                <a:ext uri="{96DAC541-7B7A-43D3-8B79-37D633B846F1}">
                  <asvg:svgBlip xmlns:asvg="http://schemas.microsoft.com/office/drawing/2016/SVG/main" r:embed="rId41"/>
                </a:ext>
              </a:extLst>
            </a:blip>
            <a:stretch>
              <a:fillRect l="-65293" t="-11054" r="-31324" b="-65375"/>
            </a:stretch>
          </a:blipFill>
        </p:spPr>
      </p:sp>
      <p:grpSp>
        <p:nvGrpSpPr>
          <p:cNvPr name="Group 125" id="125"/>
          <p:cNvGrpSpPr/>
          <p:nvPr/>
        </p:nvGrpSpPr>
        <p:grpSpPr>
          <a:xfrm rot="0">
            <a:off x="7676886" y="3868037"/>
            <a:ext cx="448601" cy="708754"/>
            <a:chOff x="0" y="0"/>
            <a:chExt cx="598135" cy="945005"/>
          </a:xfrm>
        </p:grpSpPr>
        <p:sp>
          <p:nvSpPr>
            <p:cNvPr name="Freeform 126" id="126"/>
            <p:cNvSpPr/>
            <p:nvPr/>
          </p:nvSpPr>
          <p:spPr>
            <a:xfrm flipH="false" flipV="false" rot="0">
              <a:off x="0" y="457525"/>
              <a:ext cx="598135" cy="487480"/>
            </a:xfrm>
            <a:custGeom>
              <a:avLst/>
              <a:gdLst/>
              <a:ahLst/>
              <a:cxnLst/>
              <a:rect r="r" b="b" t="t" l="l"/>
              <a:pathLst>
                <a:path h="487480" w="598135">
                  <a:moveTo>
                    <a:pt x="0" y="0"/>
                  </a:moveTo>
                  <a:lnTo>
                    <a:pt x="598135" y="0"/>
                  </a:lnTo>
                  <a:lnTo>
                    <a:pt x="598135" y="487480"/>
                  </a:lnTo>
                  <a:lnTo>
                    <a:pt x="0" y="487480"/>
                  </a:lnTo>
                  <a:lnTo>
                    <a:pt x="0" y="0"/>
                  </a:lnTo>
                  <a:close/>
                </a:path>
              </a:pathLst>
            </a:custGeom>
            <a:blipFill>
              <a:blip r:embed="rId42">
                <a:extLst>
                  <a:ext uri="{96DAC541-7B7A-43D3-8B79-37D633B846F1}">
                    <asvg:svgBlip xmlns:asvg="http://schemas.microsoft.com/office/drawing/2016/SVG/main" r:embed="rId43"/>
                  </a:ext>
                </a:extLst>
              </a:blip>
              <a:stretch>
                <a:fillRect l="0" t="0" r="0" b="0"/>
              </a:stretch>
            </a:blipFill>
          </p:spPr>
        </p:sp>
        <p:sp>
          <p:nvSpPr>
            <p:cNvPr name="Freeform 127" id="127"/>
            <p:cNvSpPr/>
            <p:nvPr/>
          </p:nvSpPr>
          <p:spPr>
            <a:xfrm flipH="false" flipV="false" rot="0">
              <a:off x="0" y="0"/>
              <a:ext cx="598135" cy="487480"/>
            </a:xfrm>
            <a:custGeom>
              <a:avLst/>
              <a:gdLst/>
              <a:ahLst/>
              <a:cxnLst/>
              <a:rect r="r" b="b" t="t" l="l"/>
              <a:pathLst>
                <a:path h="487480" w="598135">
                  <a:moveTo>
                    <a:pt x="0" y="0"/>
                  </a:moveTo>
                  <a:lnTo>
                    <a:pt x="598135" y="0"/>
                  </a:lnTo>
                  <a:lnTo>
                    <a:pt x="598135" y="487480"/>
                  </a:lnTo>
                  <a:lnTo>
                    <a:pt x="0" y="487480"/>
                  </a:lnTo>
                  <a:lnTo>
                    <a:pt x="0" y="0"/>
                  </a:lnTo>
                  <a:close/>
                </a:path>
              </a:pathLst>
            </a:custGeom>
            <a:blipFill>
              <a:blip r:embed="rId42">
                <a:extLst>
                  <a:ext uri="{96DAC541-7B7A-43D3-8B79-37D633B846F1}">
                    <asvg:svgBlip xmlns:asvg="http://schemas.microsoft.com/office/drawing/2016/SVG/main" r:embed="rId43"/>
                  </a:ext>
                </a:extLst>
              </a:blip>
              <a:stretch>
                <a:fillRect l="0" t="0" r="0" b="0"/>
              </a:stretch>
            </a:blipFill>
          </p:spPr>
        </p:sp>
      </p:grpSp>
      <p:sp>
        <p:nvSpPr>
          <p:cNvPr name="Freeform 128" id="128"/>
          <p:cNvSpPr/>
          <p:nvPr/>
        </p:nvSpPr>
        <p:spPr>
          <a:xfrm flipH="false" flipV="false" rot="0">
            <a:off x="7611277" y="2730135"/>
            <a:ext cx="579818" cy="579818"/>
          </a:xfrm>
          <a:custGeom>
            <a:avLst/>
            <a:gdLst/>
            <a:ahLst/>
            <a:cxnLst/>
            <a:rect r="r" b="b" t="t" l="l"/>
            <a:pathLst>
              <a:path h="579818" w="579818">
                <a:moveTo>
                  <a:pt x="0" y="0"/>
                </a:moveTo>
                <a:lnTo>
                  <a:pt x="579818" y="0"/>
                </a:lnTo>
                <a:lnTo>
                  <a:pt x="579818" y="579819"/>
                </a:lnTo>
                <a:lnTo>
                  <a:pt x="0" y="579819"/>
                </a:lnTo>
                <a:lnTo>
                  <a:pt x="0" y="0"/>
                </a:lnTo>
                <a:close/>
              </a:path>
            </a:pathLst>
          </a:custGeom>
          <a:blipFill>
            <a:blip r:embed="rId44">
              <a:extLst>
                <a:ext uri="{96DAC541-7B7A-43D3-8B79-37D633B846F1}">
                  <asvg:svgBlip xmlns:asvg="http://schemas.microsoft.com/office/drawing/2016/SVG/main" r:embed="rId45"/>
                </a:ext>
              </a:extLst>
            </a:blip>
            <a:stretch>
              <a:fillRect l="0" t="0" r="0" b="0"/>
            </a:stretch>
          </a:blipFill>
        </p:spPr>
      </p:sp>
      <p:sp>
        <p:nvSpPr>
          <p:cNvPr name="Freeform 129" id="129"/>
          <p:cNvSpPr/>
          <p:nvPr/>
        </p:nvSpPr>
        <p:spPr>
          <a:xfrm flipH="false" flipV="false" rot="0">
            <a:off x="3940064" y="5356387"/>
            <a:ext cx="557891" cy="652504"/>
          </a:xfrm>
          <a:custGeom>
            <a:avLst/>
            <a:gdLst/>
            <a:ahLst/>
            <a:cxnLst/>
            <a:rect r="r" b="b" t="t" l="l"/>
            <a:pathLst>
              <a:path h="652504" w="557891">
                <a:moveTo>
                  <a:pt x="0" y="0"/>
                </a:moveTo>
                <a:lnTo>
                  <a:pt x="557890" y="0"/>
                </a:lnTo>
                <a:lnTo>
                  <a:pt x="557890" y="652504"/>
                </a:lnTo>
                <a:lnTo>
                  <a:pt x="0" y="652504"/>
                </a:lnTo>
                <a:lnTo>
                  <a:pt x="0" y="0"/>
                </a:lnTo>
                <a:close/>
              </a:path>
            </a:pathLst>
          </a:custGeom>
          <a:blipFill>
            <a:blip r:embed="rId46">
              <a:extLst>
                <a:ext uri="{96DAC541-7B7A-43D3-8B79-37D633B846F1}">
                  <asvg:svgBlip xmlns:asvg="http://schemas.microsoft.com/office/drawing/2016/SVG/main" r:embed="rId47"/>
                </a:ext>
              </a:extLst>
            </a:blip>
            <a:stretch>
              <a:fillRect l="0" t="0" r="0" b="0"/>
            </a:stretch>
          </a:blipFill>
        </p:spPr>
      </p:sp>
      <p:sp>
        <p:nvSpPr>
          <p:cNvPr name="TextBox 130" id="130"/>
          <p:cNvSpPr txBox="true"/>
          <p:nvPr/>
        </p:nvSpPr>
        <p:spPr>
          <a:xfrm rot="0">
            <a:off x="8241444" y="2631447"/>
            <a:ext cx="2240280" cy="276198"/>
          </a:xfrm>
          <a:prstGeom prst="rect">
            <a:avLst/>
          </a:prstGeom>
        </p:spPr>
        <p:txBody>
          <a:bodyPr anchor="t" rtlCol="false" tIns="0" lIns="0" bIns="0" rIns="0">
            <a:spAutoFit/>
          </a:bodyPr>
          <a:lstStyle/>
          <a:p>
            <a:pPr algn="l">
              <a:lnSpc>
                <a:spcPts val="2100"/>
              </a:lnSpc>
            </a:pPr>
            <a:r>
              <a:rPr lang="en-US" sz="1500" b="1">
                <a:solidFill>
                  <a:srgbClr val="000000"/>
                </a:solidFill>
                <a:latin typeface="Times New Roman"/>
                <a:ea typeface="Times New Roman"/>
                <a:cs typeface="Times New Roman"/>
                <a:sym typeface="Times New Roman"/>
              </a:rPr>
              <a:t>Prompt Builder</a:t>
            </a:r>
          </a:p>
        </p:txBody>
      </p:sp>
      <p:sp>
        <p:nvSpPr>
          <p:cNvPr name="TextBox 131" id="131"/>
          <p:cNvSpPr txBox="true"/>
          <p:nvPr/>
        </p:nvSpPr>
        <p:spPr>
          <a:xfrm rot="0">
            <a:off x="8256704" y="3002999"/>
            <a:ext cx="2237193" cy="391160"/>
          </a:xfrm>
          <a:prstGeom prst="rect">
            <a:avLst/>
          </a:prstGeom>
        </p:spPr>
        <p:txBody>
          <a:bodyPr anchor="t" rtlCol="false" tIns="0" lIns="0" bIns="0" rIns="0">
            <a:spAutoFit/>
          </a:bodyPr>
          <a:lstStyle/>
          <a:p>
            <a:pPr algn="l">
              <a:lnSpc>
                <a:spcPts val="1540"/>
              </a:lnSpc>
            </a:pPr>
            <a:r>
              <a:rPr lang="en-US" sz="1100">
                <a:solidFill>
                  <a:srgbClr val="000000"/>
                </a:solidFill>
                <a:latin typeface="Times New Roman"/>
                <a:ea typeface="Times New Roman"/>
                <a:cs typeface="Times New Roman"/>
                <a:sym typeface="Times New Roman"/>
              </a:rPr>
              <a:t>Task spec per output type plus the 6 settings</a:t>
            </a:r>
          </a:p>
        </p:txBody>
      </p:sp>
      <p:sp>
        <p:nvSpPr>
          <p:cNvPr name="TextBox 132" id="132"/>
          <p:cNvSpPr txBox="true"/>
          <p:nvPr/>
        </p:nvSpPr>
        <p:spPr>
          <a:xfrm rot="0">
            <a:off x="301752" y="1909358"/>
            <a:ext cx="2926080" cy="479954"/>
          </a:xfrm>
          <a:prstGeom prst="rect">
            <a:avLst/>
          </a:prstGeom>
        </p:spPr>
        <p:txBody>
          <a:bodyPr anchor="t" rtlCol="false" tIns="0" lIns="0" bIns="0" rIns="0">
            <a:spAutoFit/>
          </a:bodyPr>
          <a:lstStyle/>
          <a:p>
            <a:pPr algn="ctr">
              <a:lnSpc>
                <a:spcPts val="1895"/>
              </a:lnSpc>
            </a:pPr>
            <a:r>
              <a:rPr lang="en-US" sz="1354">
                <a:solidFill>
                  <a:srgbClr val="000000"/>
                </a:solidFill>
                <a:latin typeface="Times New Roman"/>
                <a:ea typeface="Times New Roman"/>
                <a:cs typeface="Times New Roman"/>
                <a:sym typeface="Times New Roman"/>
              </a:rPr>
              <a:t>Text and/or one file, up to 25 MB</a:t>
            </a:r>
          </a:p>
        </p:txBody>
      </p:sp>
      <p:sp>
        <p:nvSpPr>
          <p:cNvPr name="TextBox 133" id="133"/>
          <p:cNvSpPr txBox="true"/>
          <p:nvPr/>
        </p:nvSpPr>
        <p:spPr>
          <a:xfrm rot="0">
            <a:off x="873351" y="1477470"/>
            <a:ext cx="2307762" cy="283560"/>
          </a:xfrm>
          <a:prstGeom prst="rect">
            <a:avLst/>
          </a:prstGeom>
        </p:spPr>
        <p:txBody>
          <a:bodyPr anchor="t" rtlCol="false" tIns="0" lIns="0" bIns="0" rIns="0">
            <a:spAutoFit/>
          </a:bodyPr>
          <a:lstStyle/>
          <a:p>
            <a:pPr algn="l">
              <a:lnSpc>
                <a:spcPts val="2223"/>
              </a:lnSpc>
            </a:pPr>
            <a:r>
              <a:rPr lang="en-US" b="1" sz="1588">
                <a:solidFill>
                  <a:srgbClr val="000000"/>
                </a:solidFill>
                <a:latin typeface="Times New Roman"/>
                <a:ea typeface="Times New Roman"/>
                <a:cs typeface="Times New Roman"/>
                <a:sym typeface="Times New Roman"/>
              </a:rPr>
              <a:t>MULTI-MODAL INPUT</a:t>
            </a:r>
          </a:p>
        </p:txBody>
      </p:sp>
      <p:sp>
        <p:nvSpPr>
          <p:cNvPr name="TextBox 134" id="134"/>
          <p:cNvSpPr txBox="true"/>
          <p:nvPr/>
        </p:nvSpPr>
        <p:spPr>
          <a:xfrm rot="0">
            <a:off x="3825057" y="1954379"/>
            <a:ext cx="3158871" cy="479954"/>
          </a:xfrm>
          <a:prstGeom prst="rect">
            <a:avLst/>
          </a:prstGeom>
        </p:spPr>
        <p:txBody>
          <a:bodyPr anchor="t" rtlCol="false" tIns="0" lIns="0" bIns="0" rIns="0">
            <a:spAutoFit/>
          </a:bodyPr>
          <a:lstStyle/>
          <a:p>
            <a:pPr algn="ctr">
              <a:lnSpc>
                <a:spcPts val="1895"/>
              </a:lnSpc>
            </a:pPr>
            <a:r>
              <a:rPr lang="en-US" sz="1354">
                <a:solidFill>
                  <a:srgbClr val="000000"/>
                </a:solidFill>
                <a:latin typeface="Times New Roman"/>
                <a:ea typeface="Times New Roman"/>
                <a:cs typeface="Times New Roman"/>
                <a:sym typeface="Times New Roman"/>
              </a:rPr>
              <a:t>Every input becomes one shared source text</a:t>
            </a:r>
          </a:p>
        </p:txBody>
      </p:sp>
      <p:sp>
        <p:nvSpPr>
          <p:cNvPr name="TextBox 135" id="135"/>
          <p:cNvSpPr txBox="true"/>
          <p:nvPr/>
        </p:nvSpPr>
        <p:spPr>
          <a:xfrm rot="0">
            <a:off x="4111485" y="1335309"/>
            <a:ext cx="2837559" cy="542871"/>
          </a:xfrm>
          <a:prstGeom prst="rect">
            <a:avLst/>
          </a:prstGeom>
        </p:spPr>
        <p:txBody>
          <a:bodyPr anchor="t" rtlCol="false" tIns="0" lIns="0" bIns="0" rIns="0">
            <a:spAutoFit/>
          </a:bodyPr>
          <a:lstStyle/>
          <a:p>
            <a:pPr algn="ctr">
              <a:lnSpc>
                <a:spcPts val="2100"/>
              </a:lnSpc>
            </a:pPr>
            <a:r>
              <a:rPr lang="en-US" b="1" sz="1500">
                <a:solidFill>
                  <a:srgbClr val="000000"/>
                </a:solidFill>
                <a:latin typeface="Times New Roman"/>
                <a:ea typeface="Times New Roman"/>
                <a:cs typeface="Times New Roman"/>
                <a:sym typeface="Times New Roman"/>
              </a:rPr>
              <a:t>INGESTION &amp; PREPROCESSING</a:t>
            </a:r>
          </a:p>
        </p:txBody>
      </p:sp>
      <p:sp>
        <p:nvSpPr>
          <p:cNvPr name="TextBox 136" id="136"/>
          <p:cNvSpPr txBox="true"/>
          <p:nvPr/>
        </p:nvSpPr>
        <p:spPr>
          <a:xfrm rot="0">
            <a:off x="4616982" y="5654081"/>
            <a:ext cx="2208315" cy="471913"/>
          </a:xfrm>
          <a:prstGeom prst="rect">
            <a:avLst/>
          </a:prstGeom>
        </p:spPr>
        <p:txBody>
          <a:bodyPr anchor="t" rtlCol="false" tIns="0" lIns="0" bIns="0" rIns="0">
            <a:spAutoFit/>
          </a:bodyPr>
          <a:lstStyle/>
          <a:p>
            <a:pPr algn="l">
              <a:lnSpc>
                <a:spcPts val="1819"/>
              </a:lnSpc>
            </a:pPr>
            <a:r>
              <a:rPr lang="en-US" sz="1299">
                <a:solidFill>
                  <a:srgbClr val="000000"/>
                </a:solidFill>
                <a:latin typeface="Times New Roman"/>
                <a:ea typeface="Times New Roman"/>
                <a:cs typeface="Times New Roman"/>
                <a:sym typeface="Times New Roman"/>
              </a:rPr>
              <a:t>Source sits in &lt;source&gt; tags and is treated as data</a:t>
            </a:r>
          </a:p>
        </p:txBody>
      </p:sp>
      <p:sp>
        <p:nvSpPr>
          <p:cNvPr name="TextBox 137" id="137"/>
          <p:cNvSpPr txBox="true"/>
          <p:nvPr/>
        </p:nvSpPr>
        <p:spPr>
          <a:xfrm rot="0">
            <a:off x="4840311" y="2702515"/>
            <a:ext cx="2057400" cy="276198"/>
          </a:xfrm>
          <a:prstGeom prst="rect">
            <a:avLst/>
          </a:prstGeom>
        </p:spPr>
        <p:txBody>
          <a:bodyPr anchor="t" rtlCol="false" tIns="0" lIns="0" bIns="0" rIns="0">
            <a:spAutoFit/>
          </a:bodyPr>
          <a:lstStyle/>
          <a:p>
            <a:pPr algn="l">
              <a:lnSpc>
                <a:spcPts val="2100"/>
              </a:lnSpc>
            </a:pPr>
            <a:r>
              <a:rPr lang="en-US" sz="1500" b="1">
                <a:solidFill>
                  <a:srgbClr val="000000"/>
                </a:solidFill>
                <a:latin typeface="Times New Roman"/>
                <a:ea typeface="Times New Roman"/>
                <a:cs typeface="Times New Roman"/>
                <a:sym typeface="Times New Roman"/>
              </a:rPr>
              <a:t>Document Parsing</a:t>
            </a:r>
          </a:p>
        </p:txBody>
      </p:sp>
      <p:sp>
        <p:nvSpPr>
          <p:cNvPr name="TextBox 138" id="138"/>
          <p:cNvSpPr txBox="true"/>
          <p:nvPr/>
        </p:nvSpPr>
        <p:spPr>
          <a:xfrm rot="0">
            <a:off x="4840311" y="3006743"/>
            <a:ext cx="2108734" cy="471913"/>
          </a:xfrm>
          <a:prstGeom prst="rect">
            <a:avLst/>
          </a:prstGeom>
        </p:spPr>
        <p:txBody>
          <a:bodyPr anchor="t" rtlCol="false" tIns="0" lIns="0" bIns="0" rIns="0">
            <a:spAutoFit/>
          </a:bodyPr>
          <a:lstStyle/>
          <a:p>
            <a:pPr algn="l">
              <a:lnSpc>
                <a:spcPts val="1819"/>
              </a:lnSpc>
            </a:pPr>
            <a:r>
              <a:rPr lang="en-US" sz="1299">
                <a:solidFill>
                  <a:srgbClr val="000000"/>
                </a:solidFill>
                <a:latin typeface="Times New Roman"/>
                <a:ea typeface="Times New Roman"/>
                <a:cs typeface="Times New Roman"/>
                <a:sym typeface="Times New Roman"/>
              </a:rPr>
              <a:t>PDF via pypdf, DOCX via python-docx</a:t>
            </a:r>
          </a:p>
        </p:txBody>
      </p:sp>
      <p:sp>
        <p:nvSpPr>
          <p:cNvPr name="TextBox 139" id="139"/>
          <p:cNvSpPr txBox="true"/>
          <p:nvPr/>
        </p:nvSpPr>
        <p:spPr>
          <a:xfrm rot="0">
            <a:off x="4840311" y="3983159"/>
            <a:ext cx="2057400" cy="276198"/>
          </a:xfrm>
          <a:prstGeom prst="rect">
            <a:avLst/>
          </a:prstGeom>
        </p:spPr>
        <p:txBody>
          <a:bodyPr anchor="t" rtlCol="false" tIns="0" lIns="0" bIns="0" rIns="0">
            <a:spAutoFit/>
          </a:bodyPr>
          <a:lstStyle/>
          <a:p>
            <a:pPr algn="l">
              <a:lnSpc>
                <a:spcPts val="2100"/>
              </a:lnSpc>
            </a:pPr>
            <a:r>
              <a:rPr lang="en-US" sz="1500" b="1">
                <a:solidFill>
                  <a:srgbClr val="000000"/>
                </a:solidFill>
                <a:latin typeface="Times New Roman"/>
                <a:ea typeface="Times New Roman"/>
                <a:cs typeface="Times New Roman"/>
                <a:sym typeface="Times New Roman"/>
              </a:rPr>
              <a:t>Vision &amp; Speech</a:t>
            </a:r>
          </a:p>
        </p:txBody>
      </p:sp>
      <p:sp>
        <p:nvSpPr>
          <p:cNvPr name="TextBox 140" id="140"/>
          <p:cNvSpPr txBox="true"/>
          <p:nvPr/>
        </p:nvSpPr>
        <p:spPr>
          <a:xfrm rot="0">
            <a:off x="4840311" y="4290484"/>
            <a:ext cx="2120362" cy="471913"/>
          </a:xfrm>
          <a:prstGeom prst="rect">
            <a:avLst/>
          </a:prstGeom>
        </p:spPr>
        <p:txBody>
          <a:bodyPr anchor="t" rtlCol="false" tIns="0" lIns="0" bIns="0" rIns="0">
            <a:spAutoFit/>
          </a:bodyPr>
          <a:lstStyle/>
          <a:p>
            <a:pPr algn="l">
              <a:lnSpc>
                <a:spcPts val="1819"/>
              </a:lnSpc>
            </a:pPr>
            <a:r>
              <a:rPr lang="en-US" sz="1299">
                <a:solidFill>
                  <a:srgbClr val="000000"/>
                </a:solidFill>
                <a:latin typeface="Times New Roman"/>
                <a:ea typeface="Times New Roman"/>
                <a:cs typeface="Times New Roman"/>
                <a:sym typeface="Times New Roman"/>
              </a:rPr>
              <a:t>Gemini reads images and transcribes video and audio</a:t>
            </a:r>
          </a:p>
        </p:txBody>
      </p:sp>
      <p:sp>
        <p:nvSpPr>
          <p:cNvPr name="TextBox 141" id="141"/>
          <p:cNvSpPr txBox="true"/>
          <p:nvPr/>
        </p:nvSpPr>
        <p:spPr>
          <a:xfrm rot="0">
            <a:off x="4840311" y="5308762"/>
            <a:ext cx="2057400" cy="276198"/>
          </a:xfrm>
          <a:prstGeom prst="rect">
            <a:avLst/>
          </a:prstGeom>
        </p:spPr>
        <p:txBody>
          <a:bodyPr anchor="t" rtlCol="false" tIns="0" lIns="0" bIns="0" rIns="0">
            <a:spAutoFit/>
          </a:bodyPr>
          <a:lstStyle/>
          <a:p>
            <a:pPr algn="l">
              <a:lnSpc>
                <a:spcPts val="2100"/>
              </a:lnSpc>
            </a:pPr>
            <a:r>
              <a:rPr lang="en-US" sz="1500" b="1">
                <a:solidFill>
                  <a:srgbClr val="000000"/>
                </a:solidFill>
                <a:latin typeface="Times New Roman"/>
                <a:ea typeface="Times New Roman"/>
                <a:cs typeface="Times New Roman"/>
                <a:sym typeface="Times New Roman"/>
              </a:rPr>
              <a:t>Injection Guard</a:t>
            </a:r>
          </a:p>
        </p:txBody>
      </p:sp>
      <p:sp>
        <p:nvSpPr>
          <p:cNvPr name="TextBox 142" id="142"/>
          <p:cNvSpPr txBox="true"/>
          <p:nvPr/>
        </p:nvSpPr>
        <p:spPr>
          <a:xfrm rot="0">
            <a:off x="7641153" y="1935844"/>
            <a:ext cx="3012560" cy="480060"/>
          </a:xfrm>
          <a:prstGeom prst="rect">
            <a:avLst/>
          </a:prstGeom>
        </p:spPr>
        <p:txBody>
          <a:bodyPr anchor="t" rtlCol="false" tIns="0" lIns="0" bIns="0" rIns="0">
            <a:spAutoFit/>
          </a:bodyPr>
          <a:lstStyle/>
          <a:p>
            <a:pPr algn="ctr">
              <a:lnSpc>
                <a:spcPts val="1889"/>
              </a:lnSpc>
            </a:pPr>
            <a:r>
              <a:rPr lang="en-US" sz="1350">
                <a:solidFill>
                  <a:srgbClr val="000000"/>
                </a:solidFill>
                <a:latin typeface="Times New Roman"/>
                <a:ea typeface="Times New Roman"/>
                <a:cs typeface="Times New Roman"/>
                <a:sym typeface="Times New Roman"/>
              </a:rPr>
              <a:t>One prompt per output; every answer is checked</a:t>
            </a:r>
          </a:p>
        </p:txBody>
      </p:sp>
      <p:sp>
        <p:nvSpPr>
          <p:cNvPr name="TextBox 143" id="143"/>
          <p:cNvSpPr txBox="true"/>
          <p:nvPr/>
        </p:nvSpPr>
        <p:spPr>
          <a:xfrm rot="0">
            <a:off x="7986249" y="1326298"/>
            <a:ext cx="2644222" cy="542871"/>
          </a:xfrm>
          <a:prstGeom prst="rect">
            <a:avLst/>
          </a:prstGeom>
        </p:spPr>
        <p:txBody>
          <a:bodyPr anchor="t" rtlCol="false" tIns="0" lIns="0" bIns="0" rIns="0">
            <a:spAutoFit/>
          </a:bodyPr>
          <a:lstStyle/>
          <a:p>
            <a:pPr algn="ctr">
              <a:lnSpc>
                <a:spcPts val="2100"/>
              </a:lnSpc>
            </a:pPr>
            <a:r>
              <a:rPr lang="en-US" b="1" sz="1500">
                <a:solidFill>
                  <a:srgbClr val="000000"/>
                </a:solidFill>
                <a:latin typeface="Times New Roman"/>
                <a:ea typeface="Times New Roman"/>
                <a:cs typeface="Times New Roman"/>
                <a:sym typeface="Times New Roman"/>
              </a:rPr>
              <a:t>AI TRANSFORMATION ENGINE</a:t>
            </a:r>
          </a:p>
        </p:txBody>
      </p:sp>
      <p:sp>
        <p:nvSpPr>
          <p:cNvPr name="TextBox 144" id="144"/>
          <p:cNvSpPr txBox="true"/>
          <p:nvPr/>
        </p:nvSpPr>
        <p:spPr>
          <a:xfrm rot="0">
            <a:off x="8231919" y="3794679"/>
            <a:ext cx="2240280" cy="276198"/>
          </a:xfrm>
          <a:prstGeom prst="rect">
            <a:avLst/>
          </a:prstGeom>
        </p:spPr>
        <p:txBody>
          <a:bodyPr anchor="t" rtlCol="false" tIns="0" lIns="0" bIns="0" rIns="0">
            <a:spAutoFit/>
          </a:bodyPr>
          <a:lstStyle/>
          <a:p>
            <a:pPr algn="l">
              <a:lnSpc>
                <a:spcPts val="2100"/>
              </a:lnSpc>
            </a:pPr>
            <a:r>
              <a:rPr lang="en-US" sz="1500" b="1">
                <a:solidFill>
                  <a:srgbClr val="000000"/>
                </a:solidFill>
                <a:latin typeface="Times New Roman"/>
                <a:ea typeface="Times New Roman"/>
                <a:cs typeface="Times New Roman"/>
                <a:sym typeface="Times New Roman"/>
              </a:rPr>
              <a:t>Schema Check</a:t>
            </a:r>
          </a:p>
        </p:txBody>
      </p:sp>
      <p:sp>
        <p:nvSpPr>
          <p:cNvPr name="TextBox 145" id="145"/>
          <p:cNvSpPr txBox="true"/>
          <p:nvPr/>
        </p:nvSpPr>
        <p:spPr>
          <a:xfrm rot="0">
            <a:off x="8241444" y="4076674"/>
            <a:ext cx="2286000" cy="391160"/>
          </a:xfrm>
          <a:prstGeom prst="rect">
            <a:avLst/>
          </a:prstGeom>
        </p:spPr>
        <p:txBody>
          <a:bodyPr anchor="t" rtlCol="false" tIns="0" lIns="0" bIns="0" rIns="0">
            <a:spAutoFit/>
          </a:bodyPr>
          <a:lstStyle/>
          <a:p>
            <a:pPr algn="l">
              <a:lnSpc>
                <a:spcPts val="1539"/>
              </a:lnSpc>
            </a:pPr>
            <a:r>
              <a:rPr lang="en-US" sz="1099">
                <a:solidFill>
                  <a:srgbClr val="000000"/>
                </a:solidFill>
                <a:latin typeface="Times New Roman"/>
                <a:ea typeface="Times New Roman"/>
                <a:cs typeface="Times New Roman"/>
                <a:sym typeface="Times New Roman"/>
              </a:rPr>
              <a:t>Pydantic schema per type; 1 retry if invalid</a:t>
            </a:r>
          </a:p>
        </p:txBody>
      </p:sp>
      <p:sp>
        <p:nvSpPr>
          <p:cNvPr name="TextBox 147" id="147"/>
          <p:cNvSpPr txBox="true"/>
          <p:nvPr/>
        </p:nvSpPr>
        <p:spPr>
          <a:xfrm rot="0">
            <a:off x="8430768" y="4901184"/>
            <a:ext cx="2212848" cy="1024128"/>
          </a:xfrm>
          <a:prstGeom prst="rect">
            <a:avLst/>
          </a:prstGeom>
        </p:spPr>
        <p:txBody>
          <a:bodyPr anchor="ctr" rtlCol="false" tIns="0" lIns="0" bIns="0" rIns="0" wrap="square">
            <a:noAutofit/>
          </a:bodyPr>
          <a:lstStyle/>
          <a:p>
            <a:pPr algn="ctr">
              <a:lnSpc>
                <a:spcPts val="1918"/>
              </a:lnSpc>
            </a:pPr>
            <a:r>
              <a:rPr lang="en-US" b="1" sz="1600">
                <a:solidFill>
                  <a:srgbClr val="000000"/>
                </a:solidFill>
                <a:latin typeface="Times New Roman"/>
                <a:ea typeface="Times New Roman"/>
                <a:cs typeface="Times New Roman"/>
                <a:sym typeface="Times New Roman"/>
              </a:rPr>
              <a:t>LLM PROVIDER LAYER</a:t>
            </a:r>
          </a:p>
          <a:p>
            <a:pPr algn="ctr">
              <a:lnSpc>
                <a:spcPts val="1918"/>
              </a:lnSpc>
            </a:pPr>
            <a:r>
              <a:rPr lang="en-US" b="0" sz="1150">
                <a:solidFill>
                  <a:srgbClr val="000000"/>
                </a:solidFill>
                <a:latin typeface="Times New Roman"/>
                <a:ea typeface="Times New Roman"/>
                <a:cs typeface="Times New Roman"/>
                <a:sym typeface="Times New Roman"/>
              </a:rPr>
              <a:t>Gemini by default; OpenAI, Groq or local Ollama</a:t>
            </a:r>
          </a:p>
        </p:txBody>
      </p:sp>
      <p:sp>
        <p:nvSpPr>
          <p:cNvPr name="TextBox 148" id="148"/>
          <p:cNvSpPr txBox="true"/>
          <p:nvPr/>
        </p:nvSpPr>
        <p:spPr>
          <a:xfrm rot="0">
            <a:off x="11887200" y="2005382"/>
            <a:ext cx="1335024" cy="247704"/>
          </a:xfrm>
          <a:prstGeom prst="rect">
            <a:avLst/>
          </a:prstGeom>
        </p:spPr>
        <p:txBody>
          <a:bodyPr anchor="t" rtlCol="false" tIns="0" lIns="0" bIns="0" rIns="0">
            <a:spAutoFit/>
          </a:bodyPr>
          <a:lstStyle/>
          <a:p>
            <a:pPr algn="ctr">
              <a:lnSpc>
                <a:spcPts val="1800"/>
              </a:lnSpc>
            </a:pPr>
            <a:r>
              <a:rPr lang="en-US" sz="1500" b="1">
                <a:solidFill>
                  <a:srgbClr val="100F0D"/>
                </a:solidFill>
                <a:latin typeface="Times New Roman"/>
                <a:ea typeface="Times New Roman"/>
                <a:cs typeface="Times New Roman"/>
                <a:sym typeface="Times New Roman"/>
              </a:rPr>
              <a:t>Video</a:t>
            </a:r>
          </a:p>
        </p:txBody>
      </p:sp>
      <p:sp>
        <p:nvSpPr>
          <p:cNvPr name="TextBox 149" id="149"/>
          <p:cNvSpPr txBox="true"/>
          <p:nvPr/>
        </p:nvSpPr>
        <p:spPr>
          <a:xfrm rot="0">
            <a:off x="12234603" y="2682902"/>
            <a:ext cx="1305308" cy="247704"/>
          </a:xfrm>
          <a:prstGeom prst="rect">
            <a:avLst/>
          </a:prstGeom>
        </p:spPr>
        <p:txBody>
          <a:bodyPr anchor="t" rtlCol="false" tIns="0" lIns="0" bIns="0" rIns="0">
            <a:spAutoFit/>
          </a:bodyPr>
          <a:lstStyle/>
          <a:p>
            <a:pPr algn="l">
              <a:lnSpc>
                <a:spcPts val="1800"/>
              </a:lnSpc>
            </a:pPr>
            <a:r>
              <a:rPr lang="en-US" sz="1500" b="1">
                <a:solidFill>
                  <a:srgbClr val="100F0D"/>
                </a:solidFill>
                <a:latin typeface="Times New Roman"/>
                <a:ea typeface="Times New Roman"/>
                <a:cs typeface="Times New Roman"/>
                <a:sym typeface="Times New Roman"/>
              </a:rPr>
              <a:t>LinkedIn Post</a:t>
            </a:r>
          </a:p>
        </p:txBody>
      </p:sp>
      <p:sp>
        <p:nvSpPr>
          <p:cNvPr name="TextBox 150" id="150"/>
          <p:cNvSpPr txBox="true"/>
          <p:nvPr/>
        </p:nvSpPr>
        <p:spPr>
          <a:xfrm rot="0">
            <a:off x="12192154" y="3288647"/>
            <a:ext cx="1435838" cy="247704"/>
          </a:xfrm>
          <a:prstGeom prst="rect">
            <a:avLst/>
          </a:prstGeom>
        </p:spPr>
        <p:txBody>
          <a:bodyPr anchor="t" rtlCol="false" tIns="0" lIns="0" bIns="0" rIns="0">
            <a:spAutoFit/>
          </a:bodyPr>
          <a:lstStyle/>
          <a:p>
            <a:pPr algn="l">
              <a:lnSpc>
                <a:spcPts val="1800"/>
              </a:lnSpc>
            </a:pPr>
            <a:r>
              <a:rPr lang="en-US" sz="1500" b="1">
                <a:solidFill>
                  <a:srgbClr val="100F0D"/>
                </a:solidFill>
                <a:latin typeface="Times New Roman"/>
                <a:ea typeface="Times New Roman"/>
                <a:cs typeface="Times New Roman"/>
                <a:sym typeface="Times New Roman"/>
              </a:rPr>
              <a:t>Twitter / X Post</a:t>
            </a:r>
          </a:p>
        </p:txBody>
      </p:sp>
      <p:sp>
        <p:nvSpPr>
          <p:cNvPr name="TextBox 151" id="151"/>
          <p:cNvSpPr txBox="true"/>
          <p:nvPr/>
        </p:nvSpPr>
        <p:spPr>
          <a:xfrm rot="0">
            <a:off x="12316259" y="3870439"/>
            <a:ext cx="997260" cy="247704"/>
          </a:xfrm>
          <a:prstGeom prst="rect">
            <a:avLst/>
          </a:prstGeom>
        </p:spPr>
        <p:txBody>
          <a:bodyPr anchor="t" rtlCol="false" tIns="0" lIns="0" bIns="0" rIns="0">
            <a:spAutoFit/>
          </a:bodyPr>
          <a:lstStyle/>
          <a:p>
            <a:pPr algn="l">
              <a:lnSpc>
                <a:spcPts val="1800"/>
              </a:lnSpc>
            </a:pPr>
            <a:r>
              <a:rPr lang="en-US" sz="1500" b="1">
                <a:solidFill>
                  <a:srgbClr val="100F0D"/>
                </a:solidFill>
                <a:latin typeface="Times New Roman"/>
                <a:ea typeface="Times New Roman"/>
                <a:cs typeface="Times New Roman"/>
                <a:sym typeface="Times New Roman"/>
              </a:rPr>
              <a:t>Advisory</a:t>
            </a:r>
          </a:p>
        </p:txBody>
      </p:sp>
      <p:sp>
        <p:nvSpPr>
          <p:cNvPr name="TextBox 152" id="152"/>
          <p:cNvSpPr txBox="true"/>
          <p:nvPr/>
        </p:nvSpPr>
        <p:spPr>
          <a:xfrm rot="0">
            <a:off x="12238436" y="4464866"/>
            <a:ext cx="1209167" cy="247704"/>
          </a:xfrm>
          <a:prstGeom prst="rect">
            <a:avLst/>
          </a:prstGeom>
        </p:spPr>
        <p:txBody>
          <a:bodyPr anchor="t" rtlCol="false" tIns="0" lIns="0" bIns="0" rIns="0">
            <a:spAutoFit/>
          </a:bodyPr>
          <a:lstStyle/>
          <a:p>
            <a:pPr algn="l">
              <a:lnSpc>
                <a:spcPts val="1800"/>
              </a:lnSpc>
            </a:pPr>
            <a:r>
              <a:rPr lang="en-US" sz="1500" b="1">
                <a:solidFill>
                  <a:srgbClr val="100F0D"/>
                </a:solidFill>
                <a:latin typeface="Times New Roman"/>
                <a:ea typeface="Times New Roman"/>
                <a:cs typeface="Times New Roman"/>
                <a:sym typeface="Times New Roman"/>
              </a:rPr>
              <a:t>Infographic</a:t>
            </a:r>
          </a:p>
        </p:txBody>
      </p:sp>
      <p:sp>
        <p:nvSpPr>
          <p:cNvPr name="TextBox 153" id="153"/>
          <p:cNvSpPr txBox="true"/>
          <p:nvPr/>
        </p:nvSpPr>
        <p:spPr>
          <a:xfrm rot="0">
            <a:off x="12068344" y="5065574"/>
            <a:ext cx="1895438" cy="247704"/>
          </a:xfrm>
          <a:prstGeom prst="rect">
            <a:avLst/>
          </a:prstGeom>
        </p:spPr>
        <p:txBody>
          <a:bodyPr anchor="t" rtlCol="false" tIns="0" lIns="0" bIns="0" rIns="0">
            <a:spAutoFit/>
          </a:bodyPr>
          <a:lstStyle/>
          <a:p>
            <a:pPr algn="l">
              <a:lnSpc>
                <a:spcPts val="1800"/>
              </a:lnSpc>
            </a:pPr>
            <a:r>
              <a:rPr lang="en-US" sz="1500" b="1">
                <a:solidFill>
                  <a:srgbClr val="100F0D"/>
                </a:solidFill>
                <a:latin typeface="Times New Roman"/>
                <a:ea typeface="Times New Roman"/>
                <a:cs typeface="Times New Roman"/>
                <a:sym typeface="Times New Roman"/>
              </a:rPr>
              <a:t>Executive Summary</a:t>
            </a:r>
          </a:p>
        </p:txBody>
      </p:sp>
      <p:sp>
        <p:nvSpPr>
          <p:cNvPr name="TextBox 154" id="154"/>
          <p:cNvSpPr txBox="true"/>
          <p:nvPr/>
        </p:nvSpPr>
        <p:spPr>
          <a:xfrm rot="0">
            <a:off x="12234603" y="5571851"/>
            <a:ext cx="1212999" cy="247704"/>
          </a:xfrm>
          <a:prstGeom prst="rect">
            <a:avLst/>
          </a:prstGeom>
        </p:spPr>
        <p:txBody>
          <a:bodyPr anchor="t" rtlCol="false" tIns="0" lIns="0" bIns="0" rIns="0">
            <a:spAutoFit/>
          </a:bodyPr>
          <a:lstStyle/>
          <a:p>
            <a:pPr algn="l">
              <a:lnSpc>
                <a:spcPts val="1800"/>
              </a:lnSpc>
            </a:pPr>
            <a:r>
              <a:rPr lang="en-US" sz="1500" b="1">
                <a:solidFill>
                  <a:srgbClr val="100F0D"/>
                </a:solidFill>
                <a:latin typeface="Times New Roman"/>
                <a:ea typeface="Times New Roman"/>
                <a:cs typeface="Times New Roman"/>
                <a:sym typeface="Times New Roman"/>
              </a:rPr>
              <a:t>Presentation</a:t>
            </a:r>
          </a:p>
        </p:txBody>
      </p:sp>
      <p:sp>
        <p:nvSpPr>
          <p:cNvPr name="TextBox 155" id="155"/>
          <p:cNvSpPr txBox="true"/>
          <p:nvPr/>
        </p:nvSpPr>
        <p:spPr>
          <a:xfrm rot="0">
            <a:off x="12192154" y="2262856"/>
            <a:ext cx="1771628" cy="171477"/>
          </a:xfrm>
          <a:prstGeom prst="rect">
            <a:avLst/>
          </a:prstGeom>
        </p:spPr>
        <p:txBody>
          <a:bodyPr anchor="t" rtlCol="false" tIns="0" lIns="0" bIns="0" rIns="0">
            <a:spAutoFit/>
          </a:bodyPr>
          <a:lstStyle/>
          <a:p>
            <a:pPr algn="ctr">
              <a:lnSpc>
                <a:spcPts val="1279"/>
              </a:lnSpc>
            </a:pPr>
            <a:r>
              <a:rPr lang="en-US" sz="1066">
                <a:solidFill>
                  <a:srgbClr val="100F0D"/>
                </a:solidFill>
                <a:latin typeface="Times New Roman"/>
                <a:ea typeface="Times New Roman"/>
                <a:cs typeface="Times New Roman"/>
                <a:sym typeface="Times New Roman"/>
              </a:rPr>
              <a:t>Script • Storyboard • Narration</a:t>
            </a:r>
          </a:p>
        </p:txBody>
      </p:sp>
      <p:sp>
        <p:nvSpPr>
          <p:cNvPr name="TextBox 156" id="156"/>
          <p:cNvSpPr txBox="true"/>
          <p:nvPr/>
        </p:nvSpPr>
        <p:spPr>
          <a:xfrm rot="0">
            <a:off x="12130544" y="5837413"/>
            <a:ext cx="1497449" cy="171477"/>
          </a:xfrm>
          <a:prstGeom prst="rect">
            <a:avLst/>
          </a:prstGeom>
        </p:spPr>
        <p:txBody>
          <a:bodyPr anchor="t" rtlCol="false" tIns="0" lIns="0" bIns="0" rIns="0">
            <a:spAutoFit/>
          </a:bodyPr>
          <a:lstStyle/>
          <a:p>
            <a:pPr algn="ctr">
              <a:lnSpc>
                <a:spcPts val="1284"/>
              </a:lnSpc>
            </a:pPr>
            <a:r>
              <a:rPr lang="en-US" sz="1070">
                <a:solidFill>
                  <a:srgbClr val="100F0D"/>
                </a:solidFill>
                <a:latin typeface="Times New Roman"/>
                <a:ea typeface="Times New Roman"/>
                <a:cs typeface="Times New Roman"/>
                <a:sym typeface="Times New Roman"/>
              </a:rPr>
              <a:t>Slides + speaker notes</a:t>
            </a:r>
          </a:p>
        </p:txBody>
      </p:sp>
      <p:sp>
        <p:nvSpPr>
          <p:cNvPr name="TextBox 157" id="157"/>
          <p:cNvSpPr txBox="true"/>
          <p:nvPr/>
        </p:nvSpPr>
        <p:spPr>
          <a:xfrm rot="0">
            <a:off x="11322932" y="1468645"/>
            <a:ext cx="3311732" cy="276198"/>
          </a:xfrm>
          <a:prstGeom prst="rect">
            <a:avLst/>
          </a:prstGeom>
        </p:spPr>
        <p:txBody>
          <a:bodyPr anchor="t" rtlCol="false" tIns="0" lIns="0" bIns="0" rIns="0">
            <a:spAutoFit/>
          </a:bodyPr>
          <a:lstStyle/>
          <a:p>
            <a:pPr algn="ctr">
              <a:lnSpc>
                <a:spcPts val="2100"/>
              </a:lnSpc>
            </a:pPr>
            <a:r>
              <a:rPr lang="en-US" b="1" sz="1500">
                <a:solidFill>
                  <a:srgbClr val="000000"/>
                </a:solidFill>
                <a:latin typeface="Times New Roman"/>
                <a:ea typeface="Times New Roman"/>
                <a:cs typeface="Times New Roman"/>
                <a:sym typeface="Times New Roman"/>
              </a:rPr>
              <a:t>OUTPUT</a:t>
            </a:r>
          </a:p>
        </p:txBody>
      </p:sp>
      <p:sp>
        <p:nvSpPr>
          <p:cNvPr name="TextBox 158" id="158"/>
          <p:cNvSpPr txBox="true"/>
          <p:nvPr/>
        </p:nvSpPr>
        <p:spPr>
          <a:xfrm rot="0">
            <a:off x="15778889" y="1487695"/>
            <a:ext cx="1859973" cy="257148"/>
          </a:xfrm>
          <a:prstGeom prst="rect">
            <a:avLst/>
          </a:prstGeom>
        </p:spPr>
        <p:txBody>
          <a:bodyPr anchor="t" rtlCol="false" tIns="0" lIns="0" bIns="0" rIns="0">
            <a:spAutoFit/>
          </a:bodyPr>
          <a:lstStyle/>
          <a:p>
            <a:pPr algn="l">
              <a:lnSpc>
                <a:spcPts val="2100"/>
              </a:lnSpc>
            </a:pPr>
            <a:r>
              <a:rPr lang="en-US" b="1" sz="1500">
                <a:solidFill>
                  <a:srgbClr val="000000"/>
                </a:solidFill>
                <a:latin typeface="Times New Roman"/>
                <a:ea typeface="Times New Roman"/>
                <a:cs typeface="Times New Roman"/>
                <a:sym typeface="Times New Roman"/>
              </a:rPr>
              <a:t>OUTPUT DELIVERY</a:t>
            </a:r>
          </a:p>
        </p:txBody>
      </p:sp>
      <p:sp>
        <p:nvSpPr>
          <p:cNvPr name="TextBox 159" id="159"/>
          <p:cNvSpPr txBox="true"/>
          <p:nvPr/>
        </p:nvSpPr>
        <p:spPr>
          <a:xfrm rot="0">
            <a:off x="15240000" y="2047766"/>
            <a:ext cx="2622065" cy="488823"/>
          </a:xfrm>
          <a:prstGeom prst="rect">
            <a:avLst/>
          </a:prstGeom>
        </p:spPr>
        <p:txBody>
          <a:bodyPr anchor="t" rtlCol="false" tIns="0" lIns="0" bIns="0" rIns="0">
            <a:spAutoFit/>
          </a:bodyPr>
          <a:lstStyle/>
          <a:p>
            <a:pPr algn="l">
              <a:lnSpc>
                <a:spcPts val="1931"/>
              </a:lnSpc>
            </a:pPr>
            <a:r>
              <a:rPr lang="en-US" sz="1379">
                <a:solidFill>
                  <a:srgbClr val="100F0D"/>
                </a:solidFill>
                <a:latin typeface="Times New Roman"/>
                <a:ea typeface="Times New Roman"/>
                <a:cs typeface="Times New Roman"/>
                <a:sym typeface="Times New Roman"/>
              </a:rPr>
              <a:t>Review in the dashboard, then download:</a:t>
            </a:r>
          </a:p>
        </p:txBody>
      </p:sp>
      <p:sp>
        <p:nvSpPr>
          <p:cNvPr name="TextBox 160" id="160"/>
          <p:cNvSpPr txBox="true"/>
          <p:nvPr/>
        </p:nvSpPr>
        <p:spPr>
          <a:xfrm rot="0">
            <a:off x="14405895" y="7391456"/>
            <a:ext cx="2302980" cy="453517"/>
          </a:xfrm>
          <a:prstGeom prst="rect">
            <a:avLst/>
          </a:prstGeom>
        </p:spPr>
        <p:txBody>
          <a:bodyPr anchor="t" rtlCol="false" tIns="0" lIns="0" bIns="0" rIns="0">
            <a:spAutoFit/>
          </a:bodyPr>
          <a:lstStyle/>
          <a:p>
            <a:pPr algn="l">
              <a:lnSpc>
                <a:spcPts val="1843"/>
              </a:lnSpc>
            </a:pPr>
            <a:r>
              <a:rPr lang="en-US" sz="1316" b="1">
                <a:solidFill>
                  <a:srgbClr val="9A6700"/>
                </a:solidFill>
                <a:latin typeface="Times New Roman"/>
                <a:ea typeface="Times New Roman"/>
                <a:cs typeface="Times New Roman"/>
                <a:sym typeface="Times New Roman"/>
              </a:rPr>
              <a:t>PLANNED: </a:t>
            </a:r>
            <a:r>
              <a:rPr lang="en-US" sz="1316" b="1">
                <a:solidFill>
                  <a:srgbClr val="3A20D8"/>
                </a:solidFill>
                <a:latin typeface="Times New Roman"/>
                <a:ea typeface="Times New Roman"/>
                <a:cs typeface="Times New Roman"/>
                <a:sym typeface="Times New Roman"/>
              </a:rPr>
              <a:t>anchor approved hashes on a blockchain</a:t>
            </a:r>
          </a:p>
        </p:txBody>
      </p:sp>
      <p:sp>
        <p:nvSpPr>
          <p:cNvPr name="TextBox 161" id="161"/>
          <p:cNvSpPr txBox="true"/>
          <p:nvPr/>
        </p:nvSpPr>
        <p:spPr>
          <a:xfrm rot="0">
            <a:off x="4626800" y="6696215"/>
            <a:ext cx="3605119" cy="276198"/>
          </a:xfrm>
          <a:prstGeom prst="rect">
            <a:avLst/>
          </a:prstGeom>
        </p:spPr>
        <p:txBody>
          <a:bodyPr anchor="t" rtlCol="false" tIns="0" lIns="0" bIns="0" rIns="0">
            <a:spAutoFit/>
          </a:bodyPr>
          <a:lstStyle/>
          <a:p>
            <a:pPr algn="ctr">
              <a:lnSpc>
                <a:spcPts val="2100"/>
              </a:lnSpc>
            </a:pPr>
            <a:r>
              <a:rPr lang="en-US" b="1" sz="1500">
                <a:solidFill>
                  <a:srgbClr val="000000"/>
                </a:solidFill>
                <a:latin typeface="Times New Roman"/>
                <a:ea typeface="Times New Roman"/>
                <a:cs typeface="Times New Roman"/>
                <a:sym typeface="Times New Roman"/>
              </a:rPr>
              <a:t>DATA STORAGE AND MANAGEMENT</a:t>
            </a:r>
          </a:p>
        </p:txBody>
      </p:sp>
      <p:sp>
        <p:nvSpPr>
          <p:cNvPr id="162" name="Rounded Rectangle 161"/>
          <p:cNvSpPr/>
          <p:nvPr/>
        </p:nvSpPr>
        <p:spPr>
          <a:xfrm>
            <a:off x="15343632" y="2743200"/>
            <a:ext cx="2487168" cy="566928"/>
          </a:xfrm>
          <a:prstGeom prst="roundRect">
            <a:avLst>
              <a:gd name="adj" fmla="val 19354"/>
            </a:avLst>
          </a:prstGeom>
          <a:solidFill>
            <a:srgbClr val="FFFFFF"/>
          </a:solidFill>
          <a:ln w="12700">
            <a:solidFill>
              <a:srgbClr val="F3C9DA"/>
            </a:solidFill>
          </a:ln>
          <a:effectLst/>
        </p:spPr>
        <p:txBody>
          <a:bodyPr rtlCol="0" anchor="ctr"/>
          <a:lstStyle/>
          <a:p>
            <a:pPr algn="ctr"/>
          </a:p>
        </p:txBody>
      </p:sp>
      <p:sp>
        <p:nvSpPr>
          <p:cNvPr id="163" name="Rounded Rectangle 162"/>
          <p:cNvSpPr/>
          <p:nvPr/>
        </p:nvSpPr>
        <p:spPr>
          <a:xfrm>
            <a:off x="15435072" y="2852928"/>
            <a:ext cx="932688" cy="347472"/>
          </a:xfrm>
          <a:prstGeom prst="roundRect">
            <a:avLst>
              <a:gd name="adj" fmla="val 50000"/>
            </a:avLst>
          </a:prstGeom>
          <a:solidFill>
            <a:srgbClr val="5641F4"/>
          </a:solidFill>
          <a:ln>
            <a:noFill/>
          </a:ln>
          <a:effectLst/>
        </p:spPr>
        <p:txBody>
          <a:bodyPr rtlCol="0" anchor="ctr"/>
          <a:lstStyle/>
          <a:p>
            <a:pPr algn="ctr"/>
          </a:p>
        </p:txBody>
      </p:sp>
      <p:sp>
        <p:nvSpPr>
          <p:cNvPr id="164" name="TextBox 163"/>
          <p:cNvSpPr txBox="1"/>
          <p:nvPr/>
        </p:nvSpPr>
        <p:spPr>
          <a:xfrm>
            <a:off x="15435072" y="2852928"/>
            <a:ext cx="932688" cy="347472"/>
          </a:xfrm>
          <a:prstGeom prst="rect">
            <a:avLst/>
          </a:prstGeom>
          <a:noFill/>
        </p:spPr>
        <p:txBody>
          <a:bodyPr wrap="square" lIns="0" rIns="0" tIns="0" bIns="0" anchor="ctr">
            <a:noAutofit/>
          </a:bodyPr>
          <a:lstStyle/>
          <a:p>
            <a:pPr algn="ctr"/>
            <a:r>
              <a:rPr sz="1250" b="1" i="0">
                <a:solidFill>
                  <a:srgbClr val="FFFFFF"/>
                </a:solidFill>
                <a:latin typeface="Times New Roman"/>
              </a:rPr>
              <a:t>.pptx</a:t>
            </a:r>
          </a:p>
        </p:txBody>
      </p:sp>
      <p:sp>
        <p:nvSpPr>
          <p:cNvPr id="165" name="TextBox 164"/>
          <p:cNvSpPr txBox="1"/>
          <p:nvPr/>
        </p:nvSpPr>
        <p:spPr>
          <a:xfrm>
            <a:off x="16459200" y="2779776"/>
            <a:ext cx="1316736" cy="493776"/>
          </a:xfrm>
          <a:prstGeom prst="rect">
            <a:avLst/>
          </a:prstGeom>
          <a:noFill/>
        </p:spPr>
        <p:txBody>
          <a:bodyPr wrap="square" lIns="0" rIns="0" tIns="0" bIns="0" anchor="ctr">
            <a:noAutofit/>
          </a:bodyPr>
          <a:lstStyle/>
          <a:p>
            <a:pPr algn="l"/>
            <a:r>
              <a:rPr sz="1200" b="0" i="0">
                <a:solidFill>
                  <a:srgbClr val="111111"/>
                </a:solidFill>
                <a:latin typeface="Times New Roman"/>
              </a:rPr>
              <a:t>Presentation</a:t>
            </a:r>
          </a:p>
        </p:txBody>
      </p:sp>
      <p:sp>
        <p:nvSpPr>
          <p:cNvPr id="166" name="Rounded Rectangle 165"/>
          <p:cNvSpPr/>
          <p:nvPr/>
        </p:nvSpPr>
        <p:spPr>
          <a:xfrm>
            <a:off x="15343632" y="3456432"/>
            <a:ext cx="2487168" cy="566928"/>
          </a:xfrm>
          <a:prstGeom prst="roundRect">
            <a:avLst>
              <a:gd name="adj" fmla="val 19354"/>
            </a:avLst>
          </a:prstGeom>
          <a:solidFill>
            <a:srgbClr val="FFFFFF"/>
          </a:solidFill>
          <a:ln w="12700">
            <a:solidFill>
              <a:srgbClr val="F3C9DA"/>
            </a:solidFill>
          </a:ln>
          <a:effectLst/>
        </p:spPr>
        <p:txBody>
          <a:bodyPr rtlCol="0" anchor="ctr"/>
          <a:lstStyle/>
          <a:p>
            <a:pPr algn="ctr"/>
          </a:p>
        </p:txBody>
      </p:sp>
      <p:sp>
        <p:nvSpPr>
          <p:cNvPr id="167" name="Rounded Rectangle 166"/>
          <p:cNvSpPr/>
          <p:nvPr/>
        </p:nvSpPr>
        <p:spPr>
          <a:xfrm>
            <a:off x="15435072" y="3566160"/>
            <a:ext cx="932688" cy="347472"/>
          </a:xfrm>
          <a:prstGeom prst="roundRect">
            <a:avLst>
              <a:gd name="adj" fmla="val 50000"/>
            </a:avLst>
          </a:prstGeom>
          <a:solidFill>
            <a:srgbClr val="5641F4"/>
          </a:solidFill>
          <a:ln>
            <a:noFill/>
          </a:ln>
          <a:effectLst/>
        </p:spPr>
        <p:txBody>
          <a:bodyPr rtlCol="0" anchor="ctr"/>
          <a:lstStyle/>
          <a:p>
            <a:pPr algn="ctr"/>
          </a:p>
        </p:txBody>
      </p:sp>
      <p:sp>
        <p:nvSpPr>
          <p:cNvPr id="168" name="TextBox 167"/>
          <p:cNvSpPr txBox="1"/>
          <p:nvPr/>
        </p:nvSpPr>
        <p:spPr>
          <a:xfrm>
            <a:off x="15435072" y="3566160"/>
            <a:ext cx="932688" cy="347472"/>
          </a:xfrm>
          <a:prstGeom prst="rect">
            <a:avLst/>
          </a:prstGeom>
          <a:noFill/>
        </p:spPr>
        <p:txBody>
          <a:bodyPr wrap="square" lIns="0" rIns="0" tIns="0" bIns="0" anchor="ctr">
            <a:noAutofit/>
          </a:bodyPr>
          <a:lstStyle/>
          <a:p>
            <a:pPr algn="ctr"/>
            <a:r>
              <a:rPr sz="1250" b="1" i="0">
                <a:solidFill>
                  <a:srgbClr val="FFFFFF"/>
                </a:solidFill>
                <a:latin typeface="Times New Roman"/>
              </a:rPr>
              <a:t>.docx</a:t>
            </a:r>
          </a:p>
        </p:txBody>
      </p:sp>
      <p:sp>
        <p:nvSpPr>
          <p:cNvPr id="169" name="TextBox 168"/>
          <p:cNvSpPr txBox="1"/>
          <p:nvPr/>
        </p:nvSpPr>
        <p:spPr>
          <a:xfrm>
            <a:off x="16459200" y="3493008"/>
            <a:ext cx="1316736" cy="493776"/>
          </a:xfrm>
          <a:prstGeom prst="rect">
            <a:avLst/>
          </a:prstGeom>
          <a:noFill/>
        </p:spPr>
        <p:txBody>
          <a:bodyPr wrap="square" lIns="0" rIns="0" tIns="0" bIns="0" anchor="ctr">
            <a:noAutofit/>
          </a:bodyPr>
          <a:lstStyle/>
          <a:p>
            <a:pPr algn="l"/>
            <a:r>
              <a:rPr sz="1200" b="0" i="0">
                <a:solidFill>
                  <a:srgbClr val="111111"/>
                </a:solidFill>
                <a:latin typeface="Times New Roman"/>
              </a:rPr>
              <a:t>Advisory, summary, video</a:t>
            </a:r>
          </a:p>
        </p:txBody>
      </p:sp>
      <p:sp>
        <p:nvSpPr>
          <p:cNvPr id="170" name="Rounded Rectangle 169"/>
          <p:cNvSpPr/>
          <p:nvPr/>
        </p:nvSpPr>
        <p:spPr>
          <a:xfrm>
            <a:off x="15343632" y="4169664"/>
            <a:ext cx="2487168" cy="566928"/>
          </a:xfrm>
          <a:prstGeom prst="roundRect">
            <a:avLst>
              <a:gd name="adj" fmla="val 19354"/>
            </a:avLst>
          </a:prstGeom>
          <a:solidFill>
            <a:srgbClr val="FFFFFF"/>
          </a:solidFill>
          <a:ln w="12700">
            <a:solidFill>
              <a:srgbClr val="F3C9DA"/>
            </a:solidFill>
          </a:ln>
          <a:effectLst/>
        </p:spPr>
        <p:txBody>
          <a:bodyPr rtlCol="0" anchor="ctr"/>
          <a:lstStyle/>
          <a:p>
            <a:pPr algn="ctr"/>
          </a:p>
        </p:txBody>
      </p:sp>
      <p:sp>
        <p:nvSpPr>
          <p:cNvPr id="171" name="Rounded Rectangle 170"/>
          <p:cNvSpPr/>
          <p:nvPr/>
        </p:nvSpPr>
        <p:spPr>
          <a:xfrm>
            <a:off x="15435072" y="4279392"/>
            <a:ext cx="932688" cy="347472"/>
          </a:xfrm>
          <a:prstGeom prst="roundRect">
            <a:avLst>
              <a:gd name="adj" fmla="val 50000"/>
            </a:avLst>
          </a:prstGeom>
          <a:solidFill>
            <a:srgbClr val="5641F4"/>
          </a:solidFill>
          <a:ln>
            <a:noFill/>
          </a:ln>
          <a:effectLst/>
        </p:spPr>
        <p:txBody>
          <a:bodyPr rtlCol="0" anchor="ctr"/>
          <a:lstStyle/>
          <a:p>
            <a:pPr algn="ctr"/>
          </a:p>
        </p:txBody>
      </p:sp>
      <p:sp>
        <p:nvSpPr>
          <p:cNvPr id="172" name="TextBox 171"/>
          <p:cNvSpPr txBox="1"/>
          <p:nvPr/>
        </p:nvSpPr>
        <p:spPr>
          <a:xfrm>
            <a:off x="15435072" y="4279392"/>
            <a:ext cx="932688" cy="347472"/>
          </a:xfrm>
          <a:prstGeom prst="rect">
            <a:avLst/>
          </a:prstGeom>
          <a:noFill/>
        </p:spPr>
        <p:txBody>
          <a:bodyPr wrap="square" lIns="0" rIns="0" tIns="0" bIns="0" anchor="ctr">
            <a:noAutofit/>
          </a:bodyPr>
          <a:lstStyle/>
          <a:p>
            <a:pPr algn="ctr"/>
            <a:r>
              <a:rPr sz="1250" b="1" i="0">
                <a:solidFill>
                  <a:srgbClr val="FFFFFF"/>
                </a:solidFill>
                <a:latin typeface="Times New Roman"/>
              </a:rPr>
              <a:t>.srt</a:t>
            </a:r>
          </a:p>
        </p:txBody>
      </p:sp>
      <p:sp>
        <p:nvSpPr>
          <p:cNvPr id="173" name="TextBox 172"/>
          <p:cNvSpPr txBox="1"/>
          <p:nvPr/>
        </p:nvSpPr>
        <p:spPr>
          <a:xfrm>
            <a:off x="16459200" y="4206240"/>
            <a:ext cx="1316736" cy="493776"/>
          </a:xfrm>
          <a:prstGeom prst="rect">
            <a:avLst/>
          </a:prstGeom>
          <a:noFill/>
        </p:spPr>
        <p:txBody>
          <a:bodyPr wrap="square" lIns="0" rIns="0" tIns="0" bIns="0" anchor="ctr">
            <a:noAutofit/>
          </a:bodyPr>
          <a:lstStyle/>
          <a:p>
            <a:pPr algn="l"/>
            <a:r>
              <a:rPr sz="1200" b="0" i="0">
                <a:solidFill>
                  <a:srgbClr val="111111"/>
                </a:solidFill>
                <a:latin typeface="Times New Roman"/>
              </a:rPr>
              <a:t>Video subtitles</a:t>
            </a:r>
          </a:p>
        </p:txBody>
      </p:sp>
      <p:sp>
        <p:nvSpPr>
          <p:cNvPr id="174" name="Rounded Rectangle 173"/>
          <p:cNvSpPr/>
          <p:nvPr/>
        </p:nvSpPr>
        <p:spPr>
          <a:xfrm>
            <a:off x="15343632" y="4882896"/>
            <a:ext cx="2487168" cy="566928"/>
          </a:xfrm>
          <a:prstGeom prst="roundRect">
            <a:avLst>
              <a:gd name="adj" fmla="val 19354"/>
            </a:avLst>
          </a:prstGeom>
          <a:solidFill>
            <a:srgbClr val="FFFFFF"/>
          </a:solidFill>
          <a:ln w="12700">
            <a:solidFill>
              <a:srgbClr val="F3C9DA"/>
            </a:solidFill>
          </a:ln>
          <a:effectLst/>
        </p:spPr>
        <p:txBody>
          <a:bodyPr rtlCol="0" anchor="ctr"/>
          <a:lstStyle/>
          <a:p>
            <a:pPr algn="ctr"/>
          </a:p>
        </p:txBody>
      </p:sp>
      <p:sp>
        <p:nvSpPr>
          <p:cNvPr id="175" name="Rounded Rectangle 174"/>
          <p:cNvSpPr/>
          <p:nvPr/>
        </p:nvSpPr>
        <p:spPr>
          <a:xfrm>
            <a:off x="15435072" y="4992624"/>
            <a:ext cx="932688" cy="347472"/>
          </a:xfrm>
          <a:prstGeom prst="roundRect">
            <a:avLst>
              <a:gd name="adj" fmla="val 50000"/>
            </a:avLst>
          </a:prstGeom>
          <a:solidFill>
            <a:srgbClr val="5641F4"/>
          </a:solidFill>
          <a:ln>
            <a:noFill/>
          </a:ln>
          <a:effectLst/>
        </p:spPr>
        <p:txBody>
          <a:bodyPr rtlCol="0" anchor="ctr"/>
          <a:lstStyle/>
          <a:p>
            <a:pPr algn="ctr"/>
          </a:p>
        </p:txBody>
      </p:sp>
      <p:sp>
        <p:nvSpPr>
          <p:cNvPr id="176" name="TextBox 175"/>
          <p:cNvSpPr txBox="1"/>
          <p:nvPr/>
        </p:nvSpPr>
        <p:spPr>
          <a:xfrm>
            <a:off x="15435072" y="4992624"/>
            <a:ext cx="932688" cy="347472"/>
          </a:xfrm>
          <a:prstGeom prst="rect">
            <a:avLst/>
          </a:prstGeom>
          <a:noFill/>
        </p:spPr>
        <p:txBody>
          <a:bodyPr wrap="square" lIns="0" rIns="0" tIns="0" bIns="0" anchor="ctr">
            <a:noAutofit/>
          </a:bodyPr>
          <a:lstStyle/>
          <a:p>
            <a:pPr algn="ctr"/>
            <a:r>
              <a:rPr sz="1250" b="1" i="0">
                <a:solidFill>
                  <a:srgbClr val="FFFFFF"/>
                </a:solidFill>
                <a:latin typeface="Times New Roman"/>
              </a:rPr>
              <a:t>HTML</a:t>
            </a:r>
          </a:p>
        </p:txBody>
      </p:sp>
      <p:sp>
        <p:nvSpPr>
          <p:cNvPr id="177" name="TextBox 176"/>
          <p:cNvSpPr txBox="1"/>
          <p:nvPr/>
        </p:nvSpPr>
        <p:spPr>
          <a:xfrm>
            <a:off x="16459200" y="4919472"/>
            <a:ext cx="1316736" cy="493776"/>
          </a:xfrm>
          <a:prstGeom prst="rect">
            <a:avLst/>
          </a:prstGeom>
          <a:noFill/>
        </p:spPr>
        <p:txBody>
          <a:bodyPr wrap="square" lIns="0" rIns="0" tIns="0" bIns="0" anchor="ctr">
            <a:noAutofit/>
          </a:bodyPr>
          <a:lstStyle/>
          <a:p>
            <a:pPr algn="l"/>
            <a:r>
              <a:rPr sz="1200" b="0" i="0">
                <a:solidFill>
                  <a:srgbClr val="111111"/>
                </a:solidFill>
                <a:latin typeface="Times New Roman"/>
              </a:rPr>
              <a:t>Infographic</a:t>
            </a:r>
          </a:p>
        </p:txBody>
      </p:sp>
      <p:sp>
        <p:nvSpPr>
          <p:cNvPr id="178" name="Rounded Rectangle 177"/>
          <p:cNvSpPr/>
          <p:nvPr/>
        </p:nvSpPr>
        <p:spPr>
          <a:xfrm>
            <a:off x="15343632" y="5596128"/>
            <a:ext cx="2487168" cy="566928"/>
          </a:xfrm>
          <a:prstGeom prst="roundRect">
            <a:avLst>
              <a:gd name="adj" fmla="val 19354"/>
            </a:avLst>
          </a:prstGeom>
          <a:solidFill>
            <a:srgbClr val="FFFFFF"/>
          </a:solidFill>
          <a:ln w="12700">
            <a:solidFill>
              <a:srgbClr val="F3C9DA"/>
            </a:solidFill>
          </a:ln>
          <a:effectLst/>
        </p:spPr>
        <p:txBody>
          <a:bodyPr rtlCol="0" anchor="ctr"/>
          <a:lstStyle/>
          <a:p>
            <a:pPr algn="ctr"/>
          </a:p>
        </p:txBody>
      </p:sp>
      <p:sp>
        <p:nvSpPr>
          <p:cNvPr id="179" name="Rounded Rectangle 178"/>
          <p:cNvSpPr/>
          <p:nvPr/>
        </p:nvSpPr>
        <p:spPr>
          <a:xfrm>
            <a:off x="15435072" y="5705856"/>
            <a:ext cx="932688" cy="347472"/>
          </a:xfrm>
          <a:prstGeom prst="roundRect">
            <a:avLst>
              <a:gd name="adj" fmla="val 50000"/>
            </a:avLst>
          </a:prstGeom>
          <a:solidFill>
            <a:srgbClr val="5641F4"/>
          </a:solidFill>
          <a:ln>
            <a:noFill/>
          </a:ln>
          <a:effectLst/>
        </p:spPr>
        <p:txBody>
          <a:bodyPr rtlCol="0" anchor="ctr"/>
          <a:lstStyle/>
          <a:p>
            <a:pPr algn="ctr"/>
          </a:p>
        </p:txBody>
      </p:sp>
      <p:sp>
        <p:nvSpPr>
          <p:cNvPr id="180" name="TextBox 179"/>
          <p:cNvSpPr txBox="1"/>
          <p:nvPr/>
        </p:nvSpPr>
        <p:spPr>
          <a:xfrm>
            <a:off x="15435072" y="5705856"/>
            <a:ext cx="932688" cy="347472"/>
          </a:xfrm>
          <a:prstGeom prst="rect">
            <a:avLst/>
          </a:prstGeom>
          <a:noFill/>
        </p:spPr>
        <p:txBody>
          <a:bodyPr wrap="square" lIns="0" rIns="0" tIns="0" bIns="0" anchor="ctr">
            <a:noAutofit/>
          </a:bodyPr>
          <a:lstStyle/>
          <a:p>
            <a:pPr algn="ctr"/>
            <a:r>
              <a:rPr sz="1250" b="1" i="0">
                <a:solidFill>
                  <a:srgbClr val="FFFFFF"/>
                </a:solidFill>
                <a:latin typeface="Times New Roman"/>
              </a:rPr>
              <a:t>.md .json</a:t>
            </a:r>
          </a:p>
        </p:txBody>
      </p:sp>
      <p:sp>
        <p:nvSpPr>
          <p:cNvPr id="181" name="TextBox 180"/>
          <p:cNvSpPr txBox="1"/>
          <p:nvPr/>
        </p:nvSpPr>
        <p:spPr>
          <a:xfrm>
            <a:off x="16459200" y="5632704"/>
            <a:ext cx="1316736" cy="493776"/>
          </a:xfrm>
          <a:prstGeom prst="rect">
            <a:avLst/>
          </a:prstGeom>
          <a:noFill/>
        </p:spPr>
        <p:txBody>
          <a:bodyPr wrap="square" lIns="0" rIns="0" tIns="0" bIns="0" anchor="ctr">
            <a:noAutofit/>
          </a:bodyPr>
          <a:lstStyle/>
          <a:p>
            <a:pPr algn="l"/>
            <a:r>
              <a:rPr sz="1200" b="0" i="0">
                <a:solidFill>
                  <a:srgbClr val="111111"/>
                </a:solidFill>
                <a:latin typeface="Times New Roman"/>
              </a:rPr>
              <a:t>Every output</a:t>
            </a:r>
          </a:p>
        </p:txBody>
      </p:sp>
      <p:sp>
        <p:nvSpPr>
          <p:cNvPr id="182" name="Rounded Rectangle 181"/>
          <p:cNvSpPr/>
          <p:nvPr/>
        </p:nvSpPr>
        <p:spPr>
          <a:xfrm>
            <a:off x="4224528" y="7095744"/>
            <a:ext cx="3182112" cy="786384"/>
          </a:xfrm>
          <a:prstGeom prst="roundRect">
            <a:avLst>
              <a:gd name="adj" fmla="val 11627"/>
            </a:avLst>
          </a:prstGeom>
          <a:solidFill>
            <a:srgbClr val="FFFFFF"/>
          </a:solidFill>
          <a:ln w="12700">
            <a:solidFill>
              <a:srgbClr val="D9D2FA"/>
            </a:solidFill>
          </a:ln>
          <a:effectLst/>
        </p:spPr>
        <p:txBody>
          <a:bodyPr rtlCol="0" anchor="ctr"/>
          <a:lstStyle/>
          <a:p>
            <a:pPr algn="ctr"/>
          </a:p>
        </p:txBody>
      </p:sp>
      <p:sp>
        <p:nvSpPr>
          <p:cNvPr id="183" name="Oval 182"/>
          <p:cNvSpPr/>
          <p:nvPr/>
        </p:nvSpPr>
        <p:spPr>
          <a:xfrm>
            <a:off x="4334256" y="7260336"/>
            <a:ext cx="457200" cy="457200"/>
          </a:xfrm>
          <a:prstGeom prst="ellipse">
            <a:avLst/>
          </a:prstGeom>
          <a:solidFill>
            <a:srgbClr val="E5E1FA"/>
          </a:solidFill>
          <a:ln>
            <a:noFill/>
          </a:ln>
          <a:effectLst/>
        </p:spPr>
        <p:txBody>
          <a:bodyPr rtlCol="0" anchor="ctr"/>
          <a:lstStyle/>
          <a:p>
            <a:pPr algn="ctr"/>
          </a:p>
        </p:txBody>
      </p:sp>
      <p:pic>
        <p:nvPicPr>
          <p:cNvPr id="184" name="Picture 183" descr="LuDatabase-purple.png"/>
          <p:cNvPicPr>
            <a:picLocks noChangeAspect="1"/>
          </p:cNvPicPr>
          <p:nvPr/>
        </p:nvPicPr>
        <p:blipFill>
          <a:blip r:embed="rId48"/>
          <a:stretch>
            <a:fillRect/>
          </a:stretch>
        </p:blipFill>
        <p:spPr>
          <a:xfrm>
            <a:off x="4421124" y="7347204"/>
            <a:ext cx="283464" cy="283464"/>
          </a:xfrm>
          <a:prstGeom prst="rect">
            <a:avLst/>
          </a:prstGeom>
        </p:spPr>
      </p:pic>
      <p:sp>
        <p:nvSpPr>
          <p:cNvPr id="185" name="TextBox 184"/>
          <p:cNvSpPr txBox="1"/>
          <p:nvPr/>
        </p:nvSpPr>
        <p:spPr>
          <a:xfrm>
            <a:off x="4901184" y="7150608"/>
            <a:ext cx="2414016" cy="256032"/>
          </a:xfrm>
          <a:prstGeom prst="rect">
            <a:avLst/>
          </a:prstGeom>
          <a:noFill/>
        </p:spPr>
        <p:txBody>
          <a:bodyPr wrap="square" lIns="0" rIns="0" tIns="0" bIns="0" anchor="t">
            <a:noAutofit/>
          </a:bodyPr>
          <a:lstStyle/>
          <a:p>
            <a:pPr algn="l"/>
            <a:r>
              <a:rPr sz="1350" b="1" i="0">
                <a:solidFill>
                  <a:srgbClr val="1B1340"/>
                </a:solidFill>
                <a:latin typeface="Times New Roman"/>
              </a:rPr>
              <a:t>Data store</a:t>
            </a:r>
          </a:p>
        </p:txBody>
      </p:sp>
      <p:sp>
        <p:nvSpPr>
          <p:cNvPr id="186" name="TextBox 185"/>
          <p:cNvSpPr txBox="1"/>
          <p:nvPr/>
        </p:nvSpPr>
        <p:spPr>
          <a:xfrm>
            <a:off x="4901184" y="7406640"/>
            <a:ext cx="2414016" cy="457200"/>
          </a:xfrm>
          <a:prstGeom prst="rect">
            <a:avLst/>
          </a:prstGeom>
          <a:noFill/>
        </p:spPr>
        <p:txBody>
          <a:bodyPr wrap="square" lIns="0" rIns="0" tIns="0" bIns="0" anchor="t">
            <a:noAutofit/>
          </a:bodyPr>
          <a:lstStyle/>
          <a:p>
            <a:pPr algn="l"/>
            <a:r>
              <a:rPr sz="1150" b="0" i="0">
                <a:solidFill>
                  <a:srgbClr val="2E2A40"/>
                </a:solidFill>
                <a:latin typeface="Times New Roman"/>
              </a:rPr>
              <a:t>SQLite (zero setup) or PostgreSQL 16</a:t>
            </a:r>
          </a:p>
        </p:txBody>
      </p:sp>
      <p:sp>
        <p:nvSpPr>
          <p:cNvPr id="187" name="Rounded Rectangle 186"/>
          <p:cNvSpPr/>
          <p:nvPr/>
        </p:nvSpPr>
        <p:spPr>
          <a:xfrm>
            <a:off x="7552944" y="7095744"/>
            <a:ext cx="3182112" cy="786384"/>
          </a:xfrm>
          <a:prstGeom prst="roundRect">
            <a:avLst>
              <a:gd name="adj" fmla="val 11627"/>
            </a:avLst>
          </a:prstGeom>
          <a:solidFill>
            <a:srgbClr val="FFFFFF"/>
          </a:solidFill>
          <a:ln w="12700">
            <a:solidFill>
              <a:srgbClr val="D9D2FA"/>
            </a:solidFill>
          </a:ln>
          <a:effectLst/>
        </p:spPr>
        <p:txBody>
          <a:bodyPr rtlCol="0" anchor="ctr"/>
          <a:lstStyle/>
          <a:p>
            <a:pPr algn="ctr"/>
          </a:p>
        </p:txBody>
      </p:sp>
      <p:sp>
        <p:nvSpPr>
          <p:cNvPr id="188" name="Oval 187"/>
          <p:cNvSpPr/>
          <p:nvPr/>
        </p:nvSpPr>
        <p:spPr>
          <a:xfrm>
            <a:off x="7662671" y="7260336"/>
            <a:ext cx="457200" cy="457200"/>
          </a:xfrm>
          <a:prstGeom prst="ellipse">
            <a:avLst/>
          </a:prstGeom>
          <a:solidFill>
            <a:srgbClr val="E5E1FA"/>
          </a:solidFill>
          <a:ln>
            <a:noFill/>
          </a:ln>
          <a:effectLst/>
        </p:spPr>
        <p:txBody>
          <a:bodyPr rtlCol="0" anchor="ctr"/>
          <a:lstStyle/>
          <a:p>
            <a:pPr algn="ctr"/>
          </a:p>
        </p:txBody>
      </p:sp>
      <p:pic>
        <p:nvPicPr>
          <p:cNvPr id="189" name="Picture 188" descr="LuFileJson-purple.png"/>
          <p:cNvPicPr>
            <a:picLocks noChangeAspect="1"/>
          </p:cNvPicPr>
          <p:nvPr/>
        </p:nvPicPr>
        <p:blipFill>
          <a:blip r:embed="rId49"/>
          <a:stretch>
            <a:fillRect/>
          </a:stretch>
        </p:blipFill>
        <p:spPr>
          <a:xfrm>
            <a:off x="7749540" y="7347204"/>
            <a:ext cx="283464" cy="283464"/>
          </a:xfrm>
          <a:prstGeom prst="rect">
            <a:avLst/>
          </a:prstGeom>
        </p:spPr>
      </p:pic>
      <p:sp>
        <p:nvSpPr>
          <p:cNvPr id="190" name="TextBox 189"/>
          <p:cNvSpPr txBox="1"/>
          <p:nvPr/>
        </p:nvSpPr>
        <p:spPr>
          <a:xfrm>
            <a:off x="8229600" y="7150608"/>
            <a:ext cx="2414016" cy="256032"/>
          </a:xfrm>
          <a:prstGeom prst="rect">
            <a:avLst/>
          </a:prstGeom>
          <a:noFill/>
        </p:spPr>
        <p:txBody>
          <a:bodyPr wrap="square" lIns="0" rIns="0" tIns="0" bIns="0" anchor="t">
            <a:noAutofit/>
          </a:bodyPr>
          <a:lstStyle/>
          <a:p>
            <a:pPr algn="l"/>
            <a:r>
              <a:rPr sz="1350" b="1" i="0">
                <a:solidFill>
                  <a:srgbClr val="1B1340"/>
                </a:solidFill>
                <a:latin typeface="Times New Roman"/>
              </a:rPr>
              <a:t>Jobs &amp; artefacts</a:t>
            </a:r>
          </a:p>
        </p:txBody>
      </p:sp>
      <p:sp>
        <p:nvSpPr>
          <p:cNvPr id="191" name="TextBox 190"/>
          <p:cNvSpPr txBox="1"/>
          <p:nvPr/>
        </p:nvSpPr>
        <p:spPr>
          <a:xfrm>
            <a:off x="8229600" y="7406640"/>
            <a:ext cx="2414016" cy="457200"/>
          </a:xfrm>
          <a:prstGeom prst="rect">
            <a:avLst/>
          </a:prstGeom>
          <a:noFill/>
        </p:spPr>
        <p:txBody>
          <a:bodyPr wrap="square" lIns="0" rIns="0" tIns="0" bIns="0" anchor="t">
            <a:noAutofit/>
          </a:bodyPr>
          <a:lstStyle/>
          <a:p>
            <a:pPr algn="l"/>
            <a:r>
              <a:rPr sz="1150" b="0" i="0">
                <a:solidFill>
                  <a:srgbClr val="2E2A40"/>
                </a:solidFill>
                <a:latin typeface="Times New Roman"/>
              </a:rPr>
              <a:t>Source, settings, JSON output, SHA-256 hash</a:t>
            </a:r>
          </a:p>
        </p:txBody>
      </p:sp>
      <p:sp>
        <p:nvSpPr>
          <p:cNvPr id="192" name="Rounded Rectangle 191"/>
          <p:cNvSpPr/>
          <p:nvPr/>
        </p:nvSpPr>
        <p:spPr>
          <a:xfrm>
            <a:off x="10881360" y="7095744"/>
            <a:ext cx="3182112" cy="786384"/>
          </a:xfrm>
          <a:prstGeom prst="roundRect">
            <a:avLst>
              <a:gd name="adj" fmla="val 11627"/>
            </a:avLst>
          </a:prstGeom>
          <a:solidFill>
            <a:srgbClr val="FFFFFF"/>
          </a:solidFill>
          <a:ln w="12700">
            <a:solidFill>
              <a:srgbClr val="D9D2FA"/>
            </a:solidFill>
          </a:ln>
          <a:effectLst/>
        </p:spPr>
        <p:txBody>
          <a:bodyPr rtlCol="0" anchor="ctr"/>
          <a:lstStyle/>
          <a:p>
            <a:pPr algn="ctr"/>
          </a:p>
        </p:txBody>
      </p:sp>
      <p:sp>
        <p:nvSpPr>
          <p:cNvPr id="193" name="Oval 192"/>
          <p:cNvSpPr/>
          <p:nvPr/>
        </p:nvSpPr>
        <p:spPr>
          <a:xfrm>
            <a:off x="10991088" y="7260336"/>
            <a:ext cx="457200" cy="457200"/>
          </a:xfrm>
          <a:prstGeom prst="ellipse">
            <a:avLst/>
          </a:prstGeom>
          <a:solidFill>
            <a:srgbClr val="E5E1FA"/>
          </a:solidFill>
          <a:ln>
            <a:noFill/>
          </a:ln>
          <a:effectLst/>
        </p:spPr>
        <p:txBody>
          <a:bodyPr rtlCol="0" anchor="ctr"/>
          <a:lstStyle/>
          <a:p>
            <a:pPr algn="ctr"/>
          </a:p>
        </p:txBody>
      </p:sp>
      <p:pic>
        <p:nvPicPr>
          <p:cNvPr id="194" name="Picture 193" descr="LuShieldCheck-purple.png"/>
          <p:cNvPicPr>
            <a:picLocks noChangeAspect="1"/>
          </p:cNvPicPr>
          <p:nvPr/>
        </p:nvPicPr>
        <p:blipFill>
          <a:blip r:embed="rId50"/>
          <a:stretch>
            <a:fillRect/>
          </a:stretch>
        </p:blipFill>
        <p:spPr>
          <a:xfrm>
            <a:off x="11077956" y="7347204"/>
            <a:ext cx="283464" cy="283464"/>
          </a:xfrm>
          <a:prstGeom prst="rect">
            <a:avLst/>
          </a:prstGeom>
        </p:spPr>
      </p:pic>
      <p:sp>
        <p:nvSpPr>
          <p:cNvPr id="195" name="TextBox 194"/>
          <p:cNvSpPr txBox="1"/>
          <p:nvPr/>
        </p:nvSpPr>
        <p:spPr>
          <a:xfrm>
            <a:off x="11558016" y="7150608"/>
            <a:ext cx="2414016" cy="256032"/>
          </a:xfrm>
          <a:prstGeom prst="rect">
            <a:avLst/>
          </a:prstGeom>
          <a:noFill/>
        </p:spPr>
        <p:txBody>
          <a:bodyPr wrap="square" lIns="0" rIns="0" tIns="0" bIns="0" anchor="t">
            <a:noAutofit/>
          </a:bodyPr>
          <a:lstStyle/>
          <a:p>
            <a:pPr algn="l"/>
            <a:r>
              <a:rPr sz="1350" b="1" i="0">
                <a:solidFill>
                  <a:srgbClr val="1B1340"/>
                </a:solidFill>
                <a:latin typeface="Times New Roman"/>
              </a:rPr>
              <a:t>Audit hash chain</a:t>
            </a:r>
          </a:p>
        </p:txBody>
      </p:sp>
      <p:sp>
        <p:nvSpPr>
          <p:cNvPr id="196" name="TextBox 195"/>
          <p:cNvSpPr txBox="1"/>
          <p:nvPr/>
        </p:nvSpPr>
        <p:spPr>
          <a:xfrm>
            <a:off x="11558016" y="7406640"/>
            <a:ext cx="2414016" cy="457200"/>
          </a:xfrm>
          <a:prstGeom prst="rect">
            <a:avLst/>
          </a:prstGeom>
          <a:noFill/>
        </p:spPr>
        <p:txBody>
          <a:bodyPr wrap="square" lIns="0" rIns="0" tIns="0" bIns="0" anchor="t">
            <a:noAutofit/>
          </a:bodyPr>
          <a:lstStyle/>
          <a:p>
            <a:pPr algn="l"/>
            <a:r>
              <a:rPr sz="1150" b="0" i="0">
                <a:solidFill>
                  <a:srgbClr val="2E2A40"/>
                </a:solidFill>
                <a:latin typeface="Times New Roman"/>
              </a:rPr>
              <a:t>Each event hashes the last; /api/audit/verify finds edits</a:t>
            </a:r>
          </a:p>
        </p:txBody>
      </p:sp>
      <p:sp>
        <p:nvSpPr>
          <p:cNvPr id="197" name="Rectangle 196"/>
          <p:cNvSpPr/>
          <p:nvPr/>
        </p:nvSpPr>
        <p:spPr>
          <a:xfrm>
            <a:off x="45720" y="8046720"/>
            <a:ext cx="18196560" cy="1755648"/>
          </a:xfrm>
          <a:prstGeom prst="rect">
            <a:avLst/>
          </a:prstGeom>
          <a:solidFill>
            <a:srgbClr val="FFFFFF"/>
          </a:solidFill>
          <a:ln>
            <a:noFill/>
          </a:ln>
          <a:effectLst/>
        </p:spPr>
        <p:txBody>
          <a:bodyPr rtlCol="0" anchor="ctr"/>
          <a:lstStyle/>
          <a:p>
            <a:pPr algn="ctr"/>
          </a:p>
        </p:txBody>
      </p:sp>
      <p:sp>
        <p:nvSpPr>
          <p:cNvPr id="198" name="Rounded Rectangle 197"/>
          <p:cNvSpPr/>
          <p:nvPr/>
        </p:nvSpPr>
        <p:spPr>
          <a:xfrm>
            <a:off x="320040" y="8138160"/>
            <a:ext cx="4559808" cy="1572768"/>
          </a:xfrm>
          <a:prstGeom prst="roundRect">
            <a:avLst>
              <a:gd name="adj" fmla="val 8720"/>
            </a:avLst>
          </a:prstGeom>
          <a:solidFill>
            <a:srgbClr val="F4F2FD"/>
          </a:solidFill>
          <a:ln>
            <a:noFill/>
          </a:ln>
          <a:effectLst/>
        </p:spPr>
        <p:txBody>
          <a:bodyPr rtlCol="0" anchor="ctr"/>
          <a:lstStyle/>
          <a:p>
            <a:pPr algn="ctr"/>
          </a:p>
        </p:txBody>
      </p:sp>
      <p:sp>
        <p:nvSpPr>
          <p:cNvPr id="199" name="Oval 198"/>
          <p:cNvSpPr/>
          <p:nvPr/>
        </p:nvSpPr>
        <p:spPr>
          <a:xfrm>
            <a:off x="457200" y="8211312"/>
            <a:ext cx="402336" cy="402336"/>
          </a:xfrm>
          <a:prstGeom prst="ellipse">
            <a:avLst/>
          </a:prstGeom>
          <a:solidFill>
            <a:srgbClr val="5641F4"/>
          </a:solidFill>
          <a:ln>
            <a:noFill/>
          </a:ln>
          <a:effectLst/>
        </p:spPr>
        <p:txBody>
          <a:bodyPr rtlCol="0" anchor="ctr"/>
          <a:lstStyle/>
          <a:p>
            <a:pPr algn="ctr"/>
          </a:p>
        </p:txBody>
      </p:sp>
      <p:pic>
        <p:nvPicPr>
          <p:cNvPr id="200" name="Picture 199" descr="LuLayers-white.png"/>
          <p:cNvPicPr>
            <a:picLocks noChangeAspect="1"/>
          </p:cNvPicPr>
          <p:nvPr/>
        </p:nvPicPr>
        <p:blipFill>
          <a:blip r:embed="rId51"/>
          <a:stretch>
            <a:fillRect/>
          </a:stretch>
        </p:blipFill>
        <p:spPr>
          <a:xfrm>
            <a:off x="537667" y="8291779"/>
            <a:ext cx="241401" cy="241401"/>
          </a:xfrm>
          <a:prstGeom prst="rect">
            <a:avLst/>
          </a:prstGeom>
        </p:spPr>
      </p:pic>
      <p:sp>
        <p:nvSpPr>
          <p:cNvPr id="201" name="TextBox 200"/>
          <p:cNvSpPr txBox="1"/>
          <p:nvPr/>
        </p:nvSpPr>
        <p:spPr>
          <a:xfrm>
            <a:off x="960119" y="8211312"/>
            <a:ext cx="3828288" cy="402336"/>
          </a:xfrm>
          <a:prstGeom prst="rect">
            <a:avLst/>
          </a:prstGeom>
          <a:noFill/>
        </p:spPr>
        <p:txBody>
          <a:bodyPr wrap="square" lIns="0" rIns="0" tIns="0" bIns="0" anchor="ctr">
            <a:noAutofit/>
          </a:bodyPr>
          <a:lstStyle/>
          <a:p>
            <a:pPr algn="l"/>
            <a:r>
              <a:rPr sz="1600" b="1" i="0">
                <a:solidFill>
                  <a:srgbClr val="1B1340"/>
                </a:solidFill>
                <a:latin typeface="Times New Roman"/>
              </a:rPr>
              <a:t>Frontend</a:t>
            </a:r>
          </a:p>
        </p:txBody>
      </p:sp>
      <p:pic>
        <p:nvPicPr>
          <p:cNvPr id="202" name="Picture 201" descr="react.png"/>
          <p:cNvPicPr>
            <a:picLocks noChangeAspect="1"/>
          </p:cNvPicPr>
          <p:nvPr/>
        </p:nvPicPr>
        <p:blipFill>
          <a:blip r:embed="rId52"/>
          <a:stretch>
            <a:fillRect/>
          </a:stretch>
        </p:blipFill>
        <p:spPr>
          <a:xfrm>
            <a:off x="661416" y="8732520"/>
            <a:ext cx="457200" cy="457200"/>
          </a:xfrm>
          <a:prstGeom prst="rect">
            <a:avLst/>
          </a:prstGeom>
        </p:spPr>
      </p:pic>
      <p:sp>
        <p:nvSpPr>
          <p:cNvPr id="203" name="TextBox 202"/>
          <p:cNvSpPr txBox="1"/>
          <p:nvPr/>
        </p:nvSpPr>
        <p:spPr>
          <a:xfrm>
            <a:off x="320040" y="9253728"/>
            <a:ext cx="1139952" cy="274320"/>
          </a:xfrm>
          <a:prstGeom prst="rect">
            <a:avLst/>
          </a:prstGeom>
          <a:noFill/>
        </p:spPr>
        <p:txBody>
          <a:bodyPr wrap="square" lIns="0" rIns="0" tIns="0" bIns="0" anchor="t">
            <a:noAutofit/>
          </a:bodyPr>
          <a:lstStyle/>
          <a:p>
            <a:pPr algn="ctr"/>
            <a:r>
              <a:rPr sz="1150" b="1" i="0">
                <a:solidFill>
                  <a:srgbClr val="1B1340"/>
                </a:solidFill>
                <a:latin typeface="Times New Roman"/>
              </a:rPr>
              <a:t>React</a:t>
            </a:r>
          </a:p>
        </p:txBody>
      </p:sp>
      <p:pic>
        <p:nvPicPr>
          <p:cNvPr id="204" name="Picture 203" descr="typescript.png"/>
          <p:cNvPicPr>
            <a:picLocks noChangeAspect="1"/>
          </p:cNvPicPr>
          <p:nvPr/>
        </p:nvPicPr>
        <p:blipFill>
          <a:blip r:embed="rId53"/>
          <a:stretch>
            <a:fillRect/>
          </a:stretch>
        </p:blipFill>
        <p:spPr>
          <a:xfrm>
            <a:off x="1801368" y="8732520"/>
            <a:ext cx="457200" cy="457200"/>
          </a:xfrm>
          <a:prstGeom prst="rect">
            <a:avLst/>
          </a:prstGeom>
        </p:spPr>
      </p:pic>
      <p:sp>
        <p:nvSpPr>
          <p:cNvPr id="205" name="TextBox 204"/>
          <p:cNvSpPr txBox="1"/>
          <p:nvPr/>
        </p:nvSpPr>
        <p:spPr>
          <a:xfrm>
            <a:off x="1459992" y="9253728"/>
            <a:ext cx="1139952" cy="274320"/>
          </a:xfrm>
          <a:prstGeom prst="rect">
            <a:avLst/>
          </a:prstGeom>
          <a:noFill/>
        </p:spPr>
        <p:txBody>
          <a:bodyPr wrap="square" lIns="0" rIns="0" tIns="0" bIns="0" anchor="t">
            <a:noAutofit/>
          </a:bodyPr>
          <a:lstStyle/>
          <a:p>
            <a:pPr algn="ctr"/>
            <a:r>
              <a:rPr sz="1150" b="1" i="0">
                <a:solidFill>
                  <a:srgbClr val="1B1340"/>
                </a:solidFill>
                <a:latin typeface="Times New Roman"/>
              </a:rPr>
              <a:t>TypeScript</a:t>
            </a:r>
          </a:p>
        </p:txBody>
      </p:sp>
      <p:pic>
        <p:nvPicPr>
          <p:cNvPr id="206" name="Picture 205" descr="vite.png"/>
          <p:cNvPicPr>
            <a:picLocks noChangeAspect="1"/>
          </p:cNvPicPr>
          <p:nvPr/>
        </p:nvPicPr>
        <p:blipFill>
          <a:blip r:embed="rId54"/>
          <a:stretch>
            <a:fillRect/>
          </a:stretch>
        </p:blipFill>
        <p:spPr>
          <a:xfrm>
            <a:off x="2941320" y="8732520"/>
            <a:ext cx="457200" cy="457200"/>
          </a:xfrm>
          <a:prstGeom prst="rect">
            <a:avLst/>
          </a:prstGeom>
        </p:spPr>
      </p:pic>
      <p:sp>
        <p:nvSpPr>
          <p:cNvPr id="207" name="TextBox 206"/>
          <p:cNvSpPr txBox="1"/>
          <p:nvPr/>
        </p:nvSpPr>
        <p:spPr>
          <a:xfrm>
            <a:off x="2599944" y="9253728"/>
            <a:ext cx="1139952" cy="274320"/>
          </a:xfrm>
          <a:prstGeom prst="rect">
            <a:avLst/>
          </a:prstGeom>
          <a:noFill/>
        </p:spPr>
        <p:txBody>
          <a:bodyPr wrap="square" lIns="0" rIns="0" tIns="0" bIns="0" anchor="t">
            <a:noAutofit/>
          </a:bodyPr>
          <a:lstStyle/>
          <a:p>
            <a:pPr algn="ctr"/>
            <a:r>
              <a:rPr sz="1150" b="1" i="0">
                <a:solidFill>
                  <a:srgbClr val="1B1340"/>
                </a:solidFill>
                <a:latin typeface="Times New Roman"/>
              </a:rPr>
              <a:t>Vite</a:t>
            </a:r>
          </a:p>
        </p:txBody>
      </p:sp>
      <p:pic>
        <p:nvPicPr>
          <p:cNvPr id="208" name="Picture 207" descr="tailwind.png"/>
          <p:cNvPicPr>
            <a:picLocks noChangeAspect="1"/>
          </p:cNvPicPr>
          <p:nvPr/>
        </p:nvPicPr>
        <p:blipFill>
          <a:blip r:embed="rId55"/>
          <a:stretch>
            <a:fillRect/>
          </a:stretch>
        </p:blipFill>
        <p:spPr>
          <a:xfrm>
            <a:off x="4081271" y="8732520"/>
            <a:ext cx="457200" cy="457200"/>
          </a:xfrm>
          <a:prstGeom prst="rect">
            <a:avLst/>
          </a:prstGeom>
        </p:spPr>
      </p:pic>
      <p:sp>
        <p:nvSpPr>
          <p:cNvPr id="209" name="TextBox 208"/>
          <p:cNvSpPr txBox="1"/>
          <p:nvPr/>
        </p:nvSpPr>
        <p:spPr>
          <a:xfrm>
            <a:off x="3739896" y="9253728"/>
            <a:ext cx="1139952" cy="274320"/>
          </a:xfrm>
          <a:prstGeom prst="rect">
            <a:avLst/>
          </a:prstGeom>
          <a:noFill/>
        </p:spPr>
        <p:txBody>
          <a:bodyPr wrap="square" lIns="0" rIns="0" tIns="0" bIns="0" anchor="t">
            <a:noAutofit/>
          </a:bodyPr>
          <a:lstStyle/>
          <a:p>
            <a:pPr algn="ctr"/>
            <a:r>
              <a:rPr sz="1150" b="1" i="0">
                <a:solidFill>
                  <a:srgbClr val="1B1340"/>
                </a:solidFill>
                <a:latin typeface="Times New Roman"/>
              </a:rPr>
              <a:t>Tailwind CSS</a:t>
            </a:r>
          </a:p>
        </p:txBody>
      </p:sp>
      <p:sp>
        <p:nvSpPr>
          <p:cNvPr id="210" name="Rounded Rectangle 209"/>
          <p:cNvSpPr/>
          <p:nvPr/>
        </p:nvSpPr>
        <p:spPr>
          <a:xfrm>
            <a:off x="5062728" y="8138160"/>
            <a:ext cx="3419856" cy="1572768"/>
          </a:xfrm>
          <a:prstGeom prst="roundRect">
            <a:avLst>
              <a:gd name="adj" fmla="val 8720"/>
            </a:avLst>
          </a:prstGeom>
          <a:solidFill>
            <a:srgbClr val="F4F2FD"/>
          </a:solidFill>
          <a:ln>
            <a:noFill/>
          </a:ln>
          <a:effectLst/>
        </p:spPr>
        <p:txBody>
          <a:bodyPr rtlCol="0" anchor="ctr"/>
          <a:lstStyle/>
          <a:p>
            <a:pPr algn="ctr"/>
          </a:p>
        </p:txBody>
      </p:sp>
      <p:sp>
        <p:nvSpPr>
          <p:cNvPr id="211" name="Oval 210"/>
          <p:cNvSpPr/>
          <p:nvPr/>
        </p:nvSpPr>
        <p:spPr>
          <a:xfrm>
            <a:off x="5199888" y="8211312"/>
            <a:ext cx="402336" cy="402336"/>
          </a:xfrm>
          <a:prstGeom prst="ellipse">
            <a:avLst/>
          </a:prstGeom>
          <a:solidFill>
            <a:srgbClr val="5641F4"/>
          </a:solidFill>
          <a:ln>
            <a:noFill/>
          </a:ln>
          <a:effectLst/>
        </p:spPr>
        <p:txBody>
          <a:bodyPr rtlCol="0" anchor="ctr"/>
          <a:lstStyle/>
          <a:p>
            <a:pPr algn="ctr"/>
          </a:p>
        </p:txBody>
      </p:sp>
      <p:pic>
        <p:nvPicPr>
          <p:cNvPr id="212" name="Picture 211" descr="LuServer-white.png"/>
          <p:cNvPicPr>
            <a:picLocks noChangeAspect="1"/>
          </p:cNvPicPr>
          <p:nvPr/>
        </p:nvPicPr>
        <p:blipFill>
          <a:blip r:embed="rId56"/>
          <a:stretch>
            <a:fillRect/>
          </a:stretch>
        </p:blipFill>
        <p:spPr>
          <a:xfrm>
            <a:off x="5280355" y="8291779"/>
            <a:ext cx="241401" cy="241401"/>
          </a:xfrm>
          <a:prstGeom prst="rect">
            <a:avLst/>
          </a:prstGeom>
        </p:spPr>
      </p:pic>
      <p:sp>
        <p:nvSpPr>
          <p:cNvPr id="213" name="TextBox 212"/>
          <p:cNvSpPr txBox="1"/>
          <p:nvPr/>
        </p:nvSpPr>
        <p:spPr>
          <a:xfrm>
            <a:off x="5702808" y="8211312"/>
            <a:ext cx="2688335" cy="402336"/>
          </a:xfrm>
          <a:prstGeom prst="rect">
            <a:avLst/>
          </a:prstGeom>
          <a:noFill/>
        </p:spPr>
        <p:txBody>
          <a:bodyPr wrap="square" lIns="0" rIns="0" tIns="0" bIns="0" anchor="ctr">
            <a:noAutofit/>
          </a:bodyPr>
          <a:lstStyle/>
          <a:p>
            <a:pPr algn="l"/>
            <a:r>
              <a:rPr sz="1600" b="1" i="0">
                <a:solidFill>
                  <a:srgbClr val="1B1340"/>
                </a:solidFill>
                <a:latin typeface="Times New Roman"/>
              </a:rPr>
              <a:t>Backend</a:t>
            </a:r>
          </a:p>
        </p:txBody>
      </p:sp>
      <p:pic>
        <p:nvPicPr>
          <p:cNvPr id="214" name="Picture 213" descr="python.png"/>
          <p:cNvPicPr>
            <a:picLocks noChangeAspect="1"/>
          </p:cNvPicPr>
          <p:nvPr/>
        </p:nvPicPr>
        <p:blipFill>
          <a:blip r:embed="rId57"/>
          <a:stretch>
            <a:fillRect/>
          </a:stretch>
        </p:blipFill>
        <p:spPr>
          <a:xfrm>
            <a:off x="5404103" y="8732520"/>
            <a:ext cx="457200" cy="457200"/>
          </a:xfrm>
          <a:prstGeom prst="rect">
            <a:avLst/>
          </a:prstGeom>
        </p:spPr>
      </p:pic>
      <p:sp>
        <p:nvSpPr>
          <p:cNvPr id="215" name="TextBox 214"/>
          <p:cNvSpPr txBox="1"/>
          <p:nvPr/>
        </p:nvSpPr>
        <p:spPr>
          <a:xfrm>
            <a:off x="5062728" y="9253728"/>
            <a:ext cx="1139952" cy="274320"/>
          </a:xfrm>
          <a:prstGeom prst="rect">
            <a:avLst/>
          </a:prstGeom>
          <a:noFill/>
        </p:spPr>
        <p:txBody>
          <a:bodyPr wrap="square" lIns="0" rIns="0" tIns="0" bIns="0" anchor="t">
            <a:noAutofit/>
          </a:bodyPr>
          <a:lstStyle/>
          <a:p>
            <a:pPr algn="ctr"/>
            <a:r>
              <a:rPr sz="1150" b="1" i="0">
                <a:solidFill>
                  <a:srgbClr val="1B1340"/>
                </a:solidFill>
                <a:latin typeface="Times New Roman"/>
              </a:rPr>
              <a:t>Python</a:t>
            </a:r>
          </a:p>
        </p:txBody>
      </p:sp>
      <p:pic>
        <p:nvPicPr>
          <p:cNvPr id="216" name="Picture 215" descr="fastapi.png"/>
          <p:cNvPicPr>
            <a:picLocks noChangeAspect="1"/>
          </p:cNvPicPr>
          <p:nvPr/>
        </p:nvPicPr>
        <p:blipFill>
          <a:blip r:embed="rId58"/>
          <a:stretch>
            <a:fillRect/>
          </a:stretch>
        </p:blipFill>
        <p:spPr>
          <a:xfrm>
            <a:off x="6544056" y="8732520"/>
            <a:ext cx="457200" cy="457200"/>
          </a:xfrm>
          <a:prstGeom prst="rect">
            <a:avLst/>
          </a:prstGeom>
        </p:spPr>
      </p:pic>
      <p:sp>
        <p:nvSpPr>
          <p:cNvPr id="217" name="TextBox 216"/>
          <p:cNvSpPr txBox="1"/>
          <p:nvPr/>
        </p:nvSpPr>
        <p:spPr>
          <a:xfrm>
            <a:off x="6202680" y="9253728"/>
            <a:ext cx="1139952" cy="274320"/>
          </a:xfrm>
          <a:prstGeom prst="rect">
            <a:avLst/>
          </a:prstGeom>
          <a:noFill/>
        </p:spPr>
        <p:txBody>
          <a:bodyPr wrap="square" lIns="0" rIns="0" tIns="0" bIns="0" anchor="t">
            <a:noAutofit/>
          </a:bodyPr>
          <a:lstStyle/>
          <a:p>
            <a:pPr algn="ctr"/>
            <a:r>
              <a:rPr sz="1150" b="1" i="0">
                <a:solidFill>
                  <a:srgbClr val="1B1340"/>
                </a:solidFill>
                <a:latin typeface="Times New Roman"/>
              </a:rPr>
              <a:t>FastAPI</a:t>
            </a:r>
          </a:p>
        </p:txBody>
      </p:sp>
      <p:pic>
        <p:nvPicPr>
          <p:cNvPr id="218" name="Picture 217" descr="pydantic.png"/>
          <p:cNvPicPr>
            <a:picLocks noChangeAspect="1"/>
          </p:cNvPicPr>
          <p:nvPr/>
        </p:nvPicPr>
        <p:blipFill>
          <a:blip r:embed="rId59"/>
          <a:stretch>
            <a:fillRect/>
          </a:stretch>
        </p:blipFill>
        <p:spPr>
          <a:xfrm>
            <a:off x="7684007" y="8732520"/>
            <a:ext cx="457200" cy="457200"/>
          </a:xfrm>
          <a:prstGeom prst="rect">
            <a:avLst/>
          </a:prstGeom>
        </p:spPr>
      </p:pic>
      <p:sp>
        <p:nvSpPr>
          <p:cNvPr id="219" name="TextBox 218"/>
          <p:cNvSpPr txBox="1"/>
          <p:nvPr/>
        </p:nvSpPr>
        <p:spPr>
          <a:xfrm>
            <a:off x="7342631" y="9253728"/>
            <a:ext cx="1139952" cy="274320"/>
          </a:xfrm>
          <a:prstGeom prst="rect">
            <a:avLst/>
          </a:prstGeom>
          <a:noFill/>
        </p:spPr>
        <p:txBody>
          <a:bodyPr wrap="square" lIns="0" rIns="0" tIns="0" bIns="0" anchor="t">
            <a:noAutofit/>
          </a:bodyPr>
          <a:lstStyle/>
          <a:p>
            <a:pPr algn="ctr"/>
            <a:r>
              <a:rPr sz="1150" b="1" i="0">
                <a:solidFill>
                  <a:srgbClr val="1B1340"/>
                </a:solidFill>
                <a:latin typeface="Times New Roman"/>
              </a:rPr>
              <a:t>Pydantic</a:t>
            </a:r>
          </a:p>
        </p:txBody>
      </p:sp>
      <p:sp>
        <p:nvSpPr>
          <p:cNvPr id="220" name="Rounded Rectangle 219"/>
          <p:cNvSpPr/>
          <p:nvPr/>
        </p:nvSpPr>
        <p:spPr>
          <a:xfrm>
            <a:off x="8665464" y="8138160"/>
            <a:ext cx="4559808" cy="1572768"/>
          </a:xfrm>
          <a:prstGeom prst="roundRect">
            <a:avLst>
              <a:gd name="adj" fmla="val 8720"/>
            </a:avLst>
          </a:prstGeom>
          <a:solidFill>
            <a:srgbClr val="F4F2FD"/>
          </a:solidFill>
          <a:ln>
            <a:noFill/>
          </a:ln>
          <a:effectLst/>
        </p:spPr>
        <p:txBody>
          <a:bodyPr rtlCol="0" anchor="ctr"/>
          <a:lstStyle/>
          <a:p>
            <a:pPr algn="ctr"/>
          </a:p>
        </p:txBody>
      </p:sp>
      <p:sp>
        <p:nvSpPr>
          <p:cNvPr id="221" name="Oval 220"/>
          <p:cNvSpPr/>
          <p:nvPr/>
        </p:nvSpPr>
        <p:spPr>
          <a:xfrm>
            <a:off x="8802624" y="8211312"/>
            <a:ext cx="402336" cy="402336"/>
          </a:xfrm>
          <a:prstGeom prst="ellipse">
            <a:avLst/>
          </a:prstGeom>
          <a:solidFill>
            <a:srgbClr val="5641F4"/>
          </a:solidFill>
          <a:ln>
            <a:noFill/>
          </a:ln>
          <a:effectLst/>
        </p:spPr>
        <p:txBody>
          <a:bodyPr rtlCol="0" anchor="ctr"/>
          <a:lstStyle/>
          <a:p>
            <a:pPr algn="ctr"/>
          </a:p>
        </p:txBody>
      </p:sp>
      <p:pic>
        <p:nvPicPr>
          <p:cNvPr id="222" name="Picture 221" descr="LuBrainCircuit-white.png"/>
          <p:cNvPicPr>
            <a:picLocks noChangeAspect="1"/>
          </p:cNvPicPr>
          <p:nvPr/>
        </p:nvPicPr>
        <p:blipFill>
          <a:blip r:embed="rId60"/>
          <a:stretch>
            <a:fillRect/>
          </a:stretch>
        </p:blipFill>
        <p:spPr>
          <a:xfrm>
            <a:off x="8883091" y="8291779"/>
            <a:ext cx="241401" cy="241401"/>
          </a:xfrm>
          <a:prstGeom prst="rect">
            <a:avLst/>
          </a:prstGeom>
        </p:spPr>
      </p:pic>
      <p:sp>
        <p:nvSpPr>
          <p:cNvPr id="223" name="TextBox 222"/>
          <p:cNvSpPr txBox="1"/>
          <p:nvPr/>
        </p:nvSpPr>
        <p:spPr>
          <a:xfrm>
            <a:off x="9305544" y="8211312"/>
            <a:ext cx="3828288" cy="402336"/>
          </a:xfrm>
          <a:prstGeom prst="rect">
            <a:avLst/>
          </a:prstGeom>
          <a:noFill/>
        </p:spPr>
        <p:txBody>
          <a:bodyPr wrap="square" lIns="0" rIns="0" tIns="0" bIns="0" anchor="ctr">
            <a:noAutofit/>
          </a:bodyPr>
          <a:lstStyle/>
          <a:p>
            <a:pPr algn="l"/>
            <a:r>
              <a:rPr sz="1600" b="1" i="0">
                <a:solidFill>
                  <a:srgbClr val="1B1340"/>
                </a:solidFill>
                <a:latin typeface="Times New Roman"/>
              </a:rPr>
              <a:t>AI Models &amp; Data</a:t>
            </a:r>
          </a:p>
        </p:txBody>
      </p:sp>
      <p:pic>
        <p:nvPicPr>
          <p:cNvPr id="224" name="Picture 223" descr="gemini.png"/>
          <p:cNvPicPr>
            <a:picLocks noChangeAspect="1"/>
          </p:cNvPicPr>
          <p:nvPr/>
        </p:nvPicPr>
        <p:blipFill>
          <a:blip r:embed="rId61"/>
          <a:stretch>
            <a:fillRect/>
          </a:stretch>
        </p:blipFill>
        <p:spPr>
          <a:xfrm>
            <a:off x="9006840" y="8732520"/>
            <a:ext cx="457200" cy="457200"/>
          </a:xfrm>
          <a:prstGeom prst="rect">
            <a:avLst/>
          </a:prstGeom>
        </p:spPr>
      </p:pic>
      <p:sp>
        <p:nvSpPr>
          <p:cNvPr id="225" name="TextBox 224"/>
          <p:cNvSpPr txBox="1"/>
          <p:nvPr/>
        </p:nvSpPr>
        <p:spPr>
          <a:xfrm>
            <a:off x="8665464" y="9253728"/>
            <a:ext cx="1139952" cy="274320"/>
          </a:xfrm>
          <a:prstGeom prst="rect">
            <a:avLst/>
          </a:prstGeom>
          <a:noFill/>
        </p:spPr>
        <p:txBody>
          <a:bodyPr wrap="square" lIns="0" rIns="0" tIns="0" bIns="0" anchor="t">
            <a:noAutofit/>
          </a:bodyPr>
          <a:lstStyle/>
          <a:p>
            <a:pPr algn="ctr"/>
            <a:r>
              <a:rPr sz="1150" b="1" i="0">
                <a:solidFill>
                  <a:srgbClr val="1B1340"/>
                </a:solidFill>
                <a:latin typeface="Times New Roman"/>
              </a:rPr>
              <a:t>Gemini</a:t>
            </a:r>
          </a:p>
        </p:txBody>
      </p:sp>
      <p:pic>
        <p:nvPicPr>
          <p:cNvPr id="226" name="Picture 225" descr="ollama.png"/>
          <p:cNvPicPr>
            <a:picLocks noChangeAspect="1"/>
          </p:cNvPicPr>
          <p:nvPr/>
        </p:nvPicPr>
        <p:blipFill>
          <a:blip r:embed="rId62"/>
          <a:stretch>
            <a:fillRect/>
          </a:stretch>
        </p:blipFill>
        <p:spPr>
          <a:xfrm>
            <a:off x="10146792" y="8732520"/>
            <a:ext cx="457200" cy="457200"/>
          </a:xfrm>
          <a:prstGeom prst="rect">
            <a:avLst/>
          </a:prstGeom>
        </p:spPr>
      </p:pic>
      <p:sp>
        <p:nvSpPr>
          <p:cNvPr id="227" name="TextBox 226"/>
          <p:cNvSpPr txBox="1"/>
          <p:nvPr/>
        </p:nvSpPr>
        <p:spPr>
          <a:xfrm>
            <a:off x="9805416" y="9253728"/>
            <a:ext cx="1139952" cy="274320"/>
          </a:xfrm>
          <a:prstGeom prst="rect">
            <a:avLst/>
          </a:prstGeom>
          <a:noFill/>
        </p:spPr>
        <p:txBody>
          <a:bodyPr wrap="square" lIns="0" rIns="0" tIns="0" bIns="0" anchor="t">
            <a:noAutofit/>
          </a:bodyPr>
          <a:lstStyle/>
          <a:p>
            <a:pPr algn="ctr"/>
            <a:r>
              <a:rPr sz="1150" b="1" i="0">
                <a:solidFill>
                  <a:srgbClr val="1B1340"/>
                </a:solidFill>
                <a:latin typeface="Times New Roman"/>
              </a:rPr>
              <a:t>Ollama</a:t>
            </a:r>
          </a:p>
        </p:txBody>
      </p:sp>
      <p:pic>
        <p:nvPicPr>
          <p:cNvPr id="228" name="Picture 227" descr="postgres.png"/>
          <p:cNvPicPr>
            <a:picLocks noChangeAspect="1"/>
          </p:cNvPicPr>
          <p:nvPr/>
        </p:nvPicPr>
        <p:blipFill>
          <a:blip r:embed="rId63"/>
          <a:stretch>
            <a:fillRect/>
          </a:stretch>
        </p:blipFill>
        <p:spPr>
          <a:xfrm>
            <a:off x="11286743" y="8732520"/>
            <a:ext cx="457200" cy="457200"/>
          </a:xfrm>
          <a:prstGeom prst="rect">
            <a:avLst/>
          </a:prstGeom>
        </p:spPr>
      </p:pic>
      <p:sp>
        <p:nvSpPr>
          <p:cNvPr id="229" name="TextBox 228"/>
          <p:cNvSpPr txBox="1"/>
          <p:nvPr/>
        </p:nvSpPr>
        <p:spPr>
          <a:xfrm>
            <a:off x="10945367" y="9253728"/>
            <a:ext cx="1139952" cy="274320"/>
          </a:xfrm>
          <a:prstGeom prst="rect">
            <a:avLst/>
          </a:prstGeom>
          <a:noFill/>
        </p:spPr>
        <p:txBody>
          <a:bodyPr wrap="square" lIns="0" rIns="0" tIns="0" bIns="0" anchor="t">
            <a:noAutofit/>
          </a:bodyPr>
          <a:lstStyle/>
          <a:p>
            <a:pPr algn="ctr"/>
            <a:r>
              <a:rPr sz="1150" b="1" i="0">
                <a:solidFill>
                  <a:srgbClr val="1B1340"/>
                </a:solidFill>
                <a:latin typeface="Times New Roman"/>
              </a:rPr>
              <a:t>PostgreSQL</a:t>
            </a:r>
          </a:p>
        </p:txBody>
      </p:sp>
      <p:pic>
        <p:nvPicPr>
          <p:cNvPr id="230" name="Picture 229" descr="sqlite.png"/>
          <p:cNvPicPr>
            <a:picLocks noChangeAspect="1"/>
          </p:cNvPicPr>
          <p:nvPr/>
        </p:nvPicPr>
        <p:blipFill>
          <a:blip r:embed="rId64"/>
          <a:stretch>
            <a:fillRect/>
          </a:stretch>
        </p:blipFill>
        <p:spPr>
          <a:xfrm>
            <a:off x="12426696" y="8732520"/>
            <a:ext cx="457200" cy="457200"/>
          </a:xfrm>
          <a:prstGeom prst="rect">
            <a:avLst/>
          </a:prstGeom>
        </p:spPr>
      </p:pic>
      <p:sp>
        <p:nvSpPr>
          <p:cNvPr id="231" name="TextBox 230"/>
          <p:cNvSpPr txBox="1"/>
          <p:nvPr/>
        </p:nvSpPr>
        <p:spPr>
          <a:xfrm>
            <a:off x="12085320" y="9253728"/>
            <a:ext cx="1139952" cy="274320"/>
          </a:xfrm>
          <a:prstGeom prst="rect">
            <a:avLst/>
          </a:prstGeom>
          <a:noFill/>
        </p:spPr>
        <p:txBody>
          <a:bodyPr wrap="square" lIns="0" rIns="0" tIns="0" bIns="0" anchor="t">
            <a:noAutofit/>
          </a:bodyPr>
          <a:lstStyle/>
          <a:p>
            <a:pPr algn="ctr"/>
            <a:r>
              <a:rPr sz="1150" b="1" i="0">
                <a:solidFill>
                  <a:srgbClr val="1B1340"/>
                </a:solidFill>
                <a:latin typeface="Times New Roman"/>
              </a:rPr>
              <a:t>SQLite</a:t>
            </a:r>
          </a:p>
        </p:txBody>
      </p:sp>
      <p:sp>
        <p:nvSpPr>
          <p:cNvPr id="232" name="Rounded Rectangle 231"/>
          <p:cNvSpPr/>
          <p:nvPr/>
        </p:nvSpPr>
        <p:spPr>
          <a:xfrm>
            <a:off x="13408152" y="8138160"/>
            <a:ext cx="4559808" cy="1572768"/>
          </a:xfrm>
          <a:prstGeom prst="roundRect">
            <a:avLst>
              <a:gd name="adj" fmla="val 8720"/>
            </a:avLst>
          </a:prstGeom>
          <a:solidFill>
            <a:srgbClr val="F4F2FD"/>
          </a:solidFill>
          <a:ln>
            <a:noFill/>
          </a:ln>
          <a:effectLst/>
        </p:spPr>
        <p:txBody>
          <a:bodyPr rtlCol="0" anchor="ctr"/>
          <a:lstStyle/>
          <a:p>
            <a:pPr algn="ctr"/>
          </a:p>
        </p:txBody>
      </p:sp>
      <p:sp>
        <p:nvSpPr>
          <p:cNvPr id="233" name="Oval 232"/>
          <p:cNvSpPr/>
          <p:nvPr/>
        </p:nvSpPr>
        <p:spPr>
          <a:xfrm>
            <a:off x="13545312" y="8211312"/>
            <a:ext cx="402336" cy="402336"/>
          </a:xfrm>
          <a:prstGeom prst="ellipse">
            <a:avLst/>
          </a:prstGeom>
          <a:solidFill>
            <a:srgbClr val="5641F4"/>
          </a:solidFill>
          <a:ln>
            <a:noFill/>
          </a:ln>
          <a:effectLst/>
        </p:spPr>
        <p:txBody>
          <a:bodyPr rtlCol="0" anchor="ctr"/>
          <a:lstStyle/>
          <a:p>
            <a:pPr algn="ctr"/>
          </a:p>
        </p:txBody>
      </p:sp>
      <p:pic>
        <p:nvPicPr>
          <p:cNvPr id="234" name="Picture 233" descr="LuRocket-white.png"/>
          <p:cNvPicPr>
            <a:picLocks noChangeAspect="1"/>
          </p:cNvPicPr>
          <p:nvPr/>
        </p:nvPicPr>
        <p:blipFill>
          <a:blip r:embed="rId65"/>
          <a:stretch>
            <a:fillRect/>
          </a:stretch>
        </p:blipFill>
        <p:spPr>
          <a:xfrm>
            <a:off x="13625779" y="8291779"/>
            <a:ext cx="241401" cy="241401"/>
          </a:xfrm>
          <a:prstGeom prst="rect">
            <a:avLst/>
          </a:prstGeom>
        </p:spPr>
      </p:pic>
      <p:sp>
        <p:nvSpPr>
          <p:cNvPr id="235" name="TextBox 234"/>
          <p:cNvSpPr txBox="1"/>
          <p:nvPr/>
        </p:nvSpPr>
        <p:spPr>
          <a:xfrm>
            <a:off x="14048232" y="8211312"/>
            <a:ext cx="3828288" cy="402336"/>
          </a:xfrm>
          <a:prstGeom prst="rect">
            <a:avLst/>
          </a:prstGeom>
          <a:noFill/>
        </p:spPr>
        <p:txBody>
          <a:bodyPr wrap="square" lIns="0" rIns="0" tIns="0" bIns="0" anchor="ctr">
            <a:noAutofit/>
          </a:bodyPr>
          <a:lstStyle/>
          <a:p>
            <a:pPr algn="l"/>
            <a:r>
              <a:rPr sz="1600" b="1" i="0">
                <a:solidFill>
                  <a:srgbClr val="1B1340"/>
                </a:solidFill>
                <a:latin typeface="Times New Roman"/>
              </a:rPr>
              <a:t>Deploy &amp; CI</a:t>
            </a:r>
          </a:p>
        </p:txBody>
      </p:sp>
      <p:pic>
        <p:nvPicPr>
          <p:cNvPr id="236" name="Picture 235" descr="docker.png"/>
          <p:cNvPicPr>
            <a:picLocks noChangeAspect="1"/>
          </p:cNvPicPr>
          <p:nvPr/>
        </p:nvPicPr>
        <p:blipFill>
          <a:blip r:embed="rId66"/>
          <a:stretch>
            <a:fillRect/>
          </a:stretch>
        </p:blipFill>
        <p:spPr>
          <a:xfrm>
            <a:off x="13749528" y="8732520"/>
            <a:ext cx="457200" cy="457200"/>
          </a:xfrm>
          <a:prstGeom prst="rect">
            <a:avLst/>
          </a:prstGeom>
        </p:spPr>
      </p:pic>
      <p:sp>
        <p:nvSpPr>
          <p:cNvPr id="237" name="TextBox 236"/>
          <p:cNvSpPr txBox="1"/>
          <p:nvPr/>
        </p:nvSpPr>
        <p:spPr>
          <a:xfrm>
            <a:off x="13408152" y="9253728"/>
            <a:ext cx="1139952" cy="274320"/>
          </a:xfrm>
          <a:prstGeom prst="rect">
            <a:avLst/>
          </a:prstGeom>
          <a:noFill/>
        </p:spPr>
        <p:txBody>
          <a:bodyPr wrap="square" lIns="0" rIns="0" tIns="0" bIns="0" anchor="t">
            <a:noAutofit/>
          </a:bodyPr>
          <a:lstStyle/>
          <a:p>
            <a:pPr algn="ctr"/>
            <a:r>
              <a:rPr sz="1150" b="1" i="0">
                <a:solidFill>
                  <a:srgbClr val="1B1340"/>
                </a:solidFill>
                <a:latin typeface="Times New Roman"/>
              </a:rPr>
              <a:t>Docker</a:t>
            </a:r>
          </a:p>
        </p:txBody>
      </p:sp>
      <p:pic>
        <p:nvPicPr>
          <p:cNvPr id="238" name="Picture 237" descr="render.png"/>
          <p:cNvPicPr>
            <a:picLocks noChangeAspect="1"/>
          </p:cNvPicPr>
          <p:nvPr/>
        </p:nvPicPr>
        <p:blipFill>
          <a:blip r:embed="rId67"/>
          <a:stretch>
            <a:fillRect/>
          </a:stretch>
        </p:blipFill>
        <p:spPr>
          <a:xfrm>
            <a:off x="14889480" y="8732520"/>
            <a:ext cx="457200" cy="457200"/>
          </a:xfrm>
          <a:prstGeom prst="rect">
            <a:avLst/>
          </a:prstGeom>
        </p:spPr>
      </p:pic>
      <p:sp>
        <p:nvSpPr>
          <p:cNvPr id="239" name="TextBox 238"/>
          <p:cNvSpPr txBox="1"/>
          <p:nvPr/>
        </p:nvSpPr>
        <p:spPr>
          <a:xfrm>
            <a:off x="14548104" y="9253728"/>
            <a:ext cx="1139952" cy="274320"/>
          </a:xfrm>
          <a:prstGeom prst="rect">
            <a:avLst/>
          </a:prstGeom>
          <a:noFill/>
        </p:spPr>
        <p:txBody>
          <a:bodyPr wrap="square" lIns="0" rIns="0" tIns="0" bIns="0" anchor="t">
            <a:noAutofit/>
          </a:bodyPr>
          <a:lstStyle/>
          <a:p>
            <a:pPr algn="ctr"/>
            <a:r>
              <a:rPr sz="1150" b="1" i="0">
                <a:solidFill>
                  <a:srgbClr val="1B1340"/>
                </a:solidFill>
                <a:latin typeface="Times New Roman"/>
              </a:rPr>
              <a:t>Render</a:t>
            </a:r>
          </a:p>
        </p:txBody>
      </p:sp>
      <p:pic>
        <p:nvPicPr>
          <p:cNvPr id="240" name="Picture 239" descr="netlify.png"/>
          <p:cNvPicPr>
            <a:picLocks noChangeAspect="1"/>
          </p:cNvPicPr>
          <p:nvPr/>
        </p:nvPicPr>
        <p:blipFill>
          <a:blip r:embed="rId68"/>
          <a:stretch>
            <a:fillRect/>
          </a:stretch>
        </p:blipFill>
        <p:spPr>
          <a:xfrm>
            <a:off x="16029432" y="8732520"/>
            <a:ext cx="457200" cy="457200"/>
          </a:xfrm>
          <a:prstGeom prst="rect">
            <a:avLst/>
          </a:prstGeom>
        </p:spPr>
      </p:pic>
      <p:sp>
        <p:nvSpPr>
          <p:cNvPr id="241" name="TextBox 240"/>
          <p:cNvSpPr txBox="1"/>
          <p:nvPr/>
        </p:nvSpPr>
        <p:spPr>
          <a:xfrm>
            <a:off x="15688056" y="9253728"/>
            <a:ext cx="1139952" cy="274320"/>
          </a:xfrm>
          <a:prstGeom prst="rect">
            <a:avLst/>
          </a:prstGeom>
          <a:noFill/>
        </p:spPr>
        <p:txBody>
          <a:bodyPr wrap="square" lIns="0" rIns="0" tIns="0" bIns="0" anchor="t">
            <a:noAutofit/>
          </a:bodyPr>
          <a:lstStyle/>
          <a:p>
            <a:pPr algn="ctr"/>
            <a:r>
              <a:rPr sz="1150" b="1" i="0">
                <a:solidFill>
                  <a:srgbClr val="1B1340"/>
                </a:solidFill>
                <a:latin typeface="Times New Roman"/>
              </a:rPr>
              <a:t>Netlify</a:t>
            </a:r>
          </a:p>
        </p:txBody>
      </p:sp>
      <p:pic>
        <p:nvPicPr>
          <p:cNvPr id="242" name="Picture 241" descr="ghactions.png"/>
          <p:cNvPicPr>
            <a:picLocks noChangeAspect="1"/>
          </p:cNvPicPr>
          <p:nvPr/>
        </p:nvPicPr>
        <p:blipFill>
          <a:blip r:embed="rId69"/>
          <a:stretch>
            <a:fillRect/>
          </a:stretch>
        </p:blipFill>
        <p:spPr>
          <a:xfrm>
            <a:off x="17169384" y="8732520"/>
            <a:ext cx="457200" cy="457200"/>
          </a:xfrm>
          <a:prstGeom prst="rect">
            <a:avLst/>
          </a:prstGeom>
        </p:spPr>
      </p:pic>
      <p:sp>
        <p:nvSpPr>
          <p:cNvPr id="243" name="TextBox 242"/>
          <p:cNvSpPr txBox="1"/>
          <p:nvPr/>
        </p:nvSpPr>
        <p:spPr>
          <a:xfrm>
            <a:off x="16828008" y="9253728"/>
            <a:ext cx="1139952" cy="274320"/>
          </a:xfrm>
          <a:prstGeom prst="rect">
            <a:avLst/>
          </a:prstGeom>
          <a:noFill/>
        </p:spPr>
        <p:txBody>
          <a:bodyPr wrap="square" lIns="0" rIns="0" tIns="0" bIns="0" anchor="t">
            <a:noAutofit/>
          </a:bodyPr>
          <a:lstStyle/>
          <a:p>
            <a:pPr algn="ctr"/>
            <a:r>
              <a:rPr sz="1150" b="1" i="0">
                <a:solidFill>
                  <a:srgbClr val="1B1340"/>
                </a:solidFill>
                <a:latin typeface="Times New Roman"/>
              </a:rPr>
              <a:t>GitHub Actions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729788"/>
            <a:ext cx="18288000" cy="557212"/>
            <a:chOff x="0" y="0"/>
            <a:chExt cx="24384000" cy="742950"/>
          </a:xfrm>
        </p:grpSpPr>
        <p:sp>
          <p:nvSpPr>
            <p:cNvPr name="Freeform 3" id="3"/>
            <p:cNvSpPr/>
            <p:nvPr/>
          </p:nvSpPr>
          <p:spPr>
            <a:xfrm flipH="false" flipV="false" rot="0">
              <a:off x="0" y="0"/>
              <a:ext cx="24384000" cy="742950"/>
            </a:xfrm>
            <a:custGeom>
              <a:avLst/>
              <a:gdLst/>
              <a:ahLst/>
              <a:cxnLst/>
              <a:rect r="r" b="b" t="t" l="l"/>
              <a:pathLst>
                <a:path h="742950" w="24384000">
                  <a:moveTo>
                    <a:pt x="0" y="0"/>
                  </a:moveTo>
                  <a:lnTo>
                    <a:pt x="24384000" y="0"/>
                  </a:lnTo>
                  <a:lnTo>
                    <a:pt x="24384000" y="742950"/>
                  </a:lnTo>
                  <a:lnTo>
                    <a:pt x="0" y="742950"/>
                  </a:lnTo>
                  <a:close/>
                </a:path>
              </a:pathLst>
            </a:custGeom>
            <a:solidFill>
              <a:srgbClr val="0070C0"/>
            </a:solidFill>
          </p:spPr>
        </p:sp>
      </p:grpSp>
      <p:grpSp>
        <p:nvGrpSpPr>
          <p:cNvPr name="Group 4" id="4"/>
          <p:cNvGrpSpPr/>
          <p:nvPr/>
        </p:nvGrpSpPr>
        <p:grpSpPr>
          <a:xfrm rot="0">
            <a:off x="914400" y="-71438"/>
            <a:ext cx="16459200" cy="1714500"/>
            <a:chOff x="0" y="0"/>
            <a:chExt cx="21945600" cy="2286000"/>
          </a:xfrm>
        </p:grpSpPr>
        <p:sp>
          <p:nvSpPr>
            <p:cNvPr name="Freeform 5" id="5"/>
            <p:cNvSpPr/>
            <p:nvPr/>
          </p:nvSpPr>
          <p:spPr>
            <a:xfrm flipH="false" flipV="false" rot="0">
              <a:off x="0" y="0"/>
              <a:ext cx="21945600" cy="2286000"/>
            </a:xfrm>
            <a:custGeom>
              <a:avLst/>
              <a:gdLst/>
              <a:ahLst/>
              <a:cxnLst/>
              <a:rect r="r" b="b" t="t" l="l"/>
              <a:pathLst>
                <a:path h="2286000" w="21945600">
                  <a:moveTo>
                    <a:pt x="0" y="0"/>
                  </a:moveTo>
                  <a:lnTo>
                    <a:pt x="21945600" y="0"/>
                  </a:lnTo>
                  <a:lnTo>
                    <a:pt x="21945600" y="2286000"/>
                  </a:lnTo>
                  <a:lnTo>
                    <a:pt x="0" y="2286000"/>
                  </a:lnTo>
                  <a:close/>
                </a:path>
              </a:pathLst>
            </a:custGeom>
            <a:blipFill>
              <a:blip r:embed="rId2">
                <a:alphaModFix amt="0"/>
              </a:blip>
              <a:stretch>
                <a:fillRect l="0" t="-137056" r="0" b="-137056"/>
              </a:stretch>
            </a:blipFill>
          </p:spPr>
        </p:sp>
        <p:sp>
          <p:nvSpPr>
            <p:cNvPr name="TextBox 6" id="6"/>
            <p:cNvSpPr txBox="true"/>
            <p:nvPr/>
          </p:nvSpPr>
          <p:spPr>
            <a:xfrm>
              <a:off x="0" y="-28575"/>
              <a:ext cx="21945600" cy="2314575"/>
            </a:xfrm>
            <a:prstGeom prst="rect">
              <a:avLst/>
            </a:prstGeom>
          </p:spPr>
          <p:txBody>
            <a:bodyPr anchor="ctr" rtlCol="false" tIns="0" lIns="0" bIns="0" rIns="0"/>
            <a:lstStyle/>
            <a:p>
              <a:pPr algn="ctr">
                <a:lnSpc>
                  <a:spcPts val="6480"/>
                </a:lnSpc>
              </a:pPr>
              <a:r>
                <a:rPr lang="en-US" sz="5400" b="1">
                  <a:solidFill>
                    <a:srgbClr val="000000"/>
                  </a:solidFill>
                  <a:latin typeface="Times New Roman"/>
                  <a:ea typeface="Times New Roman"/>
                  <a:cs typeface="Times New Roman"/>
                  <a:sym typeface="Times New Roman"/>
                </a:rPr>
                <a:t>FEASIBILITY AND VIABILITY</a:t>
              </a:r>
            </a:p>
          </p:txBody>
        </p:sp>
      </p:grpSp>
      <p:grpSp>
        <p:nvGrpSpPr>
          <p:cNvPr name="Group 7" id="7"/>
          <p:cNvGrpSpPr/>
          <p:nvPr/>
        </p:nvGrpSpPr>
        <p:grpSpPr>
          <a:xfrm rot="0">
            <a:off x="13106400" y="9658350"/>
            <a:ext cx="4267200" cy="628650"/>
            <a:chOff x="0" y="0"/>
            <a:chExt cx="5689600" cy="838200"/>
          </a:xfrm>
        </p:grpSpPr>
        <p:sp>
          <p:nvSpPr>
            <p:cNvPr name="Freeform 8" id="8"/>
            <p:cNvSpPr/>
            <p:nvPr/>
          </p:nvSpPr>
          <p:spPr>
            <a:xfrm flipH="false" flipV="false" rot="0">
              <a:off x="0" y="0"/>
              <a:ext cx="5689600" cy="838200"/>
            </a:xfrm>
            <a:custGeom>
              <a:avLst/>
              <a:gdLst/>
              <a:ahLst/>
              <a:cxnLst/>
              <a:rect r="r" b="b" t="t" l="l"/>
              <a:pathLst>
                <a:path h="838200" w="5689600">
                  <a:moveTo>
                    <a:pt x="0" y="0"/>
                  </a:moveTo>
                  <a:lnTo>
                    <a:pt x="5689600" y="0"/>
                  </a:lnTo>
                  <a:lnTo>
                    <a:pt x="5689600" y="838200"/>
                  </a:lnTo>
                  <a:lnTo>
                    <a:pt x="0" y="838200"/>
                  </a:lnTo>
                  <a:close/>
                </a:path>
              </a:pathLst>
            </a:custGeom>
            <a:blipFill>
              <a:blip r:embed="rId2">
                <a:alphaModFix amt="0"/>
              </a:blip>
              <a:stretch>
                <a:fillRect l="0" t="-88701" r="0" b="-75822"/>
              </a:stretch>
            </a:blipFill>
          </p:spPr>
        </p:sp>
        <p:sp>
          <p:nvSpPr>
            <p:cNvPr name="TextBox 9" id="9"/>
            <p:cNvSpPr txBox="true"/>
            <p:nvPr/>
          </p:nvSpPr>
          <p:spPr>
            <a:xfrm>
              <a:off x="0" y="-38100"/>
              <a:ext cx="5689600" cy="876300"/>
            </a:xfrm>
            <a:prstGeom prst="rect">
              <a:avLst/>
            </a:prstGeom>
          </p:spPr>
          <p:txBody>
            <a:bodyPr anchor="ctr" rtlCol="false" tIns="0" lIns="0" bIns="0" rIns="0"/>
            <a:lstStyle/>
            <a:p>
              <a:pPr algn="r">
                <a:lnSpc>
                  <a:spcPts val="2160"/>
                </a:lnSpc>
              </a:pPr>
              <a:r>
                <a:rPr lang="en-US" b="true" sz="1800">
                  <a:solidFill>
                    <a:srgbClr val="FFFFFF"/>
                  </a:solidFill>
                  <a:latin typeface="Trade Gothic Condensed Bold"/>
                  <a:ea typeface="Trade Gothic Condensed Bold"/>
                  <a:cs typeface="Trade Gothic Condensed Bold"/>
                  <a:sym typeface="Trade Gothic Condensed Bold"/>
                </a:rPr>
                <a:t>4</a:t>
              </a:r>
            </a:p>
          </p:txBody>
        </p:sp>
      </p:grpSp>
      <p:grpSp>
        <p:nvGrpSpPr>
          <p:cNvPr name="Group 10" id="10"/>
          <p:cNvGrpSpPr/>
          <p:nvPr/>
        </p:nvGrpSpPr>
        <p:grpSpPr>
          <a:xfrm rot="0">
            <a:off x="6972300" y="9767888"/>
            <a:ext cx="4806001" cy="547688"/>
            <a:chOff x="0" y="0"/>
            <a:chExt cx="6408001" cy="730250"/>
          </a:xfrm>
        </p:grpSpPr>
        <p:sp>
          <p:nvSpPr>
            <p:cNvPr name="Freeform 11" id="11"/>
            <p:cNvSpPr/>
            <p:nvPr/>
          </p:nvSpPr>
          <p:spPr>
            <a:xfrm flipH="false" flipV="false" rot="0">
              <a:off x="0" y="0"/>
              <a:ext cx="6408000" cy="730250"/>
            </a:xfrm>
            <a:custGeom>
              <a:avLst/>
              <a:gdLst/>
              <a:ahLst/>
              <a:cxnLst/>
              <a:rect r="r" b="b" t="t" l="l"/>
              <a:pathLst>
                <a:path h="730250" w="6408000">
                  <a:moveTo>
                    <a:pt x="0" y="0"/>
                  </a:moveTo>
                  <a:lnTo>
                    <a:pt x="6408000" y="0"/>
                  </a:lnTo>
                  <a:lnTo>
                    <a:pt x="6408000" y="730250"/>
                  </a:lnTo>
                  <a:lnTo>
                    <a:pt x="0" y="730250"/>
                  </a:lnTo>
                  <a:close/>
                </a:path>
              </a:pathLst>
            </a:custGeom>
            <a:blipFill>
              <a:blip r:embed="rId2">
                <a:alphaModFix amt="0"/>
              </a:blip>
              <a:stretch>
                <a:fillRect l="0" t="-120982" r="0" b="-120982"/>
              </a:stretch>
            </a:blipFill>
          </p:spPr>
        </p:sp>
        <p:sp>
          <p:nvSpPr>
            <p:cNvPr name="TextBox 12" id="12"/>
            <p:cNvSpPr txBox="true"/>
            <p:nvPr/>
          </p:nvSpPr>
          <p:spPr>
            <a:xfrm>
              <a:off x="0" y="-38100"/>
              <a:ext cx="6408001" cy="768350"/>
            </a:xfrm>
            <a:prstGeom prst="rect">
              <a:avLst/>
            </a:prstGeom>
          </p:spPr>
          <p:txBody>
            <a:bodyPr anchor="ctr" rtlCol="false" tIns="0" lIns="0" bIns="0" rIns="0"/>
            <a:lstStyle/>
            <a:p>
              <a:pPr algn="ctr">
                <a:lnSpc>
                  <a:spcPts val="2160"/>
                </a:lnSpc>
              </a:pPr>
              <a:r>
                <a:rPr lang="en-US" sz="1800">
                  <a:solidFill>
                    <a:srgbClr val="FFFFFF"/>
                  </a:solidFill>
                  <a:latin typeface="Trade Gothic Condensed"/>
                  <a:ea typeface="Trade Gothic Condensed"/>
                  <a:cs typeface="Trade Gothic Condensed"/>
                  <a:sym typeface="Trade Gothic Condensed"/>
                </a:rPr>
                <a:t>@SIH Idea submission- Template</a:t>
              </a:r>
            </a:p>
          </p:txBody>
        </p:sp>
      </p:grpSp>
      <p:grpSp>
        <p:nvGrpSpPr>
          <p:cNvPr name="Group 13" id="13"/>
          <p:cNvGrpSpPr/>
          <p:nvPr/>
        </p:nvGrpSpPr>
        <p:grpSpPr>
          <a:xfrm rot="0">
            <a:off x="367198" y="154648"/>
            <a:ext cx="3469487" cy="796752"/>
            <a:chOff x="0" y="0"/>
            <a:chExt cx="5188174" cy="1191441"/>
          </a:xfrm>
        </p:grpSpPr>
        <p:sp>
          <p:nvSpPr>
            <p:cNvPr name="Freeform 14" id="14" descr="Your startup LOGO"/>
            <p:cNvSpPr/>
            <p:nvPr/>
          </p:nvSpPr>
          <p:spPr>
            <a:xfrm flipH="false" flipV="false" rot="0">
              <a:off x="0" y="0"/>
              <a:ext cx="5188097" cy="1191453"/>
            </a:xfrm>
            <a:custGeom>
              <a:avLst/>
              <a:gdLst/>
              <a:ahLst/>
              <a:cxnLst/>
              <a:rect r="r" b="b" t="t" l="l"/>
              <a:pathLst>
                <a:path h="1191453" w="5188097">
                  <a:moveTo>
                    <a:pt x="0" y="595725"/>
                  </a:moveTo>
                  <a:cubicBezTo>
                    <a:pt x="0" y="266745"/>
                    <a:pt x="1161479" y="0"/>
                    <a:pt x="2594048" y="0"/>
                  </a:cubicBezTo>
                  <a:cubicBezTo>
                    <a:pt x="4026617" y="0"/>
                    <a:pt x="5188097" y="266745"/>
                    <a:pt x="5188097" y="595725"/>
                  </a:cubicBezTo>
                  <a:cubicBezTo>
                    <a:pt x="5188097" y="924705"/>
                    <a:pt x="4026617" y="1191453"/>
                    <a:pt x="2594048" y="1191453"/>
                  </a:cubicBezTo>
                  <a:cubicBezTo>
                    <a:pt x="1161479" y="1191453"/>
                    <a:pt x="0" y="924705"/>
                    <a:pt x="0" y="595725"/>
                  </a:cubicBezTo>
                  <a:close/>
                </a:path>
              </a:pathLst>
            </a:custGeom>
            <a:solidFill>
              <a:srgbClr val="FFFFFF"/>
            </a:solidFill>
            <a:ln w="38100" cap="sq">
              <a:solidFill>
                <a:srgbClr val="8064A2"/>
              </a:solidFill>
              <a:prstDash val="solid"/>
              <a:miter/>
            </a:ln>
          </p:spPr>
        </p:sp>
        <p:sp>
          <p:nvSpPr>
            <p:cNvPr name="TextBox 15" id="15"/>
            <p:cNvSpPr txBox="true"/>
            <p:nvPr/>
          </p:nvSpPr>
          <p:spPr>
            <a:xfrm>
              <a:off x="0" y="-19050"/>
              <a:ext cx="5188174" cy="1210491"/>
            </a:xfrm>
            <a:prstGeom prst="rect">
              <a:avLst/>
            </a:prstGeom>
          </p:spPr>
          <p:txBody>
            <a:bodyPr anchor="ctr" rtlCol="false" tIns="50800" lIns="50800" bIns="50800" rIns="50800"/>
            <a:lstStyle/>
            <a:p>
              <a:pPr algn="ctr">
                <a:lnSpc>
                  <a:spcPts val="3240"/>
                </a:lnSpc>
              </a:pPr>
              <a:r>
                <a:rPr lang="en-US" sz="2700">
                  <a:solidFill>
                    <a:srgbClr val="000000"/>
                  </a:solidFill>
                  <a:latin typeface="Times New Roman"/>
                  <a:ea typeface="Times New Roman"/>
                  <a:cs typeface="Times New Roman"/>
                  <a:sym typeface="Times New Roman"/>
                </a:rPr>
                <a:t>OUT OF TOKENS</a:t>
              </a:r>
            </a:p>
          </p:txBody>
        </p:sp>
      </p:grpSp>
      <p:grpSp>
        <p:nvGrpSpPr>
          <p:cNvPr name="Group 16" id="16"/>
          <p:cNvGrpSpPr/>
          <p:nvPr/>
        </p:nvGrpSpPr>
        <p:grpSpPr>
          <a:xfrm rot="0">
            <a:off x="15019768" y="2248"/>
            <a:ext cx="3025135" cy="1428411"/>
            <a:chOff x="0" y="0"/>
            <a:chExt cx="4499699" cy="2124672"/>
          </a:xfrm>
        </p:grpSpPr>
        <p:sp>
          <p:nvSpPr>
            <p:cNvPr name="Freeform 17" id="17"/>
            <p:cNvSpPr/>
            <p:nvPr/>
          </p:nvSpPr>
          <p:spPr>
            <a:xfrm flipH="false" flipV="false" rot="0">
              <a:off x="0" y="0"/>
              <a:ext cx="4499737" cy="2124710"/>
            </a:xfrm>
            <a:custGeom>
              <a:avLst/>
              <a:gdLst/>
              <a:ahLst/>
              <a:cxnLst/>
              <a:rect r="r" b="b" t="t" l="l"/>
              <a:pathLst>
                <a:path h="2124710" w="4499737">
                  <a:moveTo>
                    <a:pt x="0" y="0"/>
                  </a:moveTo>
                  <a:lnTo>
                    <a:pt x="4499737" y="0"/>
                  </a:lnTo>
                  <a:lnTo>
                    <a:pt x="4499737" y="2124710"/>
                  </a:lnTo>
                  <a:lnTo>
                    <a:pt x="0" y="2124710"/>
                  </a:lnTo>
                  <a:lnTo>
                    <a:pt x="0" y="0"/>
                  </a:lnTo>
                  <a:close/>
                </a:path>
              </a:pathLst>
            </a:custGeom>
            <a:blipFill>
              <a:blip r:embed="rId3"/>
              <a:stretch>
                <a:fillRect l="0" t="0" r="0" b="1"/>
              </a:stretch>
            </a:blipFill>
          </p:spPr>
        </p:sp>
      </p:grpSp>
      <p:sp>
        <p:nvSpPr>
          <p:cNvPr id="18" name="Rounded Rectangle 17"/>
          <p:cNvSpPr/>
          <p:nvPr/>
        </p:nvSpPr>
        <p:spPr>
          <a:xfrm>
            <a:off x="731520" y="1170432"/>
            <a:ext cx="3657600" cy="457200"/>
          </a:xfrm>
          <a:prstGeom prst="roundRect">
            <a:avLst>
              <a:gd name="adj" fmla="val 50000"/>
            </a:avLst>
          </a:prstGeom>
          <a:solidFill>
            <a:srgbClr val="F5D5E0"/>
          </a:solidFill>
          <a:ln>
            <a:noFill/>
          </a:ln>
          <a:effectLst/>
        </p:spPr>
        <p:txBody>
          <a:bodyPr rtlCol="0" anchor="ctr"/>
          <a:lstStyle/>
          <a:p>
            <a:pPr algn="ctr"/>
          </a:p>
        </p:txBody>
      </p:sp>
      <p:sp>
        <p:nvSpPr>
          <p:cNvPr id="19" name="Oval 18"/>
          <p:cNvSpPr/>
          <p:nvPr/>
        </p:nvSpPr>
        <p:spPr>
          <a:xfrm>
            <a:off x="457200" y="1115568"/>
            <a:ext cx="566928" cy="566928"/>
          </a:xfrm>
          <a:prstGeom prst="ellipse">
            <a:avLst/>
          </a:prstGeom>
          <a:solidFill>
            <a:srgbClr val="E86692"/>
          </a:solidFill>
          <a:ln>
            <a:noFill/>
          </a:ln>
          <a:effectLst/>
        </p:spPr>
        <p:txBody>
          <a:bodyPr rtlCol="0" anchor="ctr"/>
          <a:lstStyle/>
          <a:p>
            <a:pPr algn="ctr"/>
          </a:p>
        </p:txBody>
      </p:sp>
      <p:pic>
        <p:nvPicPr>
          <p:cNvPr id="20" name="Picture 19" descr="LuRocket-white.png"/>
          <p:cNvPicPr>
            <a:picLocks noChangeAspect="1"/>
          </p:cNvPicPr>
          <p:nvPr/>
        </p:nvPicPr>
        <p:blipFill>
          <a:blip r:embed="rId7"/>
          <a:stretch>
            <a:fillRect/>
          </a:stretch>
        </p:blipFill>
        <p:spPr>
          <a:xfrm>
            <a:off x="576254" y="1234622"/>
            <a:ext cx="328818" cy="328818"/>
          </a:xfrm>
          <a:prstGeom prst="rect">
            <a:avLst/>
          </a:prstGeom>
        </p:spPr>
      </p:pic>
      <p:sp>
        <p:nvSpPr>
          <p:cNvPr id="21" name="TextBox 20"/>
          <p:cNvSpPr txBox="1"/>
          <p:nvPr/>
        </p:nvSpPr>
        <p:spPr>
          <a:xfrm>
            <a:off x="1170432" y="1170432"/>
            <a:ext cx="3154679" cy="457200"/>
          </a:xfrm>
          <a:prstGeom prst="rect">
            <a:avLst/>
          </a:prstGeom>
          <a:noFill/>
        </p:spPr>
        <p:txBody>
          <a:bodyPr wrap="square" lIns="0" rIns="0" tIns="0" bIns="0" anchor="ctr">
            <a:noAutofit/>
          </a:bodyPr>
          <a:lstStyle/>
          <a:p>
            <a:pPr algn="l"/>
            <a:r>
              <a:rPr sz="1900" b="1" i="0">
                <a:solidFill>
                  <a:srgbClr val="1B1340"/>
                </a:solidFill>
                <a:latin typeface="Times New Roman"/>
              </a:rPr>
              <a:t>WHY WE CAN BUILD IT</a:t>
            </a:r>
          </a:p>
        </p:txBody>
      </p:sp>
      <p:sp>
        <p:nvSpPr>
          <p:cNvPr id="22" name="TextBox 21"/>
          <p:cNvSpPr txBox="1"/>
          <p:nvPr/>
        </p:nvSpPr>
        <p:spPr>
          <a:xfrm>
            <a:off x="868680" y="1719072"/>
            <a:ext cx="10058400" cy="411480"/>
          </a:xfrm>
          <a:prstGeom prst="rect">
            <a:avLst/>
          </a:prstGeom>
          <a:noFill/>
        </p:spPr>
        <p:txBody>
          <a:bodyPr wrap="square" lIns="0" rIns="0" tIns="0" bIns="0" anchor="t">
            <a:noAutofit/>
          </a:bodyPr>
          <a:lstStyle/>
          <a:p>
            <a:pPr algn="l"/>
            <a:r>
              <a:rPr sz="2200" b="1" i="0">
                <a:solidFill>
                  <a:srgbClr val="111111"/>
                </a:solidFill>
                <a:latin typeface="Times New Roman"/>
              </a:rPr>
              <a:t>Every part already exists. We joined them, and it runs today.</a:t>
            </a:r>
          </a:p>
        </p:txBody>
      </p:sp>
      <p:sp>
        <p:nvSpPr>
          <p:cNvPr id="23" name="Rounded Rectangle 22"/>
          <p:cNvSpPr/>
          <p:nvPr/>
        </p:nvSpPr>
        <p:spPr>
          <a:xfrm>
            <a:off x="457200" y="2286000"/>
            <a:ext cx="5577840" cy="2450592"/>
          </a:xfrm>
          <a:prstGeom prst="roundRect">
            <a:avLst>
              <a:gd name="adj" fmla="val 6716"/>
            </a:avLst>
          </a:prstGeom>
          <a:solidFill>
            <a:srgbClr val="E9E4FD"/>
          </a:solidFill>
          <a:ln w="12700">
            <a:solidFill>
              <a:srgbClr val="D9D2FA"/>
            </a:solidFill>
          </a:ln>
          <a:effectLst/>
        </p:spPr>
        <p:txBody>
          <a:bodyPr rtlCol="0" anchor="ctr"/>
          <a:lstStyle/>
          <a:p>
            <a:pPr algn="ctr"/>
          </a:p>
        </p:txBody>
      </p:sp>
      <p:sp>
        <p:nvSpPr>
          <p:cNvPr id="24" name="Oval 23"/>
          <p:cNvSpPr/>
          <p:nvPr/>
        </p:nvSpPr>
        <p:spPr>
          <a:xfrm>
            <a:off x="685800" y="2487168"/>
            <a:ext cx="512064" cy="512064"/>
          </a:xfrm>
          <a:prstGeom prst="ellipse">
            <a:avLst/>
          </a:prstGeom>
          <a:solidFill>
            <a:srgbClr val="5641F4"/>
          </a:solidFill>
          <a:ln>
            <a:noFill/>
          </a:ln>
          <a:effectLst/>
        </p:spPr>
        <p:txBody>
          <a:bodyPr rtlCol="0" anchor="ctr"/>
          <a:lstStyle/>
          <a:p>
            <a:pPr algn="ctr"/>
          </a:p>
        </p:txBody>
      </p:sp>
      <p:pic>
        <p:nvPicPr>
          <p:cNvPr id="25" name="Picture 24" descr="LuLayers-white.png"/>
          <p:cNvPicPr>
            <a:picLocks noChangeAspect="1"/>
          </p:cNvPicPr>
          <p:nvPr/>
        </p:nvPicPr>
        <p:blipFill>
          <a:blip r:embed="rId8"/>
          <a:stretch>
            <a:fillRect/>
          </a:stretch>
        </p:blipFill>
        <p:spPr>
          <a:xfrm>
            <a:off x="793333" y="2594701"/>
            <a:ext cx="296997" cy="296997"/>
          </a:xfrm>
          <a:prstGeom prst="rect">
            <a:avLst/>
          </a:prstGeom>
        </p:spPr>
      </p:pic>
      <p:sp>
        <p:nvSpPr>
          <p:cNvPr id="26" name="TextBox 25"/>
          <p:cNvSpPr txBox="1"/>
          <p:nvPr/>
        </p:nvSpPr>
        <p:spPr>
          <a:xfrm>
            <a:off x="1325880" y="2450592"/>
            <a:ext cx="4572000" cy="365760"/>
          </a:xfrm>
          <a:prstGeom prst="rect">
            <a:avLst/>
          </a:prstGeom>
          <a:noFill/>
        </p:spPr>
        <p:txBody>
          <a:bodyPr wrap="square" lIns="0" rIns="0" tIns="0" bIns="0" anchor="t">
            <a:noAutofit/>
          </a:bodyPr>
          <a:lstStyle/>
          <a:p>
            <a:pPr algn="l"/>
            <a:r>
              <a:rPr sz="1800" b="1" i="0">
                <a:solidFill>
                  <a:srgbClr val="111111"/>
                </a:solidFill>
                <a:latin typeface="Times New Roman"/>
              </a:rPr>
              <a:t>Proven, open-source stack</a:t>
            </a:r>
          </a:p>
        </p:txBody>
      </p:sp>
      <p:sp>
        <p:nvSpPr>
          <p:cNvPr id="27" name="TextBox 26"/>
          <p:cNvSpPr txBox="1"/>
          <p:nvPr/>
        </p:nvSpPr>
        <p:spPr>
          <a:xfrm>
            <a:off x="1325880" y="2816352"/>
            <a:ext cx="4572000" cy="320040"/>
          </a:xfrm>
          <a:prstGeom prst="rect">
            <a:avLst/>
          </a:prstGeom>
          <a:noFill/>
        </p:spPr>
        <p:txBody>
          <a:bodyPr wrap="square" lIns="0" rIns="0" tIns="0" bIns="0" anchor="t">
            <a:noAutofit/>
          </a:bodyPr>
          <a:lstStyle/>
          <a:p>
            <a:pPr algn="l"/>
            <a:r>
              <a:rPr sz="1500" b="0" i="0">
                <a:solidFill>
                  <a:srgbClr val="111111"/>
                </a:solidFill>
                <a:latin typeface="Times New Roman"/>
              </a:rPr>
              <a:t>Widely used parts, live on Netlify and Render</a:t>
            </a:r>
          </a:p>
        </p:txBody>
      </p:sp>
      <p:sp>
        <p:nvSpPr>
          <p:cNvPr id="28" name="Rounded Rectangle 27"/>
          <p:cNvSpPr/>
          <p:nvPr/>
        </p:nvSpPr>
        <p:spPr>
          <a:xfrm>
            <a:off x="731520" y="3383280"/>
            <a:ext cx="753465" cy="384048"/>
          </a:xfrm>
          <a:prstGeom prst="roundRect">
            <a:avLst>
              <a:gd name="adj" fmla="val 50000"/>
            </a:avLst>
          </a:prstGeom>
          <a:solidFill>
            <a:srgbClr val="FFFFFF"/>
          </a:solidFill>
          <a:ln w="15875">
            <a:solidFill>
              <a:srgbClr val="D9D2FA"/>
            </a:solidFill>
          </a:ln>
          <a:effectLst/>
        </p:spPr>
        <p:txBody>
          <a:bodyPr rtlCol="0" anchor="ctr"/>
          <a:lstStyle/>
          <a:p>
            <a:pPr algn="ctr"/>
          </a:p>
        </p:txBody>
      </p:sp>
      <p:sp>
        <p:nvSpPr>
          <p:cNvPr id="29" name="TextBox 28"/>
          <p:cNvSpPr txBox="1"/>
          <p:nvPr/>
        </p:nvSpPr>
        <p:spPr>
          <a:xfrm>
            <a:off x="731520" y="3383280"/>
            <a:ext cx="753465" cy="384048"/>
          </a:xfrm>
          <a:prstGeom prst="rect">
            <a:avLst/>
          </a:prstGeom>
          <a:noFill/>
        </p:spPr>
        <p:txBody>
          <a:bodyPr wrap="square" lIns="0" rIns="0" tIns="0" bIns="0" anchor="ctr">
            <a:noAutofit/>
          </a:bodyPr>
          <a:lstStyle/>
          <a:p>
            <a:pPr algn="ctr"/>
            <a:r>
              <a:rPr sz="1400" b="1" i="0">
                <a:solidFill>
                  <a:srgbClr val="3C24C4"/>
                </a:solidFill>
                <a:latin typeface="Times New Roman"/>
              </a:rPr>
              <a:t>React</a:t>
            </a:r>
          </a:p>
        </p:txBody>
      </p:sp>
      <p:sp>
        <p:nvSpPr>
          <p:cNvPr id="30" name="Rounded Rectangle 29"/>
          <p:cNvSpPr/>
          <p:nvPr/>
        </p:nvSpPr>
        <p:spPr>
          <a:xfrm>
            <a:off x="1649577" y="3383280"/>
            <a:ext cx="661294" cy="384048"/>
          </a:xfrm>
          <a:prstGeom prst="roundRect">
            <a:avLst>
              <a:gd name="adj" fmla="val 50000"/>
            </a:avLst>
          </a:prstGeom>
          <a:solidFill>
            <a:srgbClr val="FFFFFF"/>
          </a:solidFill>
          <a:ln w="15875">
            <a:solidFill>
              <a:srgbClr val="D9D2FA"/>
            </a:solidFill>
          </a:ln>
          <a:effectLst/>
        </p:spPr>
        <p:txBody>
          <a:bodyPr rtlCol="0" anchor="ctr"/>
          <a:lstStyle/>
          <a:p>
            <a:pPr algn="ctr"/>
          </a:p>
        </p:txBody>
      </p:sp>
      <p:sp>
        <p:nvSpPr>
          <p:cNvPr id="31" name="TextBox 30"/>
          <p:cNvSpPr txBox="1"/>
          <p:nvPr/>
        </p:nvSpPr>
        <p:spPr>
          <a:xfrm>
            <a:off x="1649577" y="3383280"/>
            <a:ext cx="661294" cy="384048"/>
          </a:xfrm>
          <a:prstGeom prst="rect">
            <a:avLst/>
          </a:prstGeom>
          <a:noFill/>
        </p:spPr>
        <p:txBody>
          <a:bodyPr wrap="square" lIns="0" rIns="0" tIns="0" bIns="0" anchor="ctr">
            <a:noAutofit/>
          </a:bodyPr>
          <a:lstStyle/>
          <a:p>
            <a:pPr algn="ctr"/>
            <a:r>
              <a:rPr sz="1400" b="1" i="0">
                <a:solidFill>
                  <a:srgbClr val="3C24C4"/>
                </a:solidFill>
                <a:latin typeface="Times New Roman"/>
              </a:rPr>
              <a:t>Vite</a:t>
            </a:r>
          </a:p>
        </p:txBody>
      </p:sp>
      <p:sp>
        <p:nvSpPr>
          <p:cNvPr id="32" name="Rounded Rectangle 31"/>
          <p:cNvSpPr/>
          <p:nvPr/>
        </p:nvSpPr>
        <p:spPr>
          <a:xfrm>
            <a:off x="2475463" y="3383280"/>
            <a:ext cx="1214323" cy="384048"/>
          </a:xfrm>
          <a:prstGeom prst="roundRect">
            <a:avLst>
              <a:gd name="adj" fmla="val 50000"/>
            </a:avLst>
          </a:prstGeom>
          <a:solidFill>
            <a:srgbClr val="FFFFFF"/>
          </a:solidFill>
          <a:ln w="15875">
            <a:solidFill>
              <a:srgbClr val="D9D2FA"/>
            </a:solidFill>
          </a:ln>
          <a:effectLst/>
        </p:spPr>
        <p:txBody>
          <a:bodyPr rtlCol="0" anchor="ctr"/>
          <a:lstStyle/>
          <a:p>
            <a:pPr algn="ctr"/>
          </a:p>
        </p:txBody>
      </p:sp>
      <p:sp>
        <p:nvSpPr>
          <p:cNvPr id="33" name="TextBox 32"/>
          <p:cNvSpPr txBox="1"/>
          <p:nvPr/>
        </p:nvSpPr>
        <p:spPr>
          <a:xfrm>
            <a:off x="2475463" y="3383280"/>
            <a:ext cx="1214323" cy="384048"/>
          </a:xfrm>
          <a:prstGeom prst="rect">
            <a:avLst/>
          </a:prstGeom>
          <a:noFill/>
        </p:spPr>
        <p:txBody>
          <a:bodyPr wrap="square" lIns="0" rIns="0" tIns="0" bIns="0" anchor="ctr">
            <a:noAutofit/>
          </a:bodyPr>
          <a:lstStyle/>
          <a:p>
            <a:pPr algn="ctr"/>
            <a:r>
              <a:rPr sz="1400" b="1" i="0">
                <a:solidFill>
                  <a:srgbClr val="3C24C4"/>
                </a:solidFill>
                <a:latin typeface="Times New Roman"/>
              </a:rPr>
              <a:t>TypeScript</a:t>
            </a:r>
          </a:p>
        </p:txBody>
      </p:sp>
      <p:sp>
        <p:nvSpPr>
          <p:cNvPr id="34" name="Rounded Rectangle 33"/>
          <p:cNvSpPr/>
          <p:nvPr/>
        </p:nvSpPr>
        <p:spPr>
          <a:xfrm>
            <a:off x="3854378" y="3383280"/>
            <a:ext cx="1029980" cy="384048"/>
          </a:xfrm>
          <a:prstGeom prst="roundRect">
            <a:avLst>
              <a:gd name="adj" fmla="val 50000"/>
            </a:avLst>
          </a:prstGeom>
          <a:solidFill>
            <a:srgbClr val="FFFFFF"/>
          </a:solidFill>
          <a:ln w="15875">
            <a:solidFill>
              <a:srgbClr val="D9D2FA"/>
            </a:solidFill>
          </a:ln>
          <a:effectLst/>
        </p:spPr>
        <p:txBody>
          <a:bodyPr rtlCol="0" anchor="ctr"/>
          <a:lstStyle/>
          <a:p>
            <a:pPr algn="ctr"/>
          </a:p>
        </p:txBody>
      </p:sp>
      <p:sp>
        <p:nvSpPr>
          <p:cNvPr id="35" name="TextBox 34"/>
          <p:cNvSpPr txBox="1"/>
          <p:nvPr/>
        </p:nvSpPr>
        <p:spPr>
          <a:xfrm>
            <a:off x="3854378" y="3383280"/>
            <a:ext cx="1029980" cy="384048"/>
          </a:xfrm>
          <a:prstGeom prst="rect">
            <a:avLst/>
          </a:prstGeom>
          <a:noFill/>
        </p:spPr>
        <p:txBody>
          <a:bodyPr wrap="square" lIns="0" rIns="0" tIns="0" bIns="0" anchor="ctr">
            <a:noAutofit/>
          </a:bodyPr>
          <a:lstStyle/>
          <a:p>
            <a:pPr algn="ctr"/>
            <a:r>
              <a:rPr sz="1400" b="1" i="0">
                <a:solidFill>
                  <a:srgbClr val="3C24C4"/>
                </a:solidFill>
                <a:latin typeface="Times New Roman"/>
              </a:rPr>
              <a:t>Tailwind</a:t>
            </a:r>
          </a:p>
        </p:txBody>
      </p:sp>
      <p:sp>
        <p:nvSpPr>
          <p:cNvPr id="36" name="Rounded Rectangle 35"/>
          <p:cNvSpPr/>
          <p:nvPr/>
        </p:nvSpPr>
        <p:spPr>
          <a:xfrm>
            <a:off x="731520" y="3931920"/>
            <a:ext cx="937808" cy="384048"/>
          </a:xfrm>
          <a:prstGeom prst="roundRect">
            <a:avLst>
              <a:gd name="adj" fmla="val 50000"/>
            </a:avLst>
          </a:prstGeom>
          <a:solidFill>
            <a:srgbClr val="FFFFFF"/>
          </a:solidFill>
          <a:ln w="15875">
            <a:solidFill>
              <a:srgbClr val="D9D2FA"/>
            </a:solidFill>
          </a:ln>
          <a:effectLst/>
        </p:spPr>
        <p:txBody>
          <a:bodyPr rtlCol="0" anchor="ctr"/>
          <a:lstStyle/>
          <a:p>
            <a:pPr algn="ctr"/>
          </a:p>
        </p:txBody>
      </p:sp>
      <p:sp>
        <p:nvSpPr>
          <p:cNvPr id="37" name="TextBox 36"/>
          <p:cNvSpPr txBox="1"/>
          <p:nvPr/>
        </p:nvSpPr>
        <p:spPr>
          <a:xfrm>
            <a:off x="731520" y="3931920"/>
            <a:ext cx="937808" cy="384048"/>
          </a:xfrm>
          <a:prstGeom prst="rect">
            <a:avLst/>
          </a:prstGeom>
          <a:noFill/>
        </p:spPr>
        <p:txBody>
          <a:bodyPr wrap="square" lIns="0" rIns="0" tIns="0" bIns="0" anchor="ctr">
            <a:noAutofit/>
          </a:bodyPr>
          <a:lstStyle/>
          <a:p>
            <a:pPr algn="ctr"/>
            <a:r>
              <a:rPr sz="1400" b="1" i="0">
                <a:solidFill>
                  <a:srgbClr val="3C24C4"/>
                </a:solidFill>
                <a:latin typeface="Times New Roman"/>
              </a:rPr>
              <a:t>FastAPI</a:t>
            </a:r>
          </a:p>
        </p:txBody>
      </p:sp>
      <p:sp>
        <p:nvSpPr>
          <p:cNvPr id="38" name="Rounded Rectangle 37"/>
          <p:cNvSpPr/>
          <p:nvPr/>
        </p:nvSpPr>
        <p:spPr>
          <a:xfrm>
            <a:off x="1833920" y="3931920"/>
            <a:ext cx="1214323" cy="384048"/>
          </a:xfrm>
          <a:prstGeom prst="roundRect">
            <a:avLst>
              <a:gd name="adj" fmla="val 50000"/>
            </a:avLst>
          </a:prstGeom>
          <a:solidFill>
            <a:srgbClr val="FFFFFF"/>
          </a:solidFill>
          <a:ln w="15875">
            <a:solidFill>
              <a:srgbClr val="D9D2FA"/>
            </a:solidFill>
          </a:ln>
          <a:effectLst/>
        </p:spPr>
        <p:txBody>
          <a:bodyPr rtlCol="0" anchor="ctr"/>
          <a:lstStyle/>
          <a:p>
            <a:pPr algn="ctr"/>
          </a:p>
        </p:txBody>
      </p:sp>
      <p:sp>
        <p:nvSpPr>
          <p:cNvPr id="39" name="TextBox 38"/>
          <p:cNvSpPr txBox="1"/>
          <p:nvPr/>
        </p:nvSpPr>
        <p:spPr>
          <a:xfrm>
            <a:off x="1833920" y="3931920"/>
            <a:ext cx="1214323" cy="384048"/>
          </a:xfrm>
          <a:prstGeom prst="rect">
            <a:avLst/>
          </a:prstGeom>
          <a:noFill/>
        </p:spPr>
        <p:txBody>
          <a:bodyPr wrap="square" lIns="0" rIns="0" tIns="0" bIns="0" anchor="ctr">
            <a:noAutofit/>
          </a:bodyPr>
          <a:lstStyle/>
          <a:p>
            <a:pPr algn="ctr"/>
            <a:r>
              <a:rPr sz="1400" b="1" i="0">
                <a:solidFill>
                  <a:srgbClr val="3C24C4"/>
                </a:solidFill>
                <a:latin typeface="Times New Roman"/>
              </a:rPr>
              <a:t>PostgreSQL</a:t>
            </a:r>
          </a:p>
        </p:txBody>
      </p:sp>
      <p:sp>
        <p:nvSpPr>
          <p:cNvPr id="40" name="Rounded Rectangle 39"/>
          <p:cNvSpPr/>
          <p:nvPr/>
        </p:nvSpPr>
        <p:spPr>
          <a:xfrm>
            <a:off x="3212835" y="3931920"/>
            <a:ext cx="845637" cy="384048"/>
          </a:xfrm>
          <a:prstGeom prst="roundRect">
            <a:avLst>
              <a:gd name="adj" fmla="val 50000"/>
            </a:avLst>
          </a:prstGeom>
          <a:solidFill>
            <a:srgbClr val="FFFFFF"/>
          </a:solidFill>
          <a:ln w="15875">
            <a:solidFill>
              <a:srgbClr val="D9D2FA"/>
            </a:solidFill>
          </a:ln>
          <a:effectLst/>
        </p:spPr>
        <p:txBody>
          <a:bodyPr rtlCol="0" anchor="ctr"/>
          <a:lstStyle/>
          <a:p>
            <a:pPr algn="ctr"/>
          </a:p>
        </p:txBody>
      </p:sp>
      <p:sp>
        <p:nvSpPr>
          <p:cNvPr id="41" name="TextBox 40"/>
          <p:cNvSpPr txBox="1"/>
          <p:nvPr/>
        </p:nvSpPr>
        <p:spPr>
          <a:xfrm>
            <a:off x="3212835" y="3931920"/>
            <a:ext cx="845637" cy="384048"/>
          </a:xfrm>
          <a:prstGeom prst="rect">
            <a:avLst/>
          </a:prstGeom>
          <a:noFill/>
        </p:spPr>
        <p:txBody>
          <a:bodyPr wrap="square" lIns="0" rIns="0" tIns="0" bIns="0" anchor="ctr">
            <a:noAutofit/>
          </a:bodyPr>
          <a:lstStyle/>
          <a:p>
            <a:pPr algn="ctr"/>
            <a:r>
              <a:rPr sz="1400" b="1" i="0">
                <a:solidFill>
                  <a:srgbClr val="3C24C4"/>
                </a:solidFill>
                <a:latin typeface="Times New Roman"/>
              </a:rPr>
              <a:t>Docker</a:t>
            </a:r>
          </a:p>
        </p:txBody>
      </p:sp>
      <p:sp>
        <p:nvSpPr>
          <p:cNvPr id="42" name="Rounded Rectangle 41"/>
          <p:cNvSpPr/>
          <p:nvPr/>
        </p:nvSpPr>
        <p:spPr>
          <a:xfrm>
            <a:off x="6355079" y="2286000"/>
            <a:ext cx="5577840" cy="2450592"/>
          </a:xfrm>
          <a:prstGeom prst="roundRect">
            <a:avLst>
              <a:gd name="adj" fmla="val 6716"/>
            </a:avLst>
          </a:prstGeom>
          <a:solidFill>
            <a:srgbClr val="FFF5DE"/>
          </a:solidFill>
          <a:ln w="12700">
            <a:solidFill>
              <a:srgbClr val="F2E3B8"/>
            </a:solidFill>
          </a:ln>
          <a:effectLst/>
        </p:spPr>
        <p:txBody>
          <a:bodyPr rtlCol="0" anchor="ctr"/>
          <a:lstStyle/>
          <a:p>
            <a:pPr algn="ctr"/>
          </a:p>
        </p:txBody>
      </p:sp>
      <p:sp>
        <p:nvSpPr>
          <p:cNvPr id="43" name="Oval 42"/>
          <p:cNvSpPr/>
          <p:nvPr/>
        </p:nvSpPr>
        <p:spPr>
          <a:xfrm>
            <a:off x="6583679" y="2487168"/>
            <a:ext cx="512064" cy="512064"/>
          </a:xfrm>
          <a:prstGeom prst="ellipse">
            <a:avLst/>
          </a:prstGeom>
          <a:solidFill>
            <a:srgbClr val="E4B326"/>
          </a:solidFill>
          <a:ln>
            <a:noFill/>
          </a:ln>
          <a:effectLst/>
        </p:spPr>
        <p:txBody>
          <a:bodyPr rtlCol="0" anchor="ctr"/>
          <a:lstStyle/>
          <a:p>
            <a:pPr algn="ctr"/>
          </a:p>
        </p:txBody>
      </p:sp>
      <p:pic>
        <p:nvPicPr>
          <p:cNvPr id="44" name="Picture 43" descr="LuBrainCircuit-white.png"/>
          <p:cNvPicPr>
            <a:picLocks noChangeAspect="1"/>
          </p:cNvPicPr>
          <p:nvPr/>
        </p:nvPicPr>
        <p:blipFill>
          <a:blip r:embed="rId9"/>
          <a:stretch>
            <a:fillRect/>
          </a:stretch>
        </p:blipFill>
        <p:spPr>
          <a:xfrm>
            <a:off x="6691213" y="2594701"/>
            <a:ext cx="296997" cy="296997"/>
          </a:xfrm>
          <a:prstGeom prst="rect">
            <a:avLst/>
          </a:prstGeom>
        </p:spPr>
      </p:pic>
      <p:sp>
        <p:nvSpPr>
          <p:cNvPr id="45" name="TextBox 44"/>
          <p:cNvSpPr txBox="1"/>
          <p:nvPr/>
        </p:nvSpPr>
        <p:spPr>
          <a:xfrm>
            <a:off x="7223759" y="2450592"/>
            <a:ext cx="4572000" cy="365760"/>
          </a:xfrm>
          <a:prstGeom prst="rect">
            <a:avLst/>
          </a:prstGeom>
          <a:noFill/>
        </p:spPr>
        <p:txBody>
          <a:bodyPr wrap="square" lIns="0" rIns="0" tIns="0" bIns="0" anchor="t">
            <a:noAutofit/>
          </a:bodyPr>
          <a:lstStyle/>
          <a:p>
            <a:pPr algn="l"/>
            <a:r>
              <a:rPr sz="1800" b="1" i="0">
                <a:solidFill>
                  <a:srgbClr val="111111"/>
                </a:solidFill>
                <a:latin typeface="Times New Roman"/>
              </a:rPr>
              <a:t>No model training needed</a:t>
            </a:r>
          </a:p>
        </p:txBody>
      </p:sp>
      <p:sp>
        <p:nvSpPr>
          <p:cNvPr id="46" name="TextBox 45"/>
          <p:cNvSpPr txBox="1"/>
          <p:nvPr/>
        </p:nvSpPr>
        <p:spPr>
          <a:xfrm>
            <a:off x="7223759" y="2816352"/>
            <a:ext cx="4526279" cy="594360"/>
          </a:xfrm>
          <a:prstGeom prst="rect">
            <a:avLst/>
          </a:prstGeom>
          <a:noFill/>
        </p:spPr>
        <p:txBody>
          <a:bodyPr wrap="square" lIns="0" rIns="0" tIns="0" bIns="0" anchor="t">
            <a:noAutofit/>
          </a:bodyPr>
          <a:lstStyle/>
          <a:p>
            <a:pPr algn="l"/>
            <a:r>
              <a:rPr sz="1500" b="0" i="0">
                <a:solidFill>
                  <a:srgbClr val="111111"/>
                </a:solidFill>
                <a:latin typeface="Times New Roman"/>
              </a:rPr>
              <a:t>A hosted LLM (Gemini), steered with prompts and strict schemas. No GPUs needed.</a:t>
            </a:r>
          </a:p>
        </p:txBody>
      </p:sp>
      <p:sp>
        <p:nvSpPr>
          <p:cNvPr id="47" name="Rounded Rectangle 46"/>
          <p:cNvSpPr/>
          <p:nvPr/>
        </p:nvSpPr>
        <p:spPr>
          <a:xfrm>
            <a:off x="6629399" y="3657600"/>
            <a:ext cx="845637" cy="384048"/>
          </a:xfrm>
          <a:prstGeom prst="roundRect">
            <a:avLst>
              <a:gd name="adj" fmla="val 50000"/>
            </a:avLst>
          </a:prstGeom>
          <a:solidFill>
            <a:srgbClr val="FFFFFF"/>
          </a:solidFill>
          <a:ln w="15875">
            <a:solidFill>
              <a:srgbClr val="EBCF8A"/>
            </a:solidFill>
          </a:ln>
          <a:effectLst/>
        </p:spPr>
        <p:txBody>
          <a:bodyPr rtlCol="0" anchor="ctr"/>
          <a:lstStyle/>
          <a:p>
            <a:pPr algn="ctr"/>
          </a:p>
        </p:txBody>
      </p:sp>
      <p:sp>
        <p:nvSpPr>
          <p:cNvPr id="48" name="TextBox 47"/>
          <p:cNvSpPr txBox="1"/>
          <p:nvPr/>
        </p:nvSpPr>
        <p:spPr>
          <a:xfrm>
            <a:off x="6629399" y="3657600"/>
            <a:ext cx="845637" cy="384048"/>
          </a:xfrm>
          <a:prstGeom prst="rect">
            <a:avLst/>
          </a:prstGeom>
          <a:noFill/>
        </p:spPr>
        <p:txBody>
          <a:bodyPr wrap="square" lIns="0" rIns="0" tIns="0" bIns="0" anchor="ctr">
            <a:noAutofit/>
          </a:bodyPr>
          <a:lstStyle/>
          <a:p>
            <a:pPr algn="ctr"/>
            <a:r>
              <a:rPr sz="1400" b="1" i="0">
                <a:solidFill>
                  <a:srgbClr val="8B5902"/>
                </a:solidFill>
                <a:latin typeface="Times New Roman"/>
              </a:rPr>
              <a:t>Gemini</a:t>
            </a:r>
          </a:p>
        </p:txBody>
      </p:sp>
      <p:sp>
        <p:nvSpPr>
          <p:cNvPr id="49" name="Rounded Rectangle 48"/>
          <p:cNvSpPr/>
          <p:nvPr/>
        </p:nvSpPr>
        <p:spPr>
          <a:xfrm>
            <a:off x="7639629" y="3657600"/>
            <a:ext cx="1122151" cy="384048"/>
          </a:xfrm>
          <a:prstGeom prst="roundRect">
            <a:avLst>
              <a:gd name="adj" fmla="val 50000"/>
            </a:avLst>
          </a:prstGeom>
          <a:solidFill>
            <a:srgbClr val="FFFFFF"/>
          </a:solidFill>
          <a:ln w="15875">
            <a:solidFill>
              <a:srgbClr val="EBCF8A"/>
            </a:solidFill>
          </a:ln>
          <a:effectLst/>
        </p:spPr>
        <p:txBody>
          <a:bodyPr rtlCol="0" anchor="ctr"/>
          <a:lstStyle/>
          <a:p>
            <a:pPr algn="ctr"/>
          </a:p>
        </p:txBody>
      </p:sp>
      <p:sp>
        <p:nvSpPr>
          <p:cNvPr id="50" name="TextBox 49"/>
          <p:cNvSpPr txBox="1"/>
          <p:nvPr/>
        </p:nvSpPr>
        <p:spPr>
          <a:xfrm>
            <a:off x="7639629" y="3657600"/>
            <a:ext cx="1122151" cy="384048"/>
          </a:xfrm>
          <a:prstGeom prst="rect">
            <a:avLst/>
          </a:prstGeom>
          <a:noFill/>
        </p:spPr>
        <p:txBody>
          <a:bodyPr wrap="square" lIns="0" rIns="0" tIns="0" bIns="0" anchor="ctr">
            <a:noAutofit/>
          </a:bodyPr>
          <a:lstStyle/>
          <a:p>
            <a:pPr algn="ctr"/>
            <a:r>
              <a:rPr sz="1400" b="1" i="0">
                <a:solidFill>
                  <a:srgbClr val="8B5902"/>
                </a:solidFill>
                <a:latin typeface="Times New Roman"/>
              </a:rPr>
              <a:t>Prompting</a:t>
            </a:r>
          </a:p>
        </p:txBody>
      </p:sp>
      <p:sp>
        <p:nvSpPr>
          <p:cNvPr id="51" name="Rounded Rectangle 50"/>
          <p:cNvSpPr/>
          <p:nvPr/>
        </p:nvSpPr>
        <p:spPr>
          <a:xfrm>
            <a:off x="8926372" y="3657600"/>
            <a:ext cx="1583009" cy="384048"/>
          </a:xfrm>
          <a:prstGeom prst="roundRect">
            <a:avLst>
              <a:gd name="adj" fmla="val 50000"/>
            </a:avLst>
          </a:prstGeom>
          <a:solidFill>
            <a:srgbClr val="FFFFFF"/>
          </a:solidFill>
          <a:ln w="15875">
            <a:solidFill>
              <a:srgbClr val="EBCF8A"/>
            </a:solidFill>
          </a:ln>
          <a:effectLst/>
        </p:spPr>
        <p:txBody>
          <a:bodyPr rtlCol="0" anchor="ctr"/>
          <a:lstStyle/>
          <a:p>
            <a:pPr algn="ctr"/>
          </a:p>
        </p:txBody>
      </p:sp>
      <p:sp>
        <p:nvSpPr>
          <p:cNvPr id="52" name="TextBox 51"/>
          <p:cNvSpPr txBox="1"/>
          <p:nvPr/>
        </p:nvSpPr>
        <p:spPr>
          <a:xfrm>
            <a:off x="8926372" y="3657600"/>
            <a:ext cx="1583009" cy="384048"/>
          </a:xfrm>
          <a:prstGeom prst="rect">
            <a:avLst/>
          </a:prstGeom>
          <a:noFill/>
        </p:spPr>
        <p:txBody>
          <a:bodyPr wrap="square" lIns="0" rIns="0" tIns="0" bIns="0" anchor="ctr">
            <a:noAutofit/>
          </a:bodyPr>
          <a:lstStyle/>
          <a:p>
            <a:pPr algn="ctr"/>
            <a:r>
              <a:rPr sz="1400" b="1" i="0">
                <a:solidFill>
                  <a:srgbClr val="8B5902"/>
                </a:solidFill>
                <a:latin typeface="Times New Roman"/>
              </a:rPr>
              <a:t>Strict schemas</a:t>
            </a:r>
          </a:p>
        </p:txBody>
      </p:sp>
      <p:sp>
        <p:nvSpPr>
          <p:cNvPr id="53" name="Rounded Rectangle 52"/>
          <p:cNvSpPr/>
          <p:nvPr/>
        </p:nvSpPr>
        <p:spPr>
          <a:xfrm>
            <a:off x="6629399" y="4206240"/>
            <a:ext cx="2603479" cy="384048"/>
          </a:xfrm>
          <a:prstGeom prst="roundRect">
            <a:avLst>
              <a:gd name="adj" fmla="val 50000"/>
            </a:avLst>
          </a:prstGeom>
          <a:solidFill>
            <a:srgbClr val="FFFFFF"/>
          </a:solidFill>
          <a:ln w="15875">
            <a:solidFill>
              <a:srgbClr val="C9A227"/>
            </a:solidFill>
            <a:prstDash val="dash"/>
          </a:ln>
          <a:effectLst/>
        </p:spPr>
        <p:txBody>
          <a:bodyPr rtlCol="0" anchor="ctr"/>
          <a:lstStyle/>
          <a:p>
            <a:pPr algn="ctr"/>
          </a:p>
        </p:txBody>
      </p:sp>
      <p:sp>
        <p:nvSpPr>
          <p:cNvPr id="54" name="TextBox 53"/>
          <p:cNvSpPr txBox="1"/>
          <p:nvPr/>
        </p:nvSpPr>
        <p:spPr>
          <a:xfrm>
            <a:off x="6629399" y="4206240"/>
            <a:ext cx="2603479" cy="384048"/>
          </a:xfrm>
          <a:prstGeom prst="rect">
            <a:avLst/>
          </a:prstGeom>
          <a:noFill/>
        </p:spPr>
        <p:txBody>
          <a:bodyPr wrap="square" lIns="0" rIns="0" tIns="0" bIns="0" anchor="ctr">
            <a:noAutofit/>
          </a:bodyPr>
          <a:lstStyle/>
          <a:p>
            <a:pPr algn="ctr"/>
            <a:r>
              <a:rPr sz="1300" b="1" i="0">
                <a:solidFill>
                  <a:srgbClr val="8A6C0C"/>
                </a:solidFill>
                <a:latin typeface="Times New Roman"/>
              </a:rPr>
              <a:t>RAG with pgvector · planned</a:t>
            </a:r>
          </a:p>
        </p:txBody>
      </p:sp>
      <p:sp>
        <p:nvSpPr>
          <p:cNvPr id="55" name="Rounded Rectangle 54"/>
          <p:cNvSpPr/>
          <p:nvPr/>
        </p:nvSpPr>
        <p:spPr>
          <a:xfrm>
            <a:off x="12252959" y="2286000"/>
            <a:ext cx="5577840" cy="2450592"/>
          </a:xfrm>
          <a:prstGeom prst="roundRect">
            <a:avLst>
              <a:gd name="adj" fmla="val 6716"/>
            </a:avLst>
          </a:prstGeom>
          <a:solidFill>
            <a:srgbClr val="E2F6EA"/>
          </a:solidFill>
          <a:ln w="12700">
            <a:solidFill>
              <a:srgbClr val="BFE5CC"/>
            </a:solidFill>
          </a:ln>
          <a:effectLst/>
        </p:spPr>
        <p:txBody>
          <a:bodyPr rtlCol="0" anchor="ctr"/>
          <a:lstStyle/>
          <a:p>
            <a:pPr algn="ctr"/>
          </a:p>
        </p:txBody>
      </p:sp>
      <p:sp>
        <p:nvSpPr>
          <p:cNvPr id="56" name="Oval 55"/>
          <p:cNvSpPr/>
          <p:nvPr/>
        </p:nvSpPr>
        <p:spPr>
          <a:xfrm>
            <a:off x="12481559" y="2487168"/>
            <a:ext cx="512064" cy="512064"/>
          </a:xfrm>
          <a:prstGeom prst="ellipse">
            <a:avLst/>
          </a:prstGeom>
          <a:solidFill>
            <a:srgbClr val="2E9E5B"/>
          </a:solidFill>
          <a:ln>
            <a:noFill/>
          </a:ln>
          <a:effectLst/>
        </p:spPr>
        <p:txBody>
          <a:bodyPr rtlCol="0" anchor="ctr"/>
          <a:lstStyle/>
          <a:p>
            <a:pPr algn="ctr"/>
          </a:p>
        </p:txBody>
      </p:sp>
      <p:pic>
        <p:nvPicPr>
          <p:cNvPr id="57" name="Picture 56" descr="LuCpu-white.png"/>
          <p:cNvPicPr>
            <a:picLocks noChangeAspect="1"/>
          </p:cNvPicPr>
          <p:nvPr/>
        </p:nvPicPr>
        <p:blipFill>
          <a:blip r:embed="rId10"/>
          <a:stretch>
            <a:fillRect/>
          </a:stretch>
        </p:blipFill>
        <p:spPr>
          <a:xfrm>
            <a:off x="12589093" y="2594701"/>
            <a:ext cx="296997" cy="296997"/>
          </a:xfrm>
          <a:prstGeom prst="rect">
            <a:avLst/>
          </a:prstGeom>
        </p:spPr>
      </p:pic>
      <p:sp>
        <p:nvSpPr>
          <p:cNvPr id="58" name="TextBox 57"/>
          <p:cNvSpPr txBox="1"/>
          <p:nvPr/>
        </p:nvSpPr>
        <p:spPr>
          <a:xfrm>
            <a:off x="13121639" y="2450592"/>
            <a:ext cx="4572000" cy="365760"/>
          </a:xfrm>
          <a:prstGeom prst="rect">
            <a:avLst/>
          </a:prstGeom>
          <a:noFill/>
        </p:spPr>
        <p:txBody>
          <a:bodyPr wrap="square" lIns="0" rIns="0" tIns="0" bIns="0" anchor="t">
            <a:noAutofit/>
          </a:bodyPr>
          <a:lstStyle/>
          <a:p>
            <a:pPr algn="l"/>
            <a:r>
              <a:rPr sz="1800" b="1" i="0">
                <a:solidFill>
                  <a:srgbClr val="111111"/>
                </a:solidFill>
                <a:latin typeface="Times New Roman"/>
              </a:rPr>
              <a:t>Our skills match the stack</a:t>
            </a:r>
          </a:p>
        </p:txBody>
      </p:sp>
      <p:sp>
        <p:nvSpPr>
          <p:cNvPr id="59" name="TextBox 58"/>
          <p:cNvSpPr txBox="1"/>
          <p:nvPr/>
        </p:nvSpPr>
        <p:spPr>
          <a:xfrm>
            <a:off x="13121639" y="2816352"/>
            <a:ext cx="4572000" cy="320040"/>
          </a:xfrm>
          <a:prstGeom prst="rect">
            <a:avLst/>
          </a:prstGeom>
          <a:noFill/>
        </p:spPr>
        <p:txBody>
          <a:bodyPr wrap="square" lIns="0" rIns="0" tIns="0" bIns="0" anchor="t">
            <a:noAutofit/>
          </a:bodyPr>
          <a:lstStyle/>
          <a:p>
            <a:pPr algn="l"/>
            <a:r>
              <a:rPr sz="1500" b="0" i="0">
                <a:solidFill>
                  <a:srgbClr val="111111"/>
                </a:solidFill>
                <a:latin typeface="Times New Roman"/>
              </a:rPr>
              <a:t>Each layer has an owner on the team</a:t>
            </a:r>
          </a:p>
        </p:txBody>
      </p:sp>
      <p:sp>
        <p:nvSpPr>
          <p:cNvPr id="60" name="TextBox 59"/>
          <p:cNvSpPr txBox="1"/>
          <p:nvPr/>
        </p:nvSpPr>
        <p:spPr>
          <a:xfrm>
            <a:off x="12664439" y="3273552"/>
            <a:ext cx="4937759" cy="1371600"/>
          </a:xfrm>
          <a:prstGeom prst="rect">
            <a:avLst/>
          </a:prstGeom>
          <a:noFill/>
        </p:spPr>
        <p:txBody>
          <a:bodyPr wrap="square" lIns="0" rIns="0" tIns="0" bIns="0" anchor="t">
            <a:noAutofit/>
          </a:bodyPr>
          <a:lstStyle/>
          <a:p>
            <a:pPr algn="l" marL="201168" indent="-201168">
              <a:spcAft>
                <a:spcPts val="300"/>
              </a:spcAft>
              <a:buClr>
                <a:srgbClr val="2E9E5B"/>
              </a:buClr>
              <a:buFont typeface="Arial"/>
              <a:buChar char="•"/>
            </a:pPr>
            <a:r>
              <a:rPr sz="1500" b="1" i="0">
                <a:solidFill>
                  <a:srgbClr val="111111"/>
                </a:solidFill>
                <a:latin typeface="Times New Roman"/>
              </a:rPr>
              <a:t>Frontend</a:t>
            </a:r>
            <a:r>
              <a:rPr sz="1500" b="0" i="0">
                <a:solidFill>
                  <a:srgbClr val="111111"/>
                </a:solidFill>
                <a:latin typeface="Times New Roman"/>
              </a:rPr>
              <a:t>   React, Vite, TypeScript</a:t>
            </a:r>
          </a:p>
          <a:p>
            <a:pPr algn="l" marL="201168" indent="-201168">
              <a:spcAft>
                <a:spcPts val="300"/>
              </a:spcAft>
              <a:buClr>
                <a:srgbClr val="2E9E5B"/>
              </a:buClr>
              <a:buFont typeface="Arial"/>
              <a:buChar char="•"/>
            </a:pPr>
            <a:r>
              <a:rPr sz="1500" b="1" i="0">
                <a:solidFill>
                  <a:srgbClr val="111111"/>
                </a:solidFill>
                <a:latin typeface="Times New Roman"/>
              </a:rPr>
              <a:t>Backend</a:t>
            </a:r>
            <a:r>
              <a:rPr sz="1500" b="0" i="0">
                <a:solidFill>
                  <a:srgbClr val="111111"/>
                </a:solidFill>
                <a:latin typeface="Times New Roman"/>
              </a:rPr>
              <a:t>   Python, FastAPI</a:t>
            </a:r>
          </a:p>
          <a:p>
            <a:pPr algn="l" marL="201168" indent="-201168">
              <a:spcAft>
                <a:spcPts val="300"/>
              </a:spcAft>
              <a:buClr>
                <a:srgbClr val="2E9E5B"/>
              </a:buClr>
              <a:buFont typeface="Arial"/>
              <a:buChar char="•"/>
            </a:pPr>
            <a:r>
              <a:rPr sz="1500" b="1" i="0">
                <a:solidFill>
                  <a:srgbClr val="111111"/>
                </a:solidFill>
                <a:latin typeface="Times New Roman"/>
              </a:rPr>
              <a:t>GenAI</a:t>
            </a:r>
            <a:r>
              <a:rPr sz="1500" b="0" i="0">
                <a:solidFill>
                  <a:srgbClr val="111111"/>
                </a:solidFill>
                <a:latin typeface="Times New Roman"/>
              </a:rPr>
              <a:t>   Gemini, prompts, schemas</a:t>
            </a:r>
          </a:p>
          <a:p>
            <a:pPr algn="l" marL="201168" indent="-201168">
              <a:spcAft>
                <a:spcPts val="300"/>
              </a:spcAft>
              <a:buClr>
                <a:srgbClr val="2E9E5B"/>
              </a:buClr>
              <a:buFont typeface="Arial"/>
              <a:buChar char="•"/>
            </a:pPr>
            <a:r>
              <a:rPr sz="1500" b="1" i="0">
                <a:solidFill>
                  <a:srgbClr val="111111"/>
                </a:solidFill>
                <a:latin typeface="Times New Roman"/>
              </a:rPr>
              <a:t>DevOps</a:t>
            </a:r>
            <a:r>
              <a:rPr sz="1500" b="0" i="0">
                <a:solidFill>
                  <a:srgbClr val="111111"/>
                </a:solidFill>
                <a:latin typeface="Times New Roman"/>
              </a:rPr>
              <a:t>   Docker, CI, Render, Netlify</a:t>
            </a:r>
          </a:p>
        </p:txBody>
      </p:sp>
      <p:sp>
        <p:nvSpPr>
          <p:cNvPr id="61" name="Rounded Rectangle 60"/>
          <p:cNvSpPr/>
          <p:nvPr/>
        </p:nvSpPr>
        <p:spPr>
          <a:xfrm>
            <a:off x="457200" y="4956048"/>
            <a:ext cx="10652760" cy="4553712"/>
          </a:xfrm>
          <a:prstGeom prst="roundRect">
            <a:avLst>
              <a:gd name="adj" fmla="val 3012"/>
            </a:avLst>
          </a:prstGeom>
          <a:solidFill>
            <a:srgbClr val="F8F7FC"/>
          </a:solidFill>
          <a:ln w="12700">
            <a:solidFill>
              <a:srgbClr val="E6E2F5"/>
            </a:solidFill>
          </a:ln>
          <a:effectLst/>
        </p:spPr>
        <p:txBody>
          <a:bodyPr rtlCol="0" anchor="ctr"/>
          <a:lstStyle/>
          <a:p>
            <a:pPr algn="ctr"/>
          </a:p>
        </p:txBody>
      </p:sp>
      <p:sp>
        <p:nvSpPr>
          <p:cNvPr id="62" name="Rounded Rectangle 61"/>
          <p:cNvSpPr/>
          <p:nvPr/>
        </p:nvSpPr>
        <p:spPr>
          <a:xfrm>
            <a:off x="896112" y="5102351"/>
            <a:ext cx="3931920" cy="457200"/>
          </a:xfrm>
          <a:prstGeom prst="roundRect">
            <a:avLst>
              <a:gd name="adj" fmla="val 50000"/>
            </a:avLst>
          </a:prstGeom>
          <a:solidFill>
            <a:srgbClr val="F5D5E0"/>
          </a:solidFill>
          <a:ln>
            <a:noFill/>
          </a:ln>
          <a:effectLst/>
        </p:spPr>
        <p:txBody>
          <a:bodyPr rtlCol="0" anchor="ctr"/>
          <a:lstStyle/>
          <a:p>
            <a:pPr algn="ctr"/>
          </a:p>
        </p:txBody>
      </p:sp>
      <p:sp>
        <p:nvSpPr>
          <p:cNvPr id="63" name="Oval 62"/>
          <p:cNvSpPr/>
          <p:nvPr/>
        </p:nvSpPr>
        <p:spPr>
          <a:xfrm>
            <a:off x="621792" y="5047488"/>
            <a:ext cx="566928" cy="566928"/>
          </a:xfrm>
          <a:prstGeom prst="ellipse">
            <a:avLst/>
          </a:prstGeom>
          <a:solidFill>
            <a:srgbClr val="E86692"/>
          </a:solidFill>
          <a:ln>
            <a:noFill/>
          </a:ln>
          <a:effectLst/>
        </p:spPr>
        <p:txBody>
          <a:bodyPr rtlCol="0" anchor="ctr"/>
          <a:lstStyle/>
          <a:p>
            <a:pPr algn="ctr"/>
          </a:p>
        </p:txBody>
      </p:sp>
      <p:pic>
        <p:nvPicPr>
          <p:cNvPr id="64" name="Picture 63" descr="LuTriangleAlert-white.png"/>
          <p:cNvPicPr>
            <a:picLocks noChangeAspect="1"/>
          </p:cNvPicPr>
          <p:nvPr/>
        </p:nvPicPr>
        <p:blipFill>
          <a:blip r:embed="rId11"/>
          <a:stretch>
            <a:fillRect/>
          </a:stretch>
        </p:blipFill>
        <p:spPr>
          <a:xfrm>
            <a:off x="740846" y="5166542"/>
            <a:ext cx="328818" cy="328818"/>
          </a:xfrm>
          <a:prstGeom prst="rect">
            <a:avLst/>
          </a:prstGeom>
        </p:spPr>
      </p:pic>
      <p:sp>
        <p:nvSpPr>
          <p:cNvPr id="65" name="TextBox 64"/>
          <p:cNvSpPr txBox="1"/>
          <p:nvPr/>
        </p:nvSpPr>
        <p:spPr>
          <a:xfrm>
            <a:off x="1335024" y="5102351"/>
            <a:ext cx="3428999" cy="457200"/>
          </a:xfrm>
          <a:prstGeom prst="rect">
            <a:avLst/>
          </a:prstGeom>
          <a:noFill/>
        </p:spPr>
        <p:txBody>
          <a:bodyPr wrap="square" lIns="0" rIns="0" tIns="0" bIns="0" anchor="ctr">
            <a:noAutofit/>
          </a:bodyPr>
          <a:lstStyle/>
          <a:p>
            <a:pPr algn="l"/>
            <a:r>
              <a:rPr sz="1900" b="1" i="0">
                <a:solidFill>
                  <a:srgbClr val="1B1340"/>
                </a:solidFill>
                <a:latin typeface="Times New Roman"/>
              </a:rPr>
              <a:t>RISKS WE PLANNED FOR</a:t>
            </a:r>
          </a:p>
        </p:txBody>
      </p:sp>
      <p:sp>
        <p:nvSpPr>
          <p:cNvPr id="66" name="TextBox 65"/>
          <p:cNvSpPr txBox="1"/>
          <p:nvPr/>
        </p:nvSpPr>
        <p:spPr>
          <a:xfrm>
            <a:off x="777240" y="5705856"/>
            <a:ext cx="3154680" cy="274320"/>
          </a:xfrm>
          <a:prstGeom prst="rect">
            <a:avLst/>
          </a:prstGeom>
          <a:noFill/>
        </p:spPr>
        <p:txBody>
          <a:bodyPr wrap="square" lIns="0" rIns="0" tIns="0" bIns="0" anchor="t">
            <a:noAutofit/>
          </a:bodyPr>
          <a:lstStyle/>
          <a:p>
            <a:pPr algn="l"/>
            <a:r>
              <a:rPr sz="1250" b="1" i="0">
                <a:solidFill>
                  <a:srgbClr val="5A5670"/>
                </a:solidFill>
                <a:latin typeface="Times New Roman"/>
              </a:rPr>
              <a:t>RISK</a:t>
            </a:r>
          </a:p>
        </p:txBody>
      </p:sp>
      <p:sp>
        <p:nvSpPr>
          <p:cNvPr id="67" name="TextBox 66"/>
          <p:cNvSpPr txBox="1"/>
          <p:nvPr/>
        </p:nvSpPr>
        <p:spPr>
          <a:xfrm>
            <a:off x="3977639" y="5705856"/>
            <a:ext cx="960120" cy="274320"/>
          </a:xfrm>
          <a:prstGeom prst="rect">
            <a:avLst/>
          </a:prstGeom>
          <a:noFill/>
        </p:spPr>
        <p:txBody>
          <a:bodyPr wrap="square" lIns="0" rIns="0" tIns="0" bIns="0" anchor="t">
            <a:noAutofit/>
          </a:bodyPr>
          <a:lstStyle/>
          <a:p>
            <a:pPr algn="l"/>
            <a:r>
              <a:rPr sz="1250" b="1" i="0">
                <a:solidFill>
                  <a:srgbClr val="5A5670"/>
                </a:solidFill>
                <a:latin typeface="Times New Roman"/>
              </a:rPr>
              <a:t>LEVEL</a:t>
            </a:r>
          </a:p>
        </p:txBody>
      </p:sp>
      <p:sp>
        <p:nvSpPr>
          <p:cNvPr id="68" name="TextBox 67"/>
          <p:cNvSpPr txBox="1"/>
          <p:nvPr/>
        </p:nvSpPr>
        <p:spPr>
          <a:xfrm>
            <a:off x="4983480" y="5705856"/>
            <a:ext cx="4572000" cy="274320"/>
          </a:xfrm>
          <a:prstGeom prst="rect">
            <a:avLst/>
          </a:prstGeom>
          <a:noFill/>
        </p:spPr>
        <p:txBody>
          <a:bodyPr wrap="square" lIns="0" rIns="0" tIns="0" bIns="0" anchor="t">
            <a:noAutofit/>
          </a:bodyPr>
          <a:lstStyle/>
          <a:p>
            <a:pPr algn="l"/>
            <a:r>
              <a:rPr sz="1250" b="1" i="0">
                <a:solidFill>
                  <a:srgbClr val="5A5670"/>
                </a:solidFill>
                <a:latin typeface="Times New Roman"/>
              </a:rPr>
              <a:t>HOW WE HANDLE IT</a:t>
            </a:r>
          </a:p>
        </p:txBody>
      </p:sp>
      <p:sp>
        <p:nvSpPr>
          <p:cNvPr id="69" name="TextBox 68"/>
          <p:cNvSpPr txBox="1"/>
          <p:nvPr/>
        </p:nvSpPr>
        <p:spPr>
          <a:xfrm>
            <a:off x="9646920" y="5705856"/>
            <a:ext cx="1325880" cy="274320"/>
          </a:xfrm>
          <a:prstGeom prst="rect">
            <a:avLst/>
          </a:prstGeom>
          <a:noFill/>
        </p:spPr>
        <p:txBody>
          <a:bodyPr wrap="square" lIns="0" rIns="0" tIns="0" bIns="0" anchor="t">
            <a:noAutofit/>
          </a:bodyPr>
          <a:lstStyle/>
          <a:p>
            <a:pPr algn="l"/>
            <a:r>
              <a:rPr sz="1250" b="1" i="0">
                <a:solidFill>
                  <a:srgbClr val="5A5670"/>
                </a:solidFill>
                <a:latin typeface="Times New Roman"/>
              </a:rPr>
              <a:t>STATUS</a:t>
            </a:r>
          </a:p>
        </p:txBody>
      </p:sp>
      <p:cxnSp>
        <p:nvCxnSpPr>
          <p:cNvPr id="70" name="Connector 69"/>
          <p:cNvCxnSpPr/>
          <p:nvPr/>
        </p:nvCxnSpPr>
        <p:spPr>
          <a:xfrm>
            <a:off x="777240" y="6016752"/>
            <a:ext cx="10149840" cy="0"/>
          </a:xfrm>
          <a:prstGeom prst="line">
            <a:avLst/>
          </a:prstGeom>
          <a:ln w="12700">
            <a:solidFill>
              <a:srgbClr val="CFCBE0"/>
            </a:solidFill>
          </a:ln>
        </p:spPr>
      </p:cxnSp>
      <p:sp>
        <p:nvSpPr>
          <p:cNvPr id="71" name="TextBox 70"/>
          <p:cNvSpPr txBox="1"/>
          <p:nvPr/>
        </p:nvSpPr>
        <p:spPr>
          <a:xfrm>
            <a:off x="777240" y="6071616"/>
            <a:ext cx="3154680" cy="484632"/>
          </a:xfrm>
          <a:prstGeom prst="rect">
            <a:avLst/>
          </a:prstGeom>
          <a:noFill/>
        </p:spPr>
        <p:txBody>
          <a:bodyPr wrap="square" lIns="0" rIns="0" tIns="0" bIns="0" anchor="ctr">
            <a:noAutofit/>
          </a:bodyPr>
          <a:lstStyle/>
          <a:p>
            <a:pPr algn="l"/>
            <a:r>
              <a:rPr sz="1450" b="1" i="0">
                <a:solidFill>
                  <a:srgbClr val="111111"/>
                </a:solidFill>
                <a:latin typeface="Times New Roman"/>
              </a:rPr>
              <a:t>AI states a wrong fact</a:t>
            </a:r>
          </a:p>
        </p:txBody>
      </p:sp>
      <p:sp>
        <p:nvSpPr>
          <p:cNvPr id="72" name="TextBox 71"/>
          <p:cNvSpPr txBox="1"/>
          <p:nvPr/>
        </p:nvSpPr>
        <p:spPr>
          <a:xfrm>
            <a:off x="3977639" y="6071616"/>
            <a:ext cx="960120" cy="484632"/>
          </a:xfrm>
          <a:prstGeom prst="rect">
            <a:avLst/>
          </a:prstGeom>
          <a:noFill/>
        </p:spPr>
        <p:txBody>
          <a:bodyPr wrap="square" lIns="0" rIns="0" tIns="0" bIns="0" anchor="ctr">
            <a:noAutofit/>
          </a:bodyPr>
          <a:lstStyle/>
          <a:p>
            <a:pPr algn="l"/>
            <a:r>
              <a:rPr sz="1400" b="1" i="0">
                <a:solidFill>
                  <a:srgbClr val="B12552"/>
                </a:solidFill>
                <a:latin typeface="Times New Roman"/>
              </a:rPr>
              <a:t>HIGH</a:t>
            </a:r>
          </a:p>
        </p:txBody>
      </p:sp>
      <p:sp>
        <p:nvSpPr>
          <p:cNvPr id="73" name="TextBox 72"/>
          <p:cNvSpPr txBox="1"/>
          <p:nvPr/>
        </p:nvSpPr>
        <p:spPr>
          <a:xfrm>
            <a:off x="4983480" y="6071616"/>
            <a:ext cx="4572000" cy="484632"/>
          </a:xfrm>
          <a:prstGeom prst="rect">
            <a:avLst/>
          </a:prstGeom>
          <a:noFill/>
        </p:spPr>
        <p:txBody>
          <a:bodyPr wrap="square" lIns="0" rIns="0" tIns="0" bIns="0" anchor="ctr">
            <a:noAutofit/>
          </a:bodyPr>
          <a:lstStyle/>
          <a:p>
            <a:pPr algn="l"/>
            <a:r>
              <a:rPr sz="1400" b="0" i="0">
                <a:solidFill>
                  <a:srgbClr val="111111"/>
                </a:solidFill>
                <a:latin typeface="Times New Roman"/>
              </a:rPr>
              <a:t>Facts only from the source; strict output schema</a:t>
            </a:r>
          </a:p>
        </p:txBody>
      </p:sp>
      <p:sp>
        <p:nvSpPr>
          <p:cNvPr id="74" name="Rounded Rectangle 73"/>
          <p:cNvSpPr/>
          <p:nvPr/>
        </p:nvSpPr>
        <p:spPr>
          <a:xfrm>
            <a:off x="9646920" y="6163055"/>
            <a:ext cx="1261872" cy="301752"/>
          </a:xfrm>
          <a:prstGeom prst="roundRect">
            <a:avLst>
              <a:gd name="adj" fmla="val 50000"/>
            </a:avLst>
          </a:prstGeom>
          <a:solidFill>
            <a:srgbClr val="DDF3E4"/>
          </a:solidFill>
          <a:ln>
            <a:noFill/>
          </a:ln>
          <a:effectLst/>
        </p:spPr>
        <p:txBody>
          <a:bodyPr rtlCol="0" anchor="ctr"/>
          <a:lstStyle/>
          <a:p>
            <a:pPr algn="ctr"/>
          </a:p>
        </p:txBody>
      </p:sp>
      <p:sp>
        <p:nvSpPr>
          <p:cNvPr id="75" name="TextBox 74"/>
          <p:cNvSpPr txBox="1"/>
          <p:nvPr/>
        </p:nvSpPr>
        <p:spPr>
          <a:xfrm>
            <a:off x="9646920" y="6163055"/>
            <a:ext cx="1261872" cy="301752"/>
          </a:xfrm>
          <a:prstGeom prst="rect">
            <a:avLst/>
          </a:prstGeom>
          <a:noFill/>
        </p:spPr>
        <p:txBody>
          <a:bodyPr wrap="square" lIns="0" rIns="0" tIns="0" bIns="0" anchor="ctr">
            <a:noAutofit/>
          </a:bodyPr>
          <a:lstStyle/>
          <a:p>
            <a:pPr algn="ctr"/>
            <a:r>
              <a:rPr sz="1200" b="1" i="0">
                <a:solidFill>
                  <a:srgbClr val="1E7A43"/>
                </a:solidFill>
                <a:latin typeface="Times New Roman"/>
              </a:rPr>
              <a:t>BUILT</a:t>
            </a:r>
          </a:p>
        </p:txBody>
      </p:sp>
      <p:cxnSp>
        <p:nvCxnSpPr>
          <p:cNvPr id="76" name="Connector 75"/>
          <p:cNvCxnSpPr/>
          <p:nvPr/>
        </p:nvCxnSpPr>
        <p:spPr>
          <a:xfrm>
            <a:off x="777240" y="6556248"/>
            <a:ext cx="10149840" cy="0"/>
          </a:xfrm>
          <a:prstGeom prst="line">
            <a:avLst/>
          </a:prstGeom>
          <a:ln w="9525">
            <a:solidFill>
              <a:srgbClr val="E6E2F5"/>
            </a:solidFill>
          </a:ln>
        </p:spPr>
      </p:cxnSp>
      <p:sp>
        <p:nvSpPr>
          <p:cNvPr id="77" name="TextBox 76"/>
          <p:cNvSpPr txBox="1"/>
          <p:nvPr/>
        </p:nvSpPr>
        <p:spPr>
          <a:xfrm>
            <a:off x="777240" y="6556248"/>
            <a:ext cx="3154680" cy="484632"/>
          </a:xfrm>
          <a:prstGeom prst="rect">
            <a:avLst/>
          </a:prstGeom>
          <a:noFill/>
        </p:spPr>
        <p:txBody>
          <a:bodyPr wrap="square" lIns="0" rIns="0" tIns="0" bIns="0" anchor="ctr">
            <a:noAutofit/>
          </a:bodyPr>
          <a:lstStyle/>
          <a:p>
            <a:pPr algn="l"/>
            <a:r>
              <a:rPr sz="1450" b="1" i="0">
                <a:solidFill>
                  <a:srgbClr val="111111"/>
                </a:solidFill>
                <a:latin typeface="Times New Roman"/>
              </a:rPr>
              <a:t>Sensitive data reaches the LLM</a:t>
            </a:r>
          </a:p>
        </p:txBody>
      </p:sp>
      <p:sp>
        <p:nvSpPr>
          <p:cNvPr id="78" name="TextBox 77"/>
          <p:cNvSpPr txBox="1"/>
          <p:nvPr/>
        </p:nvSpPr>
        <p:spPr>
          <a:xfrm>
            <a:off x="3977639" y="6556248"/>
            <a:ext cx="960120" cy="484632"/>
          </a:xfrm>
          <a:prstGeom prst="rect">
            <a:avLst/>
          </a:prstGeom>
          <a:noFill/>
        </p:spPr>
        <p:txBody>
          <a:bodyPr wrap="square" lIns="0" rIns="0" tIns="0" bIns="0" anchor="ctr">
            <a:noAutofit/>
          </a:bodyPr>
          <a:lstStyle/>
          <a:p>
            <a:pPr algn="l"/>
            <a:r>
              <a:rPr sz="1400" b="1" i="0">
                <a:solidFill>
                  <a:srgbClr val="B12552"/>
                </a:solidFill>
                <a:latin typeface="Times New Roman"/>
              </a:rPr>
              <a:t>HIGH</a:t>
            </a:r>
          </a:p>
        </p:txBody>
      </p:sp>
      <p:sp>
        <p:nvSpPr>
          <p:cNvPr id="79" name="TextBox 78"/>
          <p:cNvSpPr txBox="1"/>
          <p:nvPr/>
        </p:nvSpPr>
        <p:spPr>
          <a:xfrm>
            <a:off x="4983480" y="6556248"/>
            <a:ext cx="4572000" cy="484632"/>
          </a:xfrm>
          <a:prstGeom prst="rect">
            <a:avLst/>
          </a:prstGeom>
          <a:noFill/>
        </p:spPr>
        <p:txBody>
          <a:bodyPr wrap="square" lIns="0" rIns="0" tIns="0" bIns="0" anchor="ctr">
            <a:noAutofit/>
          </a:bodyPr>
          <a:lstStyle/>
          <a:p>
            <a:pPr algn="l"/>
            <a:r>
              <a:rPr sz="1400" b="0" i="0">
                <a:solidFill>
                  <a:srgbClr val="111111"/>
                </a:solidFill>
                <a:latin typeface="Times New Roman"/>
              </a:rPr>
              <a:t>One setting swaps to a local Ollama model</a:t>
            </a:r>
          </a:p>
        </p:txBody>
      </p:sp>
      <p:sp>
        <p:nvSpPr>
          <p:cNvPr id="80" name="Rounded Rectangle 79"/>
          <p:cNvSpPr/>
          <p:nvPr/>
        </p:nvSpPr>
        <p:spPr>
          <a:xfrm>
            <a:off x="9646920" y="6647688"/>
            <a:ext cx="1261872" cy="301752"/>
          </a:xfrm>
          <a:prstGeom prst="roundRect">
            <a:avLst>
              <a:gd name="adj" fmla="val 50000"/>
            </a:avLst>
          </a:prstGeom>
          <a:solidFill>
            <a:srgbClr val="DDF3E4"/>
          </a:solidFill>
          <a:ln>
            <a:noFill/>
          </a:ln>
          <a:effectLst/>
        </p:spPr>
        <p:txBody>
          <a:bodyPr rtlCol="0" anchor="ctr"/>
          <a:lstStyle/>
          <a:p>
            <a:pPr algn="ctr"/>
          </a:p>
        </p:txBody>
      </p:sp>
      <p:sp>
        <p:nvSpPr>
          <p:cNvPr id="81" name="TextBox 80"/>
          <p:cNvSpPr txBox="1"/>
          <p:nvPr/>
        </p:nvSpPr>
        <p:spPr>
          <a:xfrm>
            <a:off x="9646920" y="6647688"/>
            <a:ext cx="1261872" cy="301752"/>
          </a:xfrm>
          <a:prstGeom prst="rect">
            <a:avLst/>
          </a:prstGeom>
          <a:noFill/>
        </p:spPr>
        <p:txBody>
          <a:bodyPr wrap="square" lIns="0" rIns="0" tIns="0" bIns="0" anchor="ctr">
            <a:noAutofit/>
          </a:bodyPr>
          <a:lstStyle/>
          <a:p>
            <a:pPr algn="ctr"/>
            <a:r>
              <a:rPr sz="1200" b="1" i="0">
                <a:solidFill>
                  <a:srgbClr val="1E7A43"/>
                </a:solidFill>
                <a:latin typeface="Times New Roman"/>
              </a:rPr>
              <a:t>BUILT</a:t>
            </a:r>
          </a:p>
        </p:txBody>
      </p:sp>
      <p:cxnSp>
        <p:nvCxnSpPr>
          <p:cNvPr id="82" name="Connector 81"/>
          <p:cNvCxnSpPr/>
          <p:nvPr/>
        </p:nvCxnSpPr>
        <p:spPr>
          <a:xfrm>
            <a:off x="777240" y="7040880"/>
            <a:ext cx="10149840" cy="0"/>
          </a:xfrm>
          <a:prstGeom prst="line">
            <a:avLst/>
          </a:prstGeom>
          <a:ln w="9525">
            <a:solidFill>
              <a:srgbClr val="E6E2F5"/>
            </a:solidFill>
          </a:ln>
        </p:spPr>
      </p:cxnSp>
      <p:sp>
        <p:nvSpPr>
          <p:cNvPr id="83" name="TextBox 82"/>
          <p:cNvSpPr txBox="1"/>
          <p:nvPr/>
        </p:nvSpPr>
        <p:spPr>
          <a:xfrm>
            <a:off x="777240" y="7040879"/>
            <a:ext cx="3154680" cy="484632"/>
          </a:xfrm>
          <a:prstGeom prst="rect">
            <a:avLst/>
          </a:prstGeom>
          <a:noFill/>
        </p:spPr>
        <p:txBody>
          <a:bodyPr wrap="square" lIns="0" rIns="0" tIns="0" bIns="0" anchor="ctr">
            <a:noAutofit/>
          </a:bodyPr>
          <a:lstStyle/>
          <a:p>
            <a:pPr algn="l"/>
            <a:r>
              <a:rPr sz="1450" b="1" i="0">
                <a:solidFill>
                  <a:srgbClr val="111111"/>
                </a:solidFill>
                <a:latin typeface="Times New Roman"/>
              </a:rPr>
              <a:t>Prompt injection in uploads</a:t>
            </a:r>
          </a:p>
        </p:txBody>
      </p:sp>
      <p:sp>
        <p:nvSpPr>
          <p:cNvPr id="84" name="TextBox 83"/>
          <p:cNvSpPr txBox="1"/>
          <p:nvPr/>
        </p:nvSpPr>
        <p:spPr>
          <a:xfrm>
            <a:off x="3977639" y="7040879"/>
            <a:ext cx="960120" cy="484632"/>
          </a:xfrm>
          <a:prstGeom prst="rect">
            <a:avLst/>
          </a:prstGeom>
          <a:noFill/>
        </p:spPr>
        <p:txBody>
          <a:bodyPr wrap="square" lIns="0" rIns="0" tIns="0" bIns="0" anchor="ctr">
            <a:noAutofit/>
          </a:bodyPr>
          <a:lstStyle/>
          <a:p>
            <a:pPr algn="l"/>
            <a:r>
              <a:rPr sz="1400" b="1" i="0">
                <a:solidFill>
                  <a:srgbClr val="8A6C0C"/>
                </a:solidFill>
                <a:latin typeface="Times New Roman"/>
              </a:rPr>
              <a:t>MEDIUM</a:t>
            </a:r>
          </a:p>
        </p:txBody>
      </p:sp>
      <p:sp>
        <p:nvSpPr>
          <p:cNvPr id="85" name="TextBox 84"/>
          <p:cNvSpPr txBox="1"/>
          <p:nvPr/>
        </p:nvSpPr>
        <p:spPr>
          <a:xfrm>
            <a:off x="4983480" y="7040879"/>
            <a:ext cx="4572000" cy="484632"/>
          </a:xfrm>
          <a:prstGeom prst="rect">
            <a:avLst/>
          </a:prstGeom>
          <a:noFill/>
        </p:spPr>
        <p:txBody>
          <a:bodyPr wrap="square" lIns="0" rIns="0" tIns="0" bIns="0" anchor="ctr">
            <a:noAutofit/>
          </a:bodyPr>
          <a:lstStyle/>
          <a:p>
            <a:pPr algn="l"/>
            <a:r>
              <a:rPr sz="1400" b="0" i="0">
                <a:solidFill>
                  <a:srgbClr val="111111"/>
                </a:solidFill>
                <a:latin typeface="Times New Roman"/>
              </a:rPr>
              <a:t>Source treated as data inside &lt;source&gt; tags</a:t>
            </a:r>
          </a:p>
        </p:txBody>
      </p:sp>
      <p:sp>
        <p:nvSpPr>
          <p:cNvPr id="86" name="Rounded Rectangle 85"/>
          <p:cNvSpPr/>
          <p:nvPr/>
        </p:nvSpPr>
        <p:spPr>
          <a:xfrm>
            <a:off x="9646920" y="7132319"/>
            <a:ext cx="1261872" cy="301752"/>
          </a:xfrm>
          <a:prstGeom prst="roundRect">
            <a:avLst>
              <a:gd name="adj" fmla="val 50000"/>
            </a:avLst>
          </a:prstGeom>
          <a:solidFill>
            <a:srgbClr val="DDF3E4"/>
          </a:solidFill>
          <a:ln>
            <a:noFill/>
          </a:ln>
          <a:effectLst/>
        </p:spPr>
        <p:txBody>
          <a:bodyPr rtlCol="0" anchor="ctr"/>
          <a:lstStyle/>
          <a:p>
            <a:pPr algn="ctr"/>
          </a:p>
        </p:txBody>
      </p:sp>
      <p:sp>
        <p:nvSpPr>
          <p:cNvPr id="87" name="TextBox 86"/>
          <p:cNvSpPr txBox="1"/>
          <p:nvPr/>
        </p:nvSpPr>
        <p:spPr>
          <a:xfrm>
            <a:off x="9646920" y="7132319"/>
            <a:ext cx="1261872" cy="301752"/>
          </a:xfrm>
          <a:prstGeom prst="rect">
            <a:avLst/>
          </a:prstGeom>
          <a:noFill/>
        </p:spPr>
        <p:txBody>
          <a:bodyPr wrap="square" lIns="0" rIns="0" tIns="0" bIns="0" anchor="ctr">
            <a:noAutofit/>
          </a:bodyPr>
          <a:lstStyle/>
          <a:p>
            <a:pPr algn="ctr"/>
            <a:r>
              <a:rPr sz="1200" b="1" i="0">
                <a:solidFill>
                  <a:srgbClr val="1E7A43"/>
                </a:solidFill>
                <a:latin typeface="Times New Roman"/>
              </a:rPr>
              <a:t>BUILT</a:t>
            </a:r>
          </a:p>
        </p:txBody>
      </p:sp>
      <p:cxnSp>
        <p:nvCxnSpPr>
          <p:cNvPr id="88" name="Connector 87"/>
          <p:cNvCxnSpPr/>
          <p:nvPr/>
        </p:nvCxnSpPr>
        <p:spPr>
          <a:xfrm>
            <a:off x="777240" y="7525511"/>
            <a:ext cx="10149840" cy="0"/>
          </a:xfrm>
          <a:prstGeom prst="line">
            <a:avLst/>
          </a:prstGeom>
          <a:ln w="9525">
            <a:solidFill>
              <a:srgbClr val="E6E2F5"/>
            </a:solidFill>
          </a:ln>
        </p:spPr>
      </p:cxnSp>
      <p:sp>
        <p:nvSpPr>
          <p:cNvPr id="89" name="TextBox 88"/>
          <p:cNvSpPr txBox="1"/>
          <p:nvPr/>
        </p:nvSpPr>
        <p:spPr>
          <a:xfrm>
            <a:off x="777240" y="7525512"/>
            <a:ext cx="3154680" cy="484632"/>
          </a:xfrm>
          <a:prstGeom prst="rect">
            <a:avLst/>
          </a:prstGeom>
          <a:noFill/>
        </p:spPr>
        <p:txBody>
          <a:bodyPr wrap="square" lIns="0" rIns="0" tIns="0" bIns="0" anchor="ctr">
            <a:noAutofit/>
          </a:bodyPr>
          <a:lstStyle/>
          <a:p>
            <a:pPr algn="l"/>
            <a:r>
              <a:rPr sz="1450" b="1" i="0">
                <a:solidFill>
                  <a:srgbClr val="111111"/>
                </a:solidFill>
                <a:latin typeface="Times New Roman"/>
              </a:rPr>
              <a:t>Model API slow or down</a:t>
            </a:r>
          </a:p>
        </p:txBody>
      </p:sp>
      <p:sp>
        <p:nvSpPr>
          <p:cNvPr id="90" name="TextBox 89"/>
          <p:cNvSpPr txBox="1"/>
          <p:nvPr/>
        </p:nvSpPr>
        <p:spPr>
          <a:xfrm>
            <a:off x="3977639" y="7525512"/>
            <a:ext cx="960120" cy="484632"/>
          </a:xfrm>
          <a:prstGeom prst="rect">
            <a:avLst/>
          </a:prstGeom>
          <a:noFill/>
        </p:spPr>
        <p:txBody>
          <a:bodyPr wrap="square" lIns="0" rIns="0" tIns="0" bIns="0" anchor="ctr">
            <a:noAutofit/>
          </a:bodyPr>
          <a:lstStyle/>
          <a:p>
            <a:pPr algn="l"/>
            <a:r>
              <a:rPr sz="1400" b="1" i="0">
                <a:solidFill>
                  <a:srgbClr val="8A6C0C"/>
                </a:solidFill>
                <a:latin typeface="Times New Roman"/>
              </a:rPr>
              <a:t>MEDIUM</a:t>
            </a:r>
          </a:p>
        </p:txBody>
      </p:sp>
      <p:sp>
        <p:nvSpPr>
          <p:cNvPr id="91" name="TextBox 90"/>
          <p:cNvSpPr txBox="1"/>
          <p:nvPr/>
        </p:nvSpPr>
        <p:spPr>
          <a:xfrm>
            <a:off x="4983480" y="7525512"/>
            <a:ext cx="4572000" cy="484632"/>
          </a:xfrm>
          <a:prstGeom prst="rect">
            <a:avLst/>
          </a:prstGeom>
          <a:noFill/>
        </p:spPr>
        <p:txBody>
          <a:bodyPr wrap="square" lIns="0" rIns="0" tIns="0" bIns="0" anchor="ctr">
            <a:noAutofit/>
          </a:bodyPr>
          <a:lstStyle/>
          <a:p>
            <a:pPr algn="l"/>
            <a:r>
              <a:rPr sz="1400" b="0" i="0">
                <a:solidFill>
                  <a:srgbClr val="111111"/>
                </a:solidFill>
                <a:latin typeface="Times New Roman"/>
              </a:rPr>
              <a:t>Timeouts, clear errors, swappable provider</a:t>
            </a:r>
          </a:p>
        </p:txBody>
      </p:sp>
      <p:sp>
        <p:nvSpPr>
          <p:cNvPr id="92" name="Rounded Rectangle 91"/>
          <p:cNvSpPr/>
          <p:nvPr/>
        </p:nvSpPr>
        <p:spPr>
          <a:xfrm>
            <a:off x="9646920" y="7616952"/>
            <a:ext cx="1261872" cy="301752"/>
          </a:xfrm>
          <a:prstGeom prst="roundRect">
            <a:avLst>
              <a:gd name="adj" fmla="val 50000"/>
            </a:avLst>
          </a:prstGeom>
          <a:solidFill>
            <a:srgbClr val="DDF3E4"/>
          </a:solidFill>
          <a:ln>
            <a:noFill/>
          </a:ln>
          <a:effectLst/>
        </p:spPr>
        <p:txBody>
          <a:bodyPr rtlCol="0" anchor="ctr"/>
          <a:lstStyle/>
          <a:p>
            <a:pPr algn="ctr"/>
          </a:p>
        </p:txBody>
      </p:sp>
      <p:sp>
        <p:nvSpPr>
          <p:cNvPr id="93" name="TextBox 92"/>
          <p:cNvSpPr txBox="1"/>
          <p:nvPr/>
        </p:nvSpPr>
        <p:spPr>
          <a:xfrm>
            <a:off x="9646920" y="7616952"/>
            <a:ext cx="1261872" cy="301752"/>
          </a:xfrm>
          <a:prstGeom prst="rect">
            <a:avLst/>
          </a:prstGeom>
          <a:noFill/>
        </p:spPr>
        <p:txBody>
          <a:bodyPr wrap="square" lIns="0" rIns="0" tIns="0" bIns="0" anchor="ctr">
            <a:noAutofit/>
          </a:bodyPr>
          <a:lstStyle/>
          <a:p>
            <a:pPr algn="ctr"/>
            <a:r>
              <a:rPr sz="1200" b="1" i="0">
                <a:solidFill>
                  <a:srgbClr val="1E7A43"/>
                </a:solidFill>
                <a:latin typeface="Times New Roman"/>
              </a:rPr>
              <a:t>BUILT</a:t>
            </a:r>
          </a:p>
        </p:txBody>
      </p:sp>
      <p:cxnSp>
        <p:nvCxnSpPr>
          <p:cNvPr id="94" name="Connector 93"/>
          <p:cNvCxnSpPr/>
          <p:nvPr/>
        </p:nvCxnSpPr>
        <p:spPr>
          <a:xfrm>
            <a:off x="777240" y="8010144"/>
            <a:ext cx="10149840" cy="0"/>
          </a:xfrm>
          <a:prstGeom prst="line">
            <a:avLst/>
          </a:prstGeom>
          <a:ln w="9525">
            <a:solidFill>
              <a:srgbClr val="E6E2F5"/>
            </a:solidFill>
          </a:ln>
        </p:spPr>
      </p:cxnSp>
      <p:sp>
        <p:nvSpPr>
          <p:cNvPr id="95" name="TextBox 94"/>
          <p:cNvSpPr txBox="1"/>
          <p:nvPr/>
        </p:nvSpPr>
        <p:spPr>
          <a:xfrm>
            <a:off x="777240" y="8010144"/>
            <a:ext cx="3154680" cy="484632"/>
          </a:xfrm>
          <a:prstGeom prst="rect">
            <a:avLst/>
          </a:prstGeom>
          <a:noFill/>
        </p:spPr>
        <p:txBody>
          <a:bodyPr wrap="square" lIns="0" rIns="0" tIns="0" bIns="0" anchor="ctr">
            <a:noAutofit/>
          </a:bodyPr>
          <a:lstStyle/>
          <a:p>
            <a:pPr algn="l"/>
            <a:r>
              <a:rPr sz="1450" b="1" i="0">
                <a:solidFill>
                  <a:srgbClr val="111111"/>
                </a:solidFill>
                <a:latin typeface="Times New Roman"/>
              </a:rPr>
              <a:t>No traceability of output</a:t>
            </a:r>
          </a:p>
        </p:txBody>
      </p:sp>
      <p:sp>
        <p:nvSpPr>
          <p:cNvPr id="96" name="TextBox 95"/>
          <p:cNvSpPr txBox="1"/>
          <p:nvPr/>
        </p:nvSpPr>
        <p:spPr>
          <a:xfrm>
            <a:off x="3977639" y="8010144"/>
            <a:ext cx="960120" cy="484632"/>
          </a:xfrm>
          <a:prstGeom prst="rect">
            <a:avLst/>
          </a:prstGeom>
          <a:noFill/>
        </p:spPr>
        <p:txBody>
          <a:bodyPr wrap="square" lIns="0" rIns="0" tIns="0" bIns="0" anchor="ctr">
            <a:noAutofit/>
          </a:bodyPr>
          <a:lstStyle/>
          <a:p>
            <a:pPr algn="l"/>
            <a:r>
              <a:rPr sz="1400" b="1" i="0">
                <a:solidFill>
                  <a:srgbClr val="B12552"/>
                </a:solidFill>
                <a:latin typeface="Times New Roman"/>
              </a:rPr>
              <a:t>HIGH</a:t>
            </a:r>
          </a:p>
        </p:txBody>
      </p:sp>
      <p:sp>
        <p:nvSpPr>
          <p:cNvPr id="97" name="TextBox 96"/>
          <p:cNvSpPr txBox="1"/>
          <p:nvPr/>
        </p:nvSpPr>
        <p:spPr>
          <a:xfrm>
            <a:off x="4983480" y="8010144"/>
            <a:ext cx="4572000" cy="484632"/>
          </a:xfrm>
          <a:prstGeom prst="rect">
            <a:avLst/>
          </a:prstGeom>
          <a:noFill/>
        </p:spPr>
        <p:txBody>
          <a:bodyPr wrap="square" lIns="0" rIns="0" tIns="0" bIns="0" anchor="ctr">
            <a:noAutofit/>
          </a:bodyPr>
          <a:lstStyle/>
          <a:p>
            <a:pPr algn="l"/>
            <a:r>
              <a:rPr sz="1400" b="0" i="0">
                <a:solidFill>
                  <a:srgbClr val="111111"/>
                </a:solidFill>
                <a:latin typeface="Times New Roman"/>
              </a:rPr>
              <a:t>SHA-256 per output in a hash-chained audit log</a:t>
            </a:r>
          </a:p>
        </p:txBody>
      </p:sp>
      <p:sp>
        <p:nvSpPr>
          <p:cNvPr id="98" name="Rounded Rectangle 97"/>
          <p:cNvSpPr/>
          <p:nvPr/>
        </p:nvSpPr>
        <p:spPr>
          <a:xfrm>
            <a:off x="9646920" y="8101583"/>
            <a:ext cx="1261872" cy="301752"/>
          </a:xfrm>
          <a:prstGeom prst="roundRect">
            <a:avLst>
              <a:gd name="adj" fmla="val 50000"/>
            </a:avLst>
          </a:prstGeom>
          <a:solidFill>
            <a:srgbClr val="DDF3E4"/>
          </a:solidFill>
          <a:ln>
            <a:noFill/>
          </a:ln>
          <a:effectLst/>
        </p:spPr>
        <p:txBody>
          <a:bodyPr rtlCol="0" anchor="ctr"/>
          <a:lstStyle/>
          <a:p>
            <a:pPr algn="ctr"/>
          </a:p>
        </p:txBody>
      </p:sp>
      <p:sp>
        <p:nvSpPr>
          <p:cNvPr id="99" name="TextBox 98"/>
          <p:cNvSpPr txBox="1"/>
          <p:nvPr/>
        </p:nvSpPr>
        <p:spPr>
          <a:xfrm>
            <a:off x="9646920" y="8101583"/>
            <a:ext cx="1261872" cy="301752"/>
          </a:xfrm>
          <a:prstGeom prst="rect">
            <a:avLst/>
          </a:prstGeom>
          <a:noFill/>
        </p:spPr>
        <p:txBody>
          <a:bodyPr wrap="square" lIns="0" rIns="0" tIns="0" bIns="0" anchor="ctr">
            <a:noAutofit/>
          </a:bodyPr>
          <a:lstStyle/>
          <a:p>
            <a:pPr algn="ctr"/>
            <a:r>
              <a:rPr sz="1200" b="1" i="0">
                <a:solidFill>
                  <a:srgbClr val="1E7A43"/>
                </a:solidFill>
                <a:latin typeface="Times New Roman"/>
              </a:rPr>
              <a:t>BUILT</a:t>
            </a:r>
          </a:p>
        </p:txBody>
      </p:sp>
      <p:cxnSp>
        <p:nvCxnSpPr>
          <p:cNvPr id="100" name="Connector 99"/>
          <p:cNvCxnSpPr/>
          <p:nvPr/>
        </p:nvCxnSpPr>
        <p:spPr>
          <a:xfrm>
            <a:off x="777240" y="8494776"/>
            <a:ext cx="10149840" cy="0"/>
          </a:xfrm>
          <a:prstGeom prst="line">
            <a:avLst/>
          </a:prstGeom>
          <a:ln w="9525">
            <a:solidFill>
              <a:srgbClr val="E6E2F5"/>
            </a:solidFill>
          </a:ln>
        </p:spPr>
      </p:cxnSp>
      <p:sp>
        <p:nvSpPr>
          <p:cNvPr id="101" name="TextBox 100"/>
          <p:cNvSpPr txBox="1"/>
          <p:nvPr/>
        </p:nvSpPr>
        <p:spPr>
          <a:xfrm>
            <a:off x="777240" y="8494776"/>
            <a:ext cx="3154680" cy="484632"/>
          </a:xfrm>
          <a:prstGeom prst="rect">
            <a:avLst/>
          </a:prstGeom>
          <a:noFill/>
        </p:spPr>
        <p:txBody>
          <a:bodyPr wrap="square" lIns="0" rIns="0" tIns="0" bIns="0" anchor="ctr">
            <a:noAutofit/>
          </a:bodyPr>
          <a:lstStyle/>
          <a:p>
            <a:pPr algn="l"/>
            <a:r>
              <a:rPr sz="1450" b="1" i="0">
                <a:solidFill>
                  <a:srgbClr val="111111"/>
                </a:solidFill>
                <a:latin typeface="Times New Roman"/>
              </a:rPr>
              <a:t>Unauthorised access</a:t>
            </a:r>
          </a:p>
        </p:txBody>
      </p:sp>
      <p:sp>
        <p:nvSpPr>
          <p:cNvPr id="102" name="TextBox 101"/>
          <p:cNvSpPr txBox="1"/>
          <p:nvPr/>
        </p:nvSpPr>
        <p:spPr>
          <a:xfrm>
            <a:off x="3977639" y="8494776"/>
            <a:ext cx="960120" cy="484632"/>
          </a:xfrm>
          <a:prstGeom prst="rect">
            <a:avLst/>
          </a:prstGeom>
          <a:noFill/>
        </p:spPr>
        <p:txBody>
          <a:bodyPr wrap="square" lIns="0" rIns="0" tIns="0" bIns="0" anchor="ctr">
            <a:noAutofit/>
          </a:bodyPr>
          <a:lstStyle/>
          <a:p>
            <a:pPr algn="l"/>
            <a:r>
              <a:rPr sz="1400" b="1" i="0">
                <a:solidFill>
                  <a:srgbClr val="B12552"/>
                </a:solidFill>
                <a:latin typeface="Times New Roman"/>
              </a:rPr>
              <a:t>HIGH</a:t>
            </a:r>
          </a:p>
        </p:txBody>
      </p:sp>
      <p:sp>
        <p:nvSpPr>
          <p:cNvPr id="103" name="TextBox 102"/>
          <p:cNvSpPr txBox="1"/>
          <p:nvPr/>
        </p:nvSpPr>
        <p:spPr>
          <a:xfrm>
            <a:off x="4983480" y="8494776"/>
            <a:ext cx="4572000" cy="484632"/>
          </a:xfrm>
          <a:prstGeom prst="rect">
            <a:avLst/>
          </a:prstGeom>
          <a:noFill/>
        </p:spPr>
        <p:txBody>
          <a:bodyPr wrap="square" lIns="0" rIns="0" tIns="0" bIns="0" anchor="ctr">
            <a:noAutofit/>
          </a:bodyPr>
          <a:lstStyle/>
          <a:p>
            <a:pPr algn="l"/>
            <a:r>
              <a:rPr sz="1400" b="0" i="0">
                <a:solidFill>
                  <a:srgbClr val="111111"/>
                </a:solidFill>
                <a:latin typeface="Times New Roman"/>
              </a:rPr>
              <a:t>Login with roles: operator, reviewer, admin</a:t>
            </a:r>
          </a:p>
        </p:txBody>
      </p:sp>
      <p:sp>
        <p:nvSpPr>
          <p:cNvPr id="104" name="Rounded Rectangle 103"/>
          <p:cNvSpPr/>
          <p:nvPr/>
        </p:nvSpPr>
        <p:spPr>
          <a:xfrm>
            <a:off x="9646920" y="8586215"/>
            <a:ext cx="1261872" cy="301752"/>
          </a:xfrm>
          <a:prstGeom prst="roundRect">
            <a:avLst>
              <a:gd name="adj" fmla="val 50000"/>
            </a:avLst>
          </a:prstGeom>
          <a:solidFill>
            <a:srgbClr val="FFF0CC"/>
          </a:solidFill>
          <a:ln>
            <a:noFill/>
          </a:ln>
          <a:effectLst/>
        </p:spPr>
        <p:txBody>
          <a:bodyPr rtlCol="0" anchor="ctr"/>
          <a:lstStyle/>
          <a:p>
            <a:pPr algn="ctr"/>
          </a:p>
        </p:txBody>
      </p:sp>
      <p:sp>
        <p:nvSpPr>
          <p:cNvPr id="105" name="TextBox 104"/>
          <p:cNvSpPr txBox="1"/>
          <p:nvPr/>
        </p:nvSpPr>
        <p:spPr>
          <a:xfrm>
            <a:off x="9646920" y="8586215"/>
            <a:ext cx="1261872" cy="301752"/>
          </a:xfrm>
          <a:prstGeom prst="rect">
            <a:avLst/>
          </a:prstGeom>
          <a:noFill/>
        </p:spPr>
        <p:txBody>
          <a:bodyPr wrap="square" lIns="0" rIns="0" tIns="0" bIns="0" anchor="ctr">
            <a:noAutofit/>
          </a:bodyPr>
          <a:lstStyle/>
          <a:p>
            <a:pPr algn="ctr"/>
            <a:r>
              <a:rPr sz="1200" b="1" i="0">
                <a:solidFill>
                  <a:srgbClr val="8A5A00"/>
                </a:solidFill>
                <a:latin typeface="Times New Roman"/>
              </a:rPr>
              <a:t>PLANNED</a:t>
            </a:r>
          </a:p>
        </p:txBody>
      </p:sp>
      <p:cxnSp>
        <p:nvCxnSpPr>
          <p:cNvPr id="106" name="Connector 105"/>
          <p:cNvCxnSpPr/>
          <p:nvPr/>
        </p:nvCxnSpPr>
        <p:spPr>
          <a:xfrm>
            <a:off x="777240" y="8979407"/>
            <a:ext cx="10149840" cy="0"/>
          </a:xfrm>
          <a:prstGeom prst="line">
            <a:avLst/>
          </a:prstGeom>
          <a:ln w="9525">
            <a:solidFill>
              <a:srgbClr val="E6E2F5"/>
            </a:solidFill>
          </a:ln>
        </p:spPr>
      </p:cxnSp>
      <p:sp>
        <p:nvSpPr>
          <p:cNvPr id="107" name="TextBox 106"/>
          <p:cNvSpPr txBox="1"/>
          <p:nvPr/>
        </p:nvSpPr>
        <p:spPr>
          <a:xfrm>
            <a:off x="777240" y="8979408"/>
            <a:ext cx="3154680" cy="484632"/>
          </a:xfrm>
          <a:prstGeom prst="rect">
            <a:avLst/>
          </a:prstGeom>
          <a:noFill/>
        </p:spPr>
        <p:txBody>
          <a:bodyPr wrap="square" lIns="0" rIns="0" tIns="0" bIns="0" anchor="ctr">
            <a:noAutofit/>
          </a:bodyPr>
          <a:lstStyle/>
          <a:p>
            <a:pPr algn="l"/>
            <a:r>
              <a:rPr sz="1450" b="1" i="0">
                <a:solidFill>
                  <a:srgbClr val="111111"/>
                </a:solidFill>
                <a:latin typeface="Times New Roman"/>
              </a:rPr>
              <a:t>Unchecked content goes out</a:t>
            </a:r>
          </a:p>
        </p:txBody>
      </p:sp>
      <p:sp>
        <p:nvSpPr>
          <p:cNvPr id="108" name="TextBox 107"/>
          <p:cNvSpPr txBox="1"/>
          <p:nvPr/>
        </p:nvSpPr>
        <p:spPr>
          <a:xfrm>
            <a:off x="3977639" y="8979408"/>
            <a:ext cx="960120" cy="484632"/>
          </a:xfrm>
          <a:prstGeom prst="rect">
            <a:avLst/>
          </a:prstGeom>
          <a:noFill/>
        </p:spPr>
        <p:txBody>
          <a:bodyPr wrap="square" lIns="0" rIns="0" tIns="0" bIns="0" anchor="ctr">
            <a:noAutofit/>
          </a:bodyPr>
          <a:lstStyle/>
          <a:p>
            <a:pPr algn="l"/>
            <a:r>
              <a:rPr sz="1400" b="1" i="0">
                <a:solidFill>
                  <a:srgbClr val="B12552"/>
                </a:solidFill>
                <a:latin typeface="Times New Roman"/>
              </a:rPr>
              <a:t>HIGH</a:t>
            </a:r>
          </a:p>
        </p:txBody>
      </p:sp>
      <p:sp>
        <p:nvSpPr>
          <p:cNvPr id="109" name="TextBox 108"/>
          <p:cNvSpPr txBox="1"/>
          <p:nvPr/>
        </p:nvSpPr>
        <p:spPr>
          <a:xfrm>
            <a:off x="4983480" y="8979408"/>
            <a:ext cx="4572000" cy="484632"/>
          </a:xfrm>
          <a:prstGeom prst="rect">
            <a:avLst/>
          </a:prstGeom>
          <a:noFill/>
        </p:spPr>
        <p:txBody>
          <a:bodyPr wrap="square" lIns="0" rIns="0" tIns="0" bIns="0" anchor="ctr">
            <a:noAutofit/>
          </a:bodyPr>
          <a:lstStyle/>
          <a:p>
            <a:pPr algn="l"/>
            <a:r>
              <a:rPr sz="1400" b="0" i="0">
                <a:solidFill>
                  <a:srgbClr val="111111"/>
                </a:solidFill>
                <a:latin typeface="Times New Roman"/>
              </a:rPr>
              <a:t>Human approval, then hash anchored on a blockchain</a:t>
            </a:r>
          </a:p>
        </p:txBody>
      </p:sp>
      <p:sp>
        <p:nvSpPr>
          <p:cNvPr id="110" name="Rounded Rectangle 109"/>
          <p:cNvSpPr/>
          <p:nvPr/>
        </p:nvSpPr>
        <p:spPr>
          <a:xfrm>
            <a:off x="9646920" y="9070848"/>
            <a:ext cx="1261872" cy="301752"/>
          </a:xfrm>
          <a:prstGeom prst="roundRect">
            <a:avLst>
              <a:gd name="adj" fmla="val 50000"/>
            </a:avLst>
          </a:prstGeom>
          <a:solidFill>
            <a:srgbClr val="FFF0CC"/>
          </a:solidFill>
          <a:ln>
            <a:noFill/>
          </a:ln>
          <a:effectLst/>
        </p:spPr>
        <p:txBody>
          <a:bodyPr rtlCol="0" anchor="ctr"/>
          <a:lstStyle/>
          <a:p>
            <a:pPr algn="ctr"/>
          </a:p>
        </p:txBody>
      </p:sp>
      <p:sp>
        <p:nvSpPr>
          <p:cNvPr id="111" name="TextBox 110"/>
          <p:cNvSpPr txBox="1"/>
          <p:nvPr/>
        </p:nvSpPr>
        <p:spPr>
          <a:xfrm>
            <a:off x="9646920" y="9070848"/>
            <a:ext cx="1261872" cy="301752"/>
          </a:xfrm>
          <a:prstGeom prst="rect">
            <a:avLst/>
          </a:prstGeom>
          <a:noFill/>
        </p:spPr>
        <p:txBody>
          <a:bodyPr wrap="square" lIns="0" rIns="0" tIns="0" bIns="0" anchor="ctr">
            <a:noAutofit/>
          </a:bodyPr>
          <a:lstStyle/>
          <a:p>
            <a:pPr algn="ctr"/>
            <a:r>
              <a:rPr sz="1200" b="1" i="0">
                <a:solidFill>
                  <a:srgbClr val="8A5A00"/>
                </a:solidFill>
                <a:latin typeface="Times New Roman"/>
              </a:rPr>
              <a:t>PLANNED</a:t>
            </a:r>
          </a:p>
        </p:txBody>
      </p:sp>
      <p:sp>
        <p:nvSpPr>
          <p:cNvPr id="112" name="Rounded Rectangle 111"/>
          <p:cNvSpPr/>
          <p:nvPr/>
        </p:nvSpPr>
        <p:spPr>
          <a:xfrm>
            <a:off x="11384280" y="4956048"/>
            <a:ext cx="6446520" cy="3072384"/>
          </a:xfrm>
          <a:prstGeom prst="roundRect">
            <a:avLst>
              <a:gd name="adj" fmla="val 4464"/>
            </a:avLst>
          </a:prstGeom>
          <a:solidFill>
            <a:srgbClr val="F8F7FC"/>
          </a:solidFill>
          <a:ln w="12700">
            <a:solidFill>
              <a:srgbClr val="E6E2F5"/>
            </a:solidFill>
          </a:ln>
          <a:effectLst/>
        </p:spPr>
        <p:txBody>
          <a:bodyPr rtlCol="0" anchor="ctr"/>
          <a:lstStyle/>
          <a:p>
            <a:pPr algn="ctr"/>
          </a:p>
        </p:txBody>
      </p:sp>
      <p:sp>
        <p:nvSpPr>
          <p:cNvPr id="113" name="Rounded Rectangle 112"/>
          <p:cNvSpPr/>
          <p:nvPr/>
        </p:nvSpPr>
        <p:spPr>
          <a:xfrm>
            <a:off x="11795760" y="5102351"/>
            <a:ext cx="5897880" cy="457200"/>
          </a:xfrm>
          <a:prstGeom prst="roundRect">
            <a:avLst>
              <a:gd name="adj" fmla="val 50000"/>
            </a:avLst>
          </a:prstGeom>
          <a:solidFill>
            <a:srgbClr val="FCEFC7"/>
          </a:solidFill>
          <a:ln>
            <a:noFill/>
          </a:ln>
          <a:effectLst/>
        </p:spPr>
        <p:txBody>
          <a:bodyPr rtlCol="0" anchor="ctr"/>
          <a:lstStyle/>
          <a:p>
            <a:pPr algn="ctr"/>
          </a:p>
        </p:txBody>
      </p:sp>
      <p:sp>
        <p:nvSpPr>
          <p:cNvPr id="114" name="Oval 113"/>
          <p:cNvSpPr/>
          <p:nvPr/>
        </p:nvSpPr>
        <p:spPr>
          <a:xfrm>
            <a:off x="11521440" y="5047488"/>
            <a:ext cx="566928" cy="566928"/>
          </a:xfrm>
          <a:prstGeom prst="ellipse">
            <a:avLst/>
          </a:prstGeom>
          <a:solidFill>
            <a:srgbClr val="E4B326"/>
          </a:solidFill>
          <a:ln>
            <a:noFill/>
          </a:ln>
          <a:effectLst/>
        </p:spPr>
        <p:txBody>
          <a:bodyPr rtlCol="0" anchor="ctr"/>
          <a:lstStyle/>
          <a:p>
            <a:pPr algn="ctr"/>
          </a:p>
        </p:txBody>
      </p:sp>
      <p:pic>
        <p:nvPicPr>
          <p:cNvPr id="115" name="Picture 114" descr="LuLightbulb-white.png"/>
          <p:cNvPicPr>
            <a:picLocks noChangeAspect="1"/>
          </p:cNvPicPr>
          <p:nvPr/>
        </p:nvPicPr>
        <p:blipFill>
          <a:blip r:embed="rId12"/>
          <a:stretch>
            <a:fillRect/>
          </a:stretch>
        </p:blipFill>
        <p:spPr>
          <a:xfrm>
            <a:off x="11640494" y="5166542"/>
            <a:ext cx="328818" cy="328818"/>
          </a:xfrm>
          <a:prstGeom prst="rect">
            <a:avLst/>
          </a:prstGeom>
        </p:spPr>
      </p:pic>
      <p:sp>
        <p:nvSpPr>
          <p:cNvPr id="116" name="TextBox 115"/>
          <p:cNvSpPr txBox="1"/>
          <p:nvPr/>
        </p:nvSpPr>
        <p:spPr>
          <a:xfrm>
            <a:off x="12234672" y="5102351"/>
            <a:ext cx="5394960" cy="457200"/>
          </a:xfrm>
          <a:prstGeom prst="rect">
            <a:avLst/>
          </a:prstGeom>
          <a:noFill/>
        </p:spPr>
        <p:txBody>
          <a:bodyPr wrap="square" lIns="0" rIns="0" tIns="0" bIns="0" anchor="ctr">
            <a:noAutofit/>
          </a:bodyPr>
          <a:lstStyle/>
          <a:p>
            <a:pPr algn="l"/>
            <a:r>
              <a:rPr sz="1800" b="1" i="0">
                <a:solidFill>
                  <a:srgbClr val="1B1340"/>
                </a:solidFill>
                <a:latin typeface="Times New Roman"/>
              </a:rPr>
              <a:t>WHY HASN'T ANYONE SOLVED IT YET?</a:t>
            </a:r>
          </a:p>
        </p:txBody>
      </p:sp>
      <p:sp>
        <p:nvSpPr>
          <p:cNvPr id="117" name="TextBox 116"/>
          <p:cNvSpPr txBox="1"/>
          <p:nvPr/>
        </p:nvSpPr>
        <p:spPr>
          <a:xfrm>
            <a:off x="11612880" y="5641848"/>
            <a:ext cx="6035040" cy="320040"/>
          </a:xfrm>
          <a:prstGeom prst="rect">
            <a:avLst/>
          </a:prstGeom>
          <a:noFill/>
        </p:spPr>
        <p:txBody>
          <a:bodyPr wrap="square" lIns="0" rIns="0" tIns="0" bIns="0" anchor="t">
            <a:noAutofit/>
          </a:bodyPr>
          <a:lstStyle/>
          <a:p>
            <a:pPr algn="l"/>
            <a:r>
              <a:rPr sz="1500" b="1" i="0">
                <a:solidFill>
                  <a:srgbClr val="111111"/>
                </a:solidFill>
                <a:latin typeface="Times New Roman"/>
              </a:rPr>
              <a:t>Existing tools were built for a different job.</a:t>
            </a:r>
          </a:p>
        </p:txBody>
      </p:sp>
      <p:sp>
        <p:nvSpPr>
          <p:cNvPr id="118" name="Rounded Rectangle 117"/>
          <p:cNvSpPr/>
          <p:nvPr/>
        </p:nvSpPr>
        <p:spPr>
          <a:xfrm>
            <a:off x="11567160" y="6016752"/>
            <a:ext cx="2697480" cy="292608"/>
          </a:xfrm>
          <a:prstGeom prst="roundRect">
            <a:avLst>
              <a:gd name="adj" fmla="val 18750"/>
            </a:avLst>
          </a:prstGeom>
          <a:solidFill>
            <a:srgbClr val="ECEAF3"/>
          </a:solidFill>
          <a:ln>
            <a:noFill/>
          </a:ln>
          <a:effectLst/>
        </p:spPr>
        <p:txBody>
          <a:bodyPr rtlCol="0" anchor="ctr"/>
          <a:lstStyle/>
          <a:p>
            <a:pPr algn="ctr"/>
          </a:p>
        </p:txBody>
      </p:sp>
      <p:sp>
        <p:nvSpPr>
          <p:cNvPr id="119" name="TextBox 118"/>
          <p:cNvSpPr txBox="1"/>
          <p:nvPr/>
        </p:nvSpPr>
        <p:spPr>
          <a:xfrm>
            <a:off x="11567160" y="6016752"/>
            <a:ext cx="2697480" cy="292608"/>
          </a:xfrm>
          <a:prstGeom prst="rect">
            <a:avLst/>
          </a:prstGeom>
          <a:noFill/>
        </p:spPr>
        <p:txBody>
          <a:bodyPr wrap="square" lIns="0" rIns="0" tIns="0" bIns="0" anchor="ctr">
            <a:noAutofit/>
          </a:bodyPr>
          <a:lstStyle/>
          <a:p>
            <a:pPr algn="ctr"/>
            <a:r>
              <a:rPr sz="1200" b="1" i="0">
                <a:solidFill>
                  <a:srgbClr val="5A5670"/>
                </a:solidFill>
                <a:latin typeface="Times New Roman"/>
              </a:rPr>
              <a:t>WHAT OTHERS DO</a:t>
            </a:r>
          </a:p>
        </p:txBody>
      </p:sp>
      <p:sp>
        <p:nvSpPr>
          <p:cNvPr id="120" name="Rounded Rectangle 119"/>
          <p:cNvSpPr/>
          <p:nvPr/>
        </p:nvSpPr>
        <p:spPr>
          <a:xfrm>
            <a:off x="14630400" y="6016752"/>
            <a:ext cx="3063240" cy="292608"/>
          </a:xfrm>
          <a:prstGeom prst="roundRect">
            <a:avLst>
              <a:gd name="adj" fmla="val 18750"/>
            </a:avLst>
          </a:prstGeom>
          <a:solidFill>
            <a:srgbClr val="715CC5"/>
          </a:solidFill>
          <a:ln>
            <a:noFill/>
          </a:ln>
          <a:effectLst/>
        </p:spPr>
        <p:txBody>
          <a:bodyPr rtlCol="0" anchor="ctr"/>
          <a:lstStyle/>
          <a:p>
            <a:pPr algn="ctr"/>
          </a:p>
        </p:txBody>
      </p:sp>
      <p:sp>
        <p:nvSpPr>
          <p:cNvPr id="121" name="TextBox 120"/>
          <p:cNvSpPr txBox="1"/>
          <p:nvPr/>
        </p:nvSpPr>
        <p:spPr>
          <a:xfrm>
            <a:off x="14630400" y="6016752"/>
            <a:ext cx="3063240" cy="292608"/>
          </a:xfrm>
          <a:prstGeom prst="rect">
            <a:avLst/>
          </a:prstGeom>
          <a:noFill/>
        </p:spPr>
        <p:txBody>
          <a:bodyPr wrap="square" lIns="0" rIns="0" tIns="0" bIns="0" anchor="ctr">
            <a:noAutofit/>
          </a:bodyPr>
          <a:lstStyle/>
          <a:p>
            <a:pPr algn="ctr"/>
            <a:r>
              <a:rPr sz="1200" b="1" i="0">
                <a:solidFill>
                  <a:srgbClr val="FFFFFF"/>
                </a:solidFill>
                <a:latin typeface="Times New Roman"/>
              </a:rPr>
              <a:t>WHAT WE DO DIFFERENTLY</a:t>
            </a:r>
          </a:p>
        </p:txBody>
      </p:sp>
      <p:sp>
        <p:nvSpPr>
          <p:cNvPr id="122" name="Rounded Rectangle 121"/>
          <p:cNvSpPr/>
          <p:nvPr/>
        </p:nvSpPr>
        <p:spPr>
          <a:xfrm>
            <a:off x="11567160" y="6382512"/>
            <a:ext cx="2697480" cy="338328"/>
          </a:xfrm>
          <a:prstGeom prst="roundRect">
            <a:avLst>
              <a:gd name="adj" fmla="val 16216"/>
            </a:avLst>
          </a:prstGeom>
          <a:solidFill>
            <a:srgbClr val="FFFFFF"/>
          </a:solidFill>
          <a:ln w="12700">
            <a:solidFill>
              <a:srgbClr val="E6E2F5"/>
            </a:solidFill>
          </a:ln>
          <a:effectLst/>
        </p:spPr>
        <p:txBody>
          <a:bodyPr rtlCol="0" anchor="ctr"/>
          <a:lstStyle/>
          <a:p>
            <a:pPr algn="ctr"/>
          </a:p>
        </p:txBody>
      </p:sp>
      <p:sp>
        <p:nvSpPr>
          <p:cNvPr id="123" name="TextBox 122"/>
          <p:cNvSpPr txBox="1"/>
          <p:nvPr/>
        </p:nvSpPr>
        <p:spPr>
          <a:xfrm>
            <a:off x="11658600" y="6382512"/>
            <a:ext cx="2560320" cy="338328"/>
          </a:xfrm>
          <a:prstGeom prst="rect">
            <a:avLst/>
          </a:prstGeom>
          <a:noFill/>
        </p:spPr>
        <p:txBody>
          <a:bodyPr wrap="square" lIns="0" rIns="0" tIns="0" bIns="0" anchor="ctr">
            <a:noAutofit/>
          </a:bodyPr>
          <a:lstStyle/>
          <a:p>
            <a:pPr algn="l"/>
            <a:r>
              <a:rPr sz="1300" b="0" i="0">
                <a:solidFill>
                  <a:srgbClr val="2E2A40"/>
                </a:solidFill>
                <a:latin typeface="Times New Roman"/>
              </a:rPr>
              <a:t>Built for marketing copy</a:t>
            </a:r>
          </a:p>
        </p:txBody>
      </p:sp>
      <p:sp>
        <p:nvSpPr>
          <p:cNvPr id="124" name="TextBox 123"/>
          <p:cNvSpPr txBox="1"/>
          <p:nvPr/>
        </p:nvSpPr>
        <p:spPr>
          <a:xfrm>
            <a:off x="14264640" y="6382512"/>
            <a:ext cx="365760" cy="338328"/>
          </a:xfrm>
          <a:prstGeom prst="rect">
            <a:avLst/>
          </a:prstGeom>
          <a:noFill/>
        </p:spPr>
        <p:txBody>
          <a:bodyPr wrap="square" lIns="0" rIns="0" tIns="0" bIns="0" anchor="ctr">
            <a:noAutofit/>
          </a:bodyPr>
          <a:lstStyle/>
          <a:p>
            <a:pPr algn="ctr"/>
            <a:r>
              <a:rPr sz="1800" b="1" i="0">
                <a:solidFill>
                  <a:srgbClr val="9A96B0"/>
                </a:solidFill>
                <a:latin typeface="Times New Roman"/>
              </a:rPr>
              <a:t>→</a:t>
            </a:r>
          </a:p>
        </p:txBody>
      </p:sp>
      <p:sp>
        <p:nvSpPr>
          <p:cNvPr id="125" name="Rounded Rectangle 124"/>
          <p:cNvSpPr/>
          <p:nvPr/>
        </p:nvSpPr>
        <p:spPr>
          <a:xfrm>
            <a:off x="14630400" y="6382512"/>
            <a:ext cx="3063240" cy="338328"/>
          </a:xfrm>
          <a:prstGeom prst="roundRect">
            <a:avLst>
              <a:gd name="adj" fmla="val 16216"/>
            </a:avLst>
          </a:prstGeom>
          <a:solidFill>
            <a:srgbClr val="EEEAFD"/>
          </a:solidFill>
          <a:ln w="12700">
            <a:solidFill>
              <a:srgbClr val="E6E2F5"/>
            </a:solidFill>
          </a:ln>
          <a:effectLst/>
        </p:spPr>
        <p:txBody>
          <a:bodyPr rtlCol="0" anchor="ctr"/>
          <a:lstStyle/>
          <a:p>
            <a:pPr algn="ctr"/>
          </a:p>
        </p:txBody>
      </p:sp>
      <p:sp>
        <p:nvSpPr>
          <p:cNvPr id="126" name="TextBox 125"/>
          <p:cNvSpPr txBox="1"/>
          <p:nvPr/>
        </p:nvSpPr>
        <p:spPr>
          <a:xfrm>
            <a:off x="14721840" y="6382512"/>
            <a:ext cx="2926080" cy="338328"/>
          </a:xfrm>
          <a:prstGeom prst="rect">
            <a:avLst/>
          </a:prstGeom>
          <a:noFill/>
        </p:spPr>
        <p:txBody>
          <a:bodyPr wrap="square" lIns="0" rIns="0" tIns="0" bIns="0" anchor="ctr">
            <a:noAutofit/>
          </a:bodyPr>
          <a:lstStyle/>
          <a:p>
            <a:pPr algn="l"/>
            <a:r>
              <a:rPr sz="1300" b="1" i="0">
                <a:solidFill>
                  <a:srgbClr val="111111"/>
                </a:solidFill>
                <a:latin typeface="Times New Roman"/>
              </a:rPr>
              <a:t>Built for security teams</a:t>
            </a:r>
          </a:p>
        </p:txBody>
      </p:sp>
      <p:sp>
        <p:nvSpPr>
          <p:cNvPr id="127" name="Rounded Rectangle 126"/>
          <p:cNvSpPr/>
          <p:nvPr/>
        </p:nvSpPr>
        <p:spPr>
          <a:xfrm>
            <a:off x="11567160" y="6784848"/>
            <a:ext cx="2697480" cy="338328"/>
          </a:xfrm>
          <a:prstGeom prst="roundRect">
            <a:avLst>
              <a:gd name="adj" fmla="val 16216"/>
            </a:avLst>
          </a:prstGeom>
          <a:solidFill>
            <a:srgbClr val="FFFFFF"/>
          </a:solidFill>
          <a:ln w="12700">
            <a:solidFill>
              <a:srgbClr val="E6E2F5"/>
            </a:solidFill>
          </a:ln>
          <a:effectLst/>
        </p:spPr>
        <p:txBody>
          <a:bodyPr rtlCol="0" anchor="ctr"/>
          <a:lstStyle/>
          <a:p>
            <a:pPr algn="ctr"/>
          </a:p>
        </p:txBody>
      </p:sp>
      <p:sp>
        <p:nvSpPr>
          <p:cNvPr id="128" name="TextBox 127"/>
          <p:cNvSpPr txBox="1"/>
          <p:nvPr/>
        </p:nvSpPr>
        <p:spPr>
          <a:xfrm>
            <a:off x="11658600" y="6784848"/>
            <a:ext cx="2560320" cy="338328"/>
          </a:xfrm>
          <a:prstGeom prst="rect">
            <a:avLst/>
          </a:prstGeom>
          <a:noFill/>
        </p:spPr>
        <p:txBody>
          <a:bodyPr wrap="square" lIns="0" rIns="0" tIns="0" bIns="0" anchor="ctr">
            <a:noAutofit/>
          </a:bodyPr>
          <a:lstStyle/>
          <a:p>
            <a:pPr algn="l"/>
            <a:r>
              <a:rPr sz="1300" b="0" i="0">
                <a:solidFill>
                  <a:srgbClr val="2E2A40"/>
                </a:solidFill>
                <a:latin typeface="Times New Roman"/>
              </a:rPr>
              <a:t>One prompt, one format</a:t>
            </a:r>
          </a:p>
        </p:txBody>
      </p:sp>
      <p:sp>
        <p:nvSpPr>
          <p:cNvPr id="129" name="TextBox 128"/>
          <p:cNvSpPr txBox="1"/>
          <p:nvPr/>
        </p:nvSpPr>
        <p:spPr>
          <a:xfrm>
            <a:off x="14264640" y="6784848"/>
            <a:ext cx="365760" cy="338328"/>
          </a:xfrm>
          <a:prstGeom prst="rect">
            <a:avLst/>
          </a:prstGeom>
          <a:noFill/>
        </p:spPr>
        <p:txBody>
          <a:bodyPr wrap="square" lIns="0" rIns="0" tIns="0" bIns="0" anchor="ctr">
            <a:noAutofit/>
          </a:bodyPr>
          <a:lstStyle/>
          <a:p>
            <a:pPr algn="ctr"/>
            <a:r>
              <a:rPr sz="1800" b="1" i="0">
                <a:solidFill>
                  <a:srgbClr val="9A96B0"/>
                </a:solidFill>
                <a:latin typeface="Times New Roman"/>
              </a:rPr>
              <a:t>→</a:t>
            </a:r>
          </a:p>
        </p:txBody>
      </p:sp>
      <p:sp>
        <p:nvSpPr>
          <p:cNvPr id="130" name="Rounded Rectangle 129"/>
          <p:cNvSpPr/>
          <p:nvPr/>
        </p:nvSpPr>
        <p:spPr>
          <a:xfrm>
            <a:off x="14630400" y="6784848"/>
            <a:ext cx="3063240" cy="338328"/>
          </a:xfrm>
          <a:prstGeom prst="roundRect">
            <a:avLst>
              <a:gd name="adj" fmla="val 16216"/>
            </a:avLst>
          </a:prstGeom>
          <a:solidFill>
            <a:srgbClr val="FFF5DE"/>
          </a:solidFill>
          <a:ln w="12700">
            <a:solidFill>
              <a:srgbClr val="E6E2F5"/>
            </a:solidFill>
          </a:ln>
          <a:effectLst/>
        </p:spPr>
        <p:txBody>
          <a:bodyPr rtlCol="0" anchor="ctr"/>
          <a:lstStyle/>
          <a:p>
            <a:pPr algn="ctr"/>
          </a:p>
        </p:txBody>
      </p:sp>
      <p:sp>
        <p:nvSpPr>
          <p:cNvPr id="131" name="TextBox 130"/>
          <p:cNvSpPr txBox="1"/>
          <p:nvPr/>
        </p:nvSpPr>
        <p:spPr>
          <a:xfrm>
            <a:off x="14721840" y="6784848"/>
            <a:ext cx="2926080" cy="338328"/>
          </a:xfrm>
          <a:prstGeom prst="rect">
            <a:avLst/>
          </a:prstGeom>
          <a:noFill/>
        </p:spPr>
        <p:txBody>
          <a:bodyPr wrap="square" lIns="0" rIns="0" tIns="0" bIns="0" anchor="ctr">
            <a:noAutofit/>
          </a:bodyPr>
          <a:lstStyle/>
          <a:p>
            <a:pPr algn="l"/>
            <a:r>
              <a:rPr sz="1300" b="1" i="0">
                <a:solidFill>
                  <a:srgbClr val="111111"/>
                </a:solidFill>
                <a:latin typeface="Times New Roman"/>
              </a:rPr>
              <a:t>One source, 7 formats, same facts</a:t>
            </a:r>
          </a:p>
        </p:txBody>
      </p:sp>
      <p:sp>
        <p:nvSpPr>
          <p:cNvPr id="132" name="Rounded Rectangle 131"/>
          <p:cNvSpPr/>
          <p:nvPr/>
        </p:nvSpPr>
        <p:spPr>
          <a:xfrm>
            <a:off x="11567160" y="7187184"/>
            <a:ext cx="2697480" cy="338328"/>
          </a:xfrm>
          <a:prstGeom prst="roundRect">
            <a:avLst>
              <a:gd name="adj" fmla="val 16216"/>
            </a:avLst>
          </a:prstGeom>
          <a:solidFill>
            <a:srgbClr val="FFFFFF"/>
          </a:solidFill>
          <a:ln w="12700">
            <a:solidFill>
              <a:srgbClr val="E6E2F5"/>
            </a:solidFill>
          </a:ln>
          <a:effectLst/>
        </p:spPr>
        <p:txBody>
          <a:bodyPr rtlCol="0" anchor="ctr"/>
          <a:lstStyle/>
          <a:p>
            <a:pPr algn="ctr"/>
          </a:p>
        </p:txBody>
      </p:sp>
      <p:sp>
        <p:nvSpPr>
          <p:cNvPr id="133" name="TextBox 132"/>
          <p:cNvSpPr txBox="1"/>
          <p:nvPr/>
        </p:nvSpPr>
        <p:spPr>
          <a:xfrm>
            <a:off x="11658600" y="7187184"/>
            <a:ext cx="2560320" cy="338328"/>
          </a:xfrm>
          <a:prstGeom prst="rect">
            <a:avLst/>
          </a:prstGeom>
          <a:noFill/>
        </p:spPr>
        <p:txBody>
          <a:bodyPr wrap="square" lIns="0" rIns="0" tIns="0" bIns="0" anchor="ctr">
            <a:noAutofit/>
          </a:bodyPr>
          <a:lstStyle/>
          <a:p>
            <a:pPr algn="l"/>
            <a:r>
              <a:rPr sz="1300" b="0" i="0">
                <a:solidFill>
                  <a:srgbClr val="2E2A40"/>
                </a:solidFill>
                <a:latin typeface="Times New Roman"/>
              </a:rPr>
              <a:t>Public SaaS, no audit trail</a:t>
            </a:r>
          </a:p>
        </p:txBody>
      </p:sp>
      <p:sp>
        <p:nvSpPr>
          <p:cNvPr id="134" name="TextBox 133"/>
          <p:cNvSpPr txBox="1"/>
          <p:nvPr/>
        </p:nvSpPr>
        <p:spPr>
          <a:xfrm>
            <a:off x="14264640" y="7187184"/>
            <a:ext cx="365760" cy="338328"/>
          </a:xfrm>
          <a:prstGeom prst="rect">
            <a:avLst/>
          </a:prstGeom>
          <a:noFill/>
        </p:spPr>
        <p:txBody>
          <a:bodyPr wrap="square" lIns="0" rIns="0" tIns="0" bIns="0" anchor="ctr">
            <a:noAutofit/>
          </a:bodyPr>
          <a:lstStyle/>
          <a:p>
            <a:pPr algn="ctr"/>
            <a:r>
              <a:rPr sz="1800" b="1" i="0">
                <a:solidFill>
                  <a:srgbClr val="9A96B0"/>
                </a:solidFill>
                <a:latin typeface="Times New Roman"/>
              </a:rPr>
              <a:t>→</a:t>
            </a:r>
          </a:p>
        </p:txBody>
      </p:sp>
      <p:sp>
        <p:nvSpPr>
          <p:cNvPr id="135" name="Rounded Rectangle 134"/>
          <p:cNvSpPr/>
          <p:nvPr/>
        </p:nvSpPr>
        <p:spPr>
          <a:xfrm>
            <a:off x="14630400" y="7187184"/>
            <a:ext cx="3063240" cy="338328"/>
          </a:xfrm>
          <a:prstGeom prst="roundRect">
            <a:avLst>
              <a:gd name="adj" fmla="val 16216"/>
            </a:avLst>
          </a:prstGeom>
          <a:solidFill>
            <a:srgbClr val="E2F6EA"/>
          </a:solidFill>
          <a:ln w="12700">
            <a:solidFill>
              <a:srgbClr val="E6E2F5"/>
            </a:solidFill>
          </a:ln>
          <a:effectLst/>
        </p:spPr>
        <p:txBody>
          <a:bodyPr rtlCol="0" anchor="ctr"/>
          <a:lstStyle/>
          <a:p>
            <a:pPr algn="ctr"/>
          </a:p>
        </p:txBody>
      </p:sp>
      <p:sp>
        <p:nvSpPr>
          <p:cNvPr id="136" name="TextBox 135"/>
          <p:cNvSpPr txBox="1"/>
          <p:nvPr/>
        </p:nvSpPr>
        <p:spPr>
          <a:xfrm>
            <a:off x="14721840" y="7187184"/>
            <a:ext cx="2926080" cy="338328"/>
          </a:xfrm>
          <a:prstGeom prst="rect">
            <a:avLst/>
          </a:prstGeom>
          <a:noFill/>
        </p:spPr>
        <p:txBody>
          <a:bodyPr wrap="square" lIns="0" rIns="0" tIns="0" bIns="0" anchor="ctr">
            <a:noAutofit/>
          </a:bodyPr>
          <a:lstStyle/>
          <a:p>
            <a:pPr algn="l"/>
            <a:r>
              <a:rPr sz="1300" b="1" i="0">
                <a:solidFill>
                  <a:srgbClr val="111111"/>
                </a:solidFill>
                <a:latin typeface="Times New Roman"/>
              </a:rPr>
              <a:t>Self-hostable, hash-chained log</a:t>
            </a:r>
          </a:p>
        </p:txBody>
      </p:sp>
      <p:sp>
        <p:nvSpPr>
          <p:cNvPr id="137" name="Rounded Rectangle 136"/>
          <p:cNvSpPr/>
          <p:nvPr/>
        </p:nvSpPr>
        <p:spPr>
          <a:xfrm>
            <a:off x="11567160" y="7589520"/>
            <a:ext cx="2697480" cy="338328"/>
          </a:xfrm>
          <a:prstGeom prst="roundRect">
            <a:avLst>
              <a:gd name="adj" fmla="val 16216"/>
            </a:avLst>
          </a:prstGeom>
          <a:solidFill>
            <a:srgbClr val="FFFFFF"/>
          </a:solidFill>
          <a:ln w="12700">
            <a:solidFill>
              <a:srgbClr val="E6E2F5"/>
            </a:solidFill>
          </a:ln>
          <a:effectLst/>
        </p:spPr>
        <p:txBody>
          <a:bodyPr rtlCol="0" anchor="ctr"/>
          <a:lstStyle/>
          <a:p>
            <a:pPr algn="ctr"/>
          </a:p>
        </p:txBody>
      </p:sp>
      <p:sp>
        <p:nvSpPr>
          <p:cNvPr id="138" name="TextBox 137"/>
          <p:cNvSpPr txBox="1"/>
          <p:nvPr/>
        </p:nvSpPr>
        <p:spPr>
          <a:xfrm>
            <a:off x="11658600" y="7589520"/>
            <a:ext cx="2560320" cy="338328"/>
          </a:xfrm>
          <a:prstGeom prst="rect">
            <a:avLst/>
          </a:prstGeom>
          <a:noFill/>
        </p:spPr>
        <p:txBody>
          <a:bodyPr wrap="square" lIns="0" rIns="0" tIns="0" bIns="0" anchor="ctr">
            <a:noAutofit/>
          </a:bodyPr>
          <a:lstStyle/>
          <a:p>
            <a:pPr algn="l"/>
            <a:r>
              <a:rPr sz="1300" b="0" i="0">
                <a:solidFill>
                  <a:srgbClr val="2E2A40"/>
                </a:solidFill>
                <a:latin typeface="Times New Roman"/>
              </a:rPr>
              <a:t>No org workflows or controls</a:t>
            </a:r>
          </a:p>
        </p:txBody>
      </p:sp>
      <p:sp>
        <p:nvSpPr>
          <p:cNvPr id="139" name="TextBox 138"/>
          <p:cNvSpPr txBox="1"/>
          <p:nvPr/>
        </p:nvSpPr>
        <p:spPr>
          <a:xfrm>
            <a:off x="14264640" y="7589520"/>
            <a:ext cx="365760" cy="338328"/>
          </a:xfrm>
          <a:prstGeom prst="rect">
            <a:avLst/>
          </a:prstGeom>
          <a:noFill/>
        </p:spPr>
        <p:txBody>
          <a:bodyPr wrap="square" lIns="0" rIns="0" tIns="0" bIns="0" anchor="ctr">
            <a:noAutofit/>
          </a:bodyPr>
          <a:lstStyle/>
          <a:p>
            <a:pPr algn="ctr"/>
            <a:r>
              <a:rPr sz="1800" b="1" i="0">
                <a:solidFill>
                  <a:srgbClr val="9A96B0"/>
                </a:solidFill>
                <a:latin typeface="Times New Roman"/>
              </a:rPr>
              <a:t>→</a:t>
            </a:r>
          </a:p>
        </p:txBody>
      </p:sp>
      <p:sp>
        <p:nvSpPr>
          <p:cNvPr id="140" name="Rounded Rectangle 139"/>
          <p:cNvSpPr/>
          <p:nvPr/>
        </p:nvSpPr>
        <p:spPr>
          <a:xfrm>
            <a:off x="14630400" y="7589520"/>
            <a:ext cx="3063240" cy="338328"/>
          </a:xfrm>
          <a:prstGeom prst="roundRect">
            <a:avLst>
              <a:gd name="adj" fmla="val 16216"/>
            </a:avLst>
          </a:prstGeom>
          <a:solidFill>
            <a:srgbClr val="FCE4EE"/>
          </a:solidFill>
          <a:ln w="12700">
            <a:solidFill>
              <a:srgbClr val="E6E2F5"/>
            </a:solidFill>
          </a:ln>
          <a:effectLst/>
        </p:spPr>
        <p:txBody>
          <a:bodyPr rtlCol="0" anchor="ctr"/>
          <a:lstStyle/>
          <a:p>
            <a:pPr algn="ctr"/>
          </a:p>
        </p:txBody>
      </p:sp>
      <p:sp>
        <p:nvSpPr>
          <p:cNvPr id="141" name="TextBox 140"/>
          <p:cNvSpPr txBox="1"/>
          <p:nvPr/>
        </p:nvSpPr>
        <p:spPr>
          <a:xfrm>
            <a:off x="14721840" y="7589520"/>
            <a:ext cx="2926080" cy="338328"/>
          </a:xfrm>
          <a:prstGeom prst="rect">
            <a:avLst/>
          </a:prstGeom>
          <a:noFill/>
        </p:spPr>
        <p:txBody>
          <a:bodyPr wrap="square" lIns="0" rIns="0" tIns="0" bIns="0" anchor="ctr">
            <a:noAutofit/>
          </a:bodyPr>
          <a:lstStyle/>
          <a:p>
            <a:pPr algn="l"/>
            <a:r>
              <a:rPr sz="1300" b="1" i="0">
                <a:solidFill>
                  <a:srgbClr val="111111"/>
                </a:solidFill>
                <a:latin typeface="Times New Roman"/>
              </a:rPr>
              <a:t>Roles + approval (planned)</a:t>
            </a:r>
          </a:p>
        </p:txBody>
      </p:sp>
      <p:sp>
        <p:nvSpPr>
          <p:cNvPr id="142" name="Rounded Rectangle 141"/>
          <p:cNvSpPr/>
          <p:nvPr/>
        </p:nvSpPr>
        <p:spPr>
          <a:xfrm>
            <a:off x="11384280" y="8211312"/>
            <a:ext cx="6446520" cy="1298448"/>
          </a:xfrm>
          <a:prstGeom prst="roundRect">
            <a:avLst>
              <a:gd name="adj" fmla="val 10563"/>
            </a:avLst>
          </a:prstGeom>
          <a:solidFill>
            <a:srgbClr val="FFF7E4"/>
          </a:solidFill>
          <a:ln w="12700">
            <a:solidFill>
              <a:srgbClr val="F2E3B8"/>
            </a:solidFill>
          </a:ln>
          <a:effectLst/>
        </p:spPr>
        <p:txBody>
          <a:bodyPr rtlCol="0" anchor="ctr"/>
          <a:lstStyle/>
          <a:p>
            <a:pPr algn="ctr"/>
          </a:p>
        </p:txBody>
      </p:sp>
      <p:sp>
        <p:nvSpPr>
          <p:cNvPr id="143" name="Oval 142"/>
          <p:cNvSpPr/>
          <p:nvPr/>
        </p:nvSpPr>
        <p:spPr>
          <a:xfrm>
            <a:off x="11539728" y="8321040"/>
            <a:ext cx="475488" cy="475488"/>
          </a:xfrm>
          <a:prstGeom prst="ellipse">
            <a:avLst/>
          </a:prstGeom>
          <a:solidFill>
            <a:srgbClr val="E4B326"/>
          </a:solidFill>
          <a:ln>
            <a:noFill/>
          </a:ln>
          <a:effectLst/>
        </p:spPr>
        <p:txBody>
          <a:bodyPr rtlCol="0" anchor="ctr"/>
          <a:lstStyle/>
          <a:p>
            <a:pPr algn="ctr"/>
          </a:p>
        </p:txBody>
      </p:sp>
      <p:pic>
        <p:nvPicPr>
          <p:cNvPr id="144" name="Picture 143" descr="LuThumbsUp-white.png"/>
          <p:cNvPicPr>
            <a:picLocks noChangeAspect="1"/>
          </p:cNvPicPr>
          <p:nvPr/>
        </p:nvPicPr>
        <p:blipFill>
          <a:blip r:embed="rId13"/>
          <a:stretch>
            <a:fillRect/>
          </a:stretch>
        </p:blipFill>
        <p:spPr>
          <a:xfrm>
            <a:off x="11639580" y="8420892"/>
            <a:ext cx="275783" cy="275783"/>
          </a:xfrm>
          <a:prstGeom prst="rect">
            <a:avLst/>
          </a:prstGeom>
        </p:spPr>
      </p:pic>
      <p:sp>
        <p:nvSpPr>
          <p:cNvPr id="145" name="TextBox 144"/>
          <p:cNvSpPr txBox="1"/>
          <p:nvPr/>
        </p:nvSpPr>
        <p:spPr>
          <a:xfrm>
            <a:off x="12143232" y="8321040"/>
            <a:ext cx="3474720" cy="475488"/>
          </a:xfrm>
          <a:prstGeom prst="rect">
            <a:avLst/>
          </a:prstGeom>
          <a:noFill/>
        </p:spPr>
        <p:txBody>
          <a:bodyPr wrap="square" lIns="0" rIns="0" tIns="0" bIns="0" anchor="ctr">
            <a:noAutofit/>
          </a:bodyPr>
          <a:lstStyle/>
          <a:p>
            <a:pPr algn="l"/>
            <a:r>
              <a:rPr sz="1800" b="1" i="0">
                <a:solidFill>
                  <a:srgbClr val="8B5902"/>
                </a:solidFill>
                <a:latin typeface="Times New Roman"/>
              </a:rPr>
              <a:t>WHY IT IS VIABLE?</a:t>
            </a:r>
          </a:p>
        </p:txBody>
      </p:sp>
      <p:sp>
        <p:nvSpPr>
          <p:cNvPr id="146" name="TextBox 145"/>
          <p:cNvSpPr txBox="1"/>
          <p:nvPr/>
        </p:nvSpPr>
        <p:spPr>
          <a:xfrm>
            <a:off x="11594592" y="8833104"/>
            <a:ext cx="4297680" cy="640080"/>
          </a:xfrm>
          <a:prstGeom prst="rect">
            <a:avLst/>
          </a:prstGeom>
          <a:noFill/>
        </p:spPr>
        <p:txBody>
          <a:bodyPr wrap="square" lIns="0" rIns="0" tIns="0" bIns="0" anchor="t">
            <a:noAutofit/>
          </a:bodyPr>
          <a:lstStyle/>
          <a:p>
            <a:pPr algn="l"/>
            <a:r>
              <a:rPr sz="1500" b="1" i="0">
                <a:solidFill>
                  <a:srgbClr val="111111"/>
                </a:solidFill>
                <a:latin typeface="Times New Roman"/>
              </a:rPr>
              <a:t>One source → multiple audiences</a:t>
            </a:r>
          </a:p>
          <a:p>
            <a:pPr algn="l"/>
            <a:r>
              <a:rPr sz="1500" b="1" i="0">
                <a:solidFill>
                  <a:srgbClr val="111111"/>
                </a:solidFill>
                <a:latin typeface="Times New Roman"/>
              </a:rPr>
              <a:t>→ consistent facts</a:t>
            </a:r>
          </a:p>
        </p:txBody>
      </p:sp>
      <p:sp>
        <p:nvSpPr>
          <p:cNvPr id="147" name="TextBox 146"/>
          <p:cNvSpPr txBox="1"/>
          <p:nvPr/>
        </p:nvSpPr>
        <p:spPr>
          <a:xfrm>
            <a:off x="16002000" y="8321040"/>
            <a:ext cx="1737360" cy="1097280"/>
          </a:xfrm>
          <a:prstGeom prst="rect">
            <a:avLst/>
          </a:prstGeom>
          <a:noFill/>
        </p:spPr>
        <p:txBody>
          <a:bodyPr wrap="square" lIns="0" rIns="0" tIns="0" bIns="0" anchor="t">
            <a:noAutofit/>
          </a:bodyPr>
          <a:lstStyle/>
          <a:p>
            <a:pPr algn="l" marL="201168" indent="-201168">
              <a:spcAft>
                <a:spcPts val="200"/>
              </a:spcAft>
              <a:buClr>
                <a:srgbClr val="8B5902"/>
              </a:buClr>
              <a:buFont typeface="Arial"/>
              <a:buChar char="•"/>
            </a:pPr>
            <a:r>
              <a:rPr sz="1450" b="0" i="0">
                <a:solidFill>
                  <a:srgbClr val="111111"/>
                </a:solidFill>
                <a:latin typeface="Times New Roman"/>
              </a:rPr>
              <a:t>Scalable</a:t>
            </a:r>
          </a:p>
          <a:p>
            <a:pPr algn="l" marL="201168" indent="-201168">
              <a:spcAft>
                <a:spcPts val="200"/>
              </a:spcAft>
              <a:buClr>
                <a:srgbClr val="8B5902"/>
              </a:buClr>
              <a:buFont typeface="Arial"/>
              <a:buChar char="•"/>
            </a:pPr>
            <a:r>
              <a:rPr sz="1450" b="0" i="0">
                <a:solidFill>
                  <a:srgbClr val="111111"/>
                </a:solidFill>
                <a:latin typeface="Times New Roman"/>
              </a:rPr>
              <a:t>Reusable</a:t>
            </a:r>
          </a:p>
          <a:p>
            <a:pPr algn="l" marL="201168" indent="-201168">
              <a:spcAft>
                <a:spcPts val="200"/>
              </a:spcAft>
              <a:buClr>
                <a:srgbClr val="8B5902"/>
              </a:buClr>
              <a:buFont typeface="Arial"/>
              <a:buChar char="•"/>
            </a:pPr>
            <a:r>
              <a:rPr sz="1450" b="0" i="0">
                <a:solidFill>
                  <a:srgbClr val="111111"/>
                </a:solidFill>
                <a:latin typeface="Times New Roman"/>
              </a:rPr>
              <a:t>Cost-aware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669697"/>
            <a:ext cx="18288000" cy="617303"/>
            <a:chOff x="0" y="0"/>
            <a:chExt cx="24384000" cy="823071"/>
          </a:xfrm>
        </p:grpSpPr>
        <p:sp>
          <p:nvSpPr>
            <p:cNvPr name="Freeform 3" id="3"/>
            <p:cNvSpPr/>
            <p:nvPr/>
          </p:nvSpPr>
          <p:spPr>
            <a:xfrm flipH="false" flipV="false" rot="0">
              <a:off x="0" y="0"/>
              <a:ext cx="24384000" cy="823071"/>
            </a:xfrm>
            <a:custGeom>
              <a:avLst/>
              <a:gdLst/>
              <a:ahLst/>
              <a:cxnLst/>
              <a:rect r="r" b="b" t="t" l="l"/>
              <a:pathLst>
                <a:path h="823071" w="24384000">
                  <a:moveTo>
                    <a:pt x="0" y="0"/>
                  </a:moveTo>
                  <a:lnTo>
                    <a:pt x="24384000" y="0"/>
                  </a:lnTo>
                  <a:lnTo>
                    <a:pt x="24384000" y="823071"/>
                  </a:lnTo>
                  <a:lnTo>
                    <a:pt x="0" y="823071"/>
                  </a:lnTo>
                  <a:close/>
                </a:path>
              </a:pathLst>
            </a:custGeom>
            <a:solidFill>
              <a:srgbClr val="0070C0"/>
            </a:solidFill>
          </p:spPr>
        </p:sp>
      </p:grpSp>
      <p:grpSp>
        <p:nvGrpSpPr>
          <p:cNvPr name="Group 4" id="4"/>
          <p:cNvGrpSpPr/>
          <p:nvPr/>
        </p:nvGrpSpPr>
        <p:grpSpPr>
          <a:xfrm rot="0">
            <a:off x="861699" y="-27609"/>
            <a:ext cx="16459200" cy="1714500"/>
            <a:chOff x="0" y="0"/>
            <a:chExt cx="21945600" cy="2286000"/>
          </a:xfrm>
        </p:grpSpPr>
        <p:sp>
          <p:nvSpPr>
            <p:cNvPr name="Freeform 5" id="5"/>
            <p:cNvSpPr/>
            <p:nvPr/>
          </p:nvSpPr>
          <p:spPr>
            <a:xfrm flipH="false" flipV="false" rot="0">
              <a:off x="0" y="0"/>
              <a:ext cx="21945600" cy="2286000"/>
            </a:xfrm>
            <a:custGeom>
              <a:avLst/>
              <a:gdLst/>
              <a:ahLst/>
              <a:cxnLst/>
              <a:rect r="r" b="b" t="t" l="l"/>
              <a:pathLst>
                <a:path h="2286000" w="21945600">
                  <a:moveTo>
                    <a:pt x="0" y="0"/>
                  </a:moveTo>
                  <a:lnTo>
                    <a:pt x="21945600" y="0"/>
                  </a:lnTo>
                  <a:lnTo>
                    <a:pt x="21945600" y="2286000"/>
                  </a:lnTo>
                  <a:lnTo>
                    <a:pt x="0" y="2286000"/>
                  </a:lnTo>
                  <a:close/>
                </a:path>
              </a:pathLst>
            </a:custGeom>
            <a:blipFill>
              <a:blip r:embed="rId2">
                <a:alphaModFix amt="0"/>
              </a:blip>
              <a:stretch>
                <a:fillRect l="0" t="-137056" r="0" b="-137056"/>
              </a:stretch>
            </a:blipFill>
          </p:spPr>
        </p:sp>
        <p:sp>
          <p:nvSpPr>
            <p:cNvPr name="TextBox 6" id="6"/>
            <p:cNvSpPr txBox="true"/>
            <p:nvPr/>
          </p:nvSpPr>
          <p:spPr>
            <a:xfrm>
              <a:off x="0" y="-28575"/>
              <a:ext cx="21945600" cy="2314575"/>
            </a:xfrm>
            <a:prstGeom prst="rect">
              <a:avLst/>
            </a:prstGeom>
          </p:spPr>
          <p:txBody>
            <a:bodyPr anchor="ctr" rtlCol="false" tIns="0" lIns="0" bIns="0" rIns="0"/>
            <a:lstStyle/>
            <a:p>
              <a:pPr algn="ctr">
                <a:lnSpc>
                  <a:spcPts val="6480"/>
                </a:lnSpc>
              </a:pPr>
              <a:r>
                <a:rPr lang="en-US" sz="5400" b="1">
                  <a:solidFill>
                    <a:srgbClr val="000000"/>
                  </a:solidFill>
                  <a:latin typeface="Times New Roman"/>
                  <a:ea typeface="Times New Roman"/>
                  <a:cs typeface="Times New Roman"/>
                  <a:sym typeface="Times New Roman"/>
                </a:rPr>
                <a:t>IMPACT AND BENEFITS</a:t>
              </a:r>
            </a:p>
          </p:txBody>
        </p:sp>
      </p:grpSp>
      <p:grpSp>
        <p:nvGrpSpPr>
          <p:cNvPr name="Group 7" id="7"/>
          <p:cNvGrpSpPr/>
          <p:nvPr/>
        </p:nvGrpSpPr>
        <p:grpSpPr>
          <a:xfrm rot="0">
            <a:off x="261869" y="1536192"/>
            <a:ext cx="17792559" cy="6449135"/>
            <a:chOff x="0" y="0"/>
            <a:chExt cx="4686106" cy="2123172"/>
          </a:xfrm>
        </p:grpSpPr>
        <p:sp>
          <p:nvSpPr>
            <p:cNvPr name="Freeform 8" id="8"/>
            <p:cNvSpPr/>
            <p:nvPr/>
          </p:nvSpPr>
          <p:spPr>
            <a:xfrm flipH="false" flipV="false" rot="0">
              <a:off x="0" y="0"/>
              <a:ext cx="4686106" cy="2123172"/>
            </a:xfrm>
            <a:custGeom>
              <a:avLst/>
              <a:gdLst/>
              <a:ahLst/>
              <a:cxnLst/>
              <a:rect r="r" b="b" t="t" l="l"/>
              <a:pathLst>
                <a:path h="2123172" w="4686106">
                  <a:moveTo>
                    <a:pt x="15664" y="0"/>
                  </a:moveTo>
                  <a:lnTo>
                    <a:pt x="4670442" y="0"/>
                  </a:lnTo>
                  <a:cubicBezTo>
                    <a:pt x="4679093" y="0"/>
                    <a:pt x="4686106" y="7013"/>
                    <a:pt x="4686106" y="15664"/>
                  </a:cubicBezTo>
                  <a:lnTo>
                    <a:pt x="4686106" y="2107508"/>
                  </a:lnTo>
                  <a:cubicBezTo>
                    <a:pt x="4686106" y="2116159"/>
                    <a:pt x="4679093" y="2123172"/>
                    <a:pt x="4670442" y="2123172"/>
                  </a:cubicBezTo>
                  <a:lnTo>
                    <a:pt x="15664" y="2123172"/>
                  </a:lnTo>
                  <a:cubicBezTo>
                    <a:pt x="7013" y="2123172"/>
                    <a:pt x="0" y="2116159"/>
                    <a:pt x="0" y="2107508"/>
                  </a:cubicBezTo>
                  <a:lnTo>
                    <a:pt x="0" y="15664"/>
                  </a:lnTo>
                  <a:cubicBezTo>
                    <a:pt x="0" y="7013"/>
                    <a:pt x="7013" y="0"/>
                    <a:pt x="15664" y="0"/>
                  </a:cubicBezTo>
                  <a:close/>
                </a:path>
              </a:pathLst>
            </a:custGeom>
            <a:solidFill>
              <a:srgbClr val="F0FBFF"/>
            </a:solidFill>
          </p:spPr>
        </p:sp>
        <p:sp>
          <p:nvSpPr>
            <p:cNvPr name="TextBox 9" id="9"/>
            <p:cNvSpPr txBox="true"/>
            <p:nvPr/>
          </p:nvSpPr>
          <p:spPr>
            <a:xfrm>
              <a:off x="0" y="-19050"/>
              <a:ext cx="4686106" cy="2142222"/>
            </a:xfrm>
            <a:prstGeom prst="rect">
              <a:avLst/>
            </a:prstGeom>
          </p:spPr>
          <p:txBody>
            <a:bodyPr anchor="ctr" rtlCol="false" tIns="50800" lIns="50800" bIns="50800" rIns="50800"/>
            <a:lstStyle/>
            <a:p>
              <a:pPr algn="ctr">
                <a:lnSpc>
                  <a:spcPts val="1841"/>
                </a:lnSpc>
              </a:pPr>
            </a:p>
            <a:p>
              <a:pPr algn="ctr">
                <a:lnSpc>
                  <a:spcPts val="1841"/>
                </a:lnSpc>
              </a:pPr>
            </a:p>
          </p:txBody>
        </p:sp>
      </p:grpSp>
      <p:grpSp>
        <p:nvGrpSpPr>
          <p:cNvPr name="Group 10" id="10"/>
          <p:cNvGrpSpPr/>
          <p:nvPr/>
        </p:nvGrpSpPr>
        <p:grpSpPr>
          <a:xfrm rot="0">
            <a:off x="13787228" y="9748311"/>
            <a:ext cx="4267200" cy="547688"/>
            <a:chOff x="0" y="0"/>
            <a:chExt cx="5689600" cy="730250"/>
          </a:xfrm>
        </p:grpSpPr>
        <p:sp>
          <p:nvSpPr>
            <p:cNvPr name="Freeform 11" id="11"/>
            <p:cNvSpPr/>
            <p:nvPr/>
          </p:nvSpPr>
          <p:spPr>
            <a:xfrm flipH="false" flipV="false" rot="0">
              <a:off x="0" y="0"/>
              <a:ext cx="5689600" cy="730250"/>
            </a:xfrm>
            <a:custGeom>
              <a:avLst/>
              <a:gdLst/>
              <a:ahLst/>
              <a:cxnLst/>
              <a:rect r="r" b="b" t="t" l="l"/>
              <a:pathLst>
                <a:path h="730250" w="5689600">
                  <a:moveTo>
                    <a:pt x="0" y="0"/>
                  </a:moveTo>
                  <a:lnTo>
                    <a:pt x="5689600" y="0"/>
                  </a:lnTo>
                  <a:lnTo>
                    <a:pt x="5689600" y="730250"/>
                  </a:lnTo>
                  <a:lnTo>
                    <a:pt x="0" y="730250"/>
                  </a:lnTo>
                  <a:close/>
                </a:path>
              </a:pathLst>
            </a:custGeom>
            <a:blipFill>
              <a:blip r:embed="rId2">
                <a:alphaModFix amt="0"/>
              </a:blip>
              <a:stretch>
                <a:fillRect l="0" t="-101813" r="0" b="-101813"/>
              </a:stretch>
            </a:blipFill>
          </p:spPr>
        </p:sp>
        <p:sp>
          <p:nvSpPr>
            <p:cNvPr name="TextBox 12" id="12"/>
            <p:cNvSpPr txBox="true"/>
            <p:nvPr/>
          </p:nvSpPr>
          <p:spPr>
            <a:xfrm>
              <a:off x="0" y="-19050"/>
              <a:ext cx="5689600" cy="749300"/>
            </a:xfrm>
            <a:prstGeom prst="rect">
              <a:avLst/>
            </a:prstGeom>
          </p:spPr>
          <p:txBody>
            <a:bodyPr anchor="ctr" rtlCol="false" tIns="0" lIns="0" bIns="0" rIns="0"/>
            <a:lstStyle/>
            <a:p>
              <a:pPr algn="r">
                <a:lnSpc>
                  <a:spcPts val="2160"/>
                </a:lnSpc>
              </a:pPr>
              <a:r>
                <a:rPr lang="en-US" b="1" sz="1800">
                  <a:solidFill>
                    <a:srgbClr val="FFFFFF"/>
                  </a:solidFill>
                  <a:latin typeface="Times New Roman"/>
                  <a:ea typeface="Times New Roman"/>
                  <a:cs typeface="Times New Roman"/>
                  <a:sym typeface="Times New Roman"/>
                </a:rPr>
                <a:t>5</a:t>
              </a:r>
            </a:p>
          </p:txBody>
        </p:sp>
      </p:grpSp>
      <p:grpSp>
        <p:nvGrpSpPr>
          <p:cNvPr name="Group 13" id="13"/>
          <p:cNvGrpSpPr/>
          <p:nvPr/>
        </p:nvGrpSpPr>
        <p:grpSpPr>
          <a:xfrm rot="0">
            <a:off x="7549449" y="9748311"/>
            <a:ext cx="4806001" cy="547688"/>
            <a:chOff x="0" y="0"/>
            <a:chExt cx="6408001" cy="730250"/>
          </a:xfrm>
        </p:grpSpPr>
        <p:sp>
          <p:nvSpPr>
            <p:cNvPr name="Freeform 14" id="14"/>
            <p:cNvSpPr/>
            <p:nvPr/>
          </p:nvSpPr>
          <p:spPr>
            <a:xfrm flipH="false" flipV="false" rot="0">
              <a:off x="0" y="0"/>
              <a:ext cx="6408000" cy="730250"/>
            </a:xfrm>
            <a:custGeom>
              <a:avLst/>
              <a:gdLst/>
              <a:ahLst/>
              <a:cxnLst/>
              <a:rect r="r" b="b" t="t" l="l"/>
              <a:pathLst>
                <a:path h="730250" w="6408000">
                  <a:moveTo>
                    <a:pt x="0" y="0"/>
                  </a:moveTo>
                  <a:lnTo>
                    <a:pt x="6408000" y="0"/>
                  </a:lnTo>
                  <a:lnTo>
                    <a:pt x="6408000" y="730250"/>
                  </a:lnTo>
                  <a:lnTo>
                    <a:pt x="0" y="730250"/>
                  </a:lnTo>
                  <a:close/>
                </a:path>
              </a:pathLst>
            </a:custGeom>
            <a:blipFill>
              <a:blip r:embed="rId2">
                <a:alphaModFix amt="0"/>
              </a:blip>
              <a:stretch>
                <a:fillRect l="0" t="-120982" r="0" b="-120982"/>
              </a:stretch>
            </a:blipFill>
          </p:spPr>
        </p:sp>
        <p:sp>
          <p:nvSpPr>
            <p:cNvPr name="TextBox 15" id="15"/>
            <p:cNvSpPr txBox="true"/>
            <p:nvPr/>
          </p:nvSpPr>
          <p:spPr>
            <a:xfrm>
              <a:off x="0" y="-19050"/>
              <a:ext cx="6408001" cy="749300"/>
            </a:xfrm>
            <a:prstGeom prst="rect">
              <a:avLst/>
            </a:prstGeom>
          </p:spPr>
          <p:txBody>
            <a:bodyPr anchor="ctr" rtlCol="false" tIns="0" lIns="0" bIns="0" rIns="0"/>
            <a:lstStyle/>
            <a:p>
              <a:pPr algn="ctr">
                <a:lnSpc>
                  <a:spcPts val="2160"/>
                </a:lnSpc>
              </a:pPr>
              <a:r>
                <a:rPr lang="en-US" sz="1800">
                  <a:solidFill>
                    <a:srgbClr val="FFFFFF"/>
                  </a:solidFill>
                  <a:latin typeface="Times New Roman"/>
                  <a:ea typeface="Times New Roman"/>
                  <a:cs typeface="Times New Roman"/>
                  <a:sym typeface="Times New Roman"/>
                </a:rPr>
                <a:t>@SIH Idea submission- Template</a:t>
              </a:r>
            </a:p>
          </p:txBody>
        </p:sp>
      </p:grpSp>
      <p:grpSp>
        <p:nvGrpSpPr>
          <p:cNvPr name="Group 16" id="16"/>
          <p:cNvGrpSpPr/>
          <p:nvPr/>
        </p:nvGrpSpPr>
        <p:grpSpPr>
          <a:xfrm rot="0">
            <a:off x="14670129" y="2248"/>
            <a:ext cx="3374774" cy="1593504"/>
            <a:chOff x="0" y="0"/>
            <a:chExt cx="4499699" cy="2124672"/>
          </a:xfrm>
        </p:grpSpPr>
        <p:sp>
          <p:nvSpPr>
            <p:cNvPr name="Freeform 17" id="17"/>
            <p:cNvSpPr/>
            <p:nvPr/>
          </p:nvSpPr>
          <p:spPr>
            <a:xfrm flipH="false" flipV="false" rot="0">
              <a:off x="0" y="0"/>
              <a:ext cx="4499737" cy="2124710"/>
            </a:xfrm>
            <a:custGeom>
              <a:avLst/>
              <a:gdLst/>
              <a:ahLst/>
              <a:cxnLst/>
              <a:rect r="r" b="b" t="t" l="l"/>
              <a:pathLst>
                <a:path h="2124710" w="4499737">
                  <a:moveTo>
                    <a:pt x="0" y="0"/>
                  </a:moveTo>
                  <a:lnTo>
                    <a:pt x="4499737" y="0"/>
                  </a:lnTo>
                  <a:lnTo>
                    <a:pt x="4499737" y="2124710"/>
                  </a:lnTo>
                  <a:lnTo>
                    <a:pt x="0" y="2124710"/>
                  </a:lnTo>
                  <a:lnTo>
                    <a:pt x="0" y="0"/>
                  </a:lnTo>
                  <a:close/>
                </a:path>
              </a:pathLst>
            </a:custGeom>
            <a:blipFill>
              <a:blip r:embed="rId3"/>
              <a:stretch>
                <a:fillRect l="0" t="0" r="0" b="1"/>
              </a:stretch>
            </a:blipFill>
          </p:spPr>
        </p:sp>
      </p:grpSp>
      <p:grpSp>
        <p:nvGrpSpPr>
          <p:cNvPr name="Group 18" id="18"/>
          <p:cNvGrpSpPr/>
          <p:nvPr/>
        </p:nvGrpSpPr>
        <p:grpSpPr>
          <a:xfrm rot="0">
            <a:off x="367198" y="78448"/>
            <a:ext cx="3469487" cy="796752"/>
            <a:chOff x="0" y="0"/>
            <a:chExt cx="5188174" cy="1191441"/>
          </a:xfrm>
        </p:grpSpPr>
        <p:sp>
          <p:nvSpPr>
            <p:cNvPr name="Freeform 19" id="19" descr="Your startup LOGO"/>
            <p:cNvSpPr/>
            <p:nvPr/>
          </p:nvSpPr>
          <p:spPr>
            <a:xfrm flipH="false" flipV="false" rot="0">
              <a:off x="0" y="0"/>
              <a:ext cx="5188097" cy="1191453"/>
            </a:xfrm>
            <a:custGeom>
              <a:avLst/>
              <a:gdLst/>
              <a:ahLst/>
              <a:cxnLst/>
              <a:rect r="r" b="b" t="t" l="l"/>
              <a:pathLst>
                <a:path h="1191453" w="5188097">
                  <a:moveTo>
                    <a:pt x="0" y="595725"/>
                  </a:moveTo>
                  <a:cubicBezTo>
                    <a:pt x="0" y="266745"/>
                    <a:pt x="1161479" y="0"/>
                    <a:pt x="2594048" y="0"/>
                  </a:cubicBezTo>
                  <a:cubicBezTo>
                    <a:pt x="4026617" y="0"/>
                    <a:pt x="5188097" y="266745"/>
                    <a:pt x="5188097" y="595725"/>
                  </a:cubicBezTo>
                  <a:cubicBezTo>
                    <a:pt x="5188097" y="924705"/>
                    <a:pt x="4026617" y="1191453"/>
                    <a:pt x="2594048" y="1191453"/>
                  </a:cubicBezTo>
                  <a:cubicBezTo>
                    <a:pt x="1161479" y="1191453"/>
                    <a:pt x="0" y="924705"/>
                    <a:pt x="0" y="595725"/>
                  </a:cubicBezTo>
                  <a:close/>
                </a:path>
              </a:pathLst>
            </a:custGeom>
            <a:solidFill>
              <a:srgbClr val="FFFFFF"/>
            </a:solidFill>
            <a:ln w="38100" cap="sq">
              <a:solidFill>
                <a:srgbClr val="8064A2"/>
              </a:solidFill>
              <a:prstDash val="solid"/>
              <a:miter/>
            </a:ln>
          </p:spPr>
        </p:sp>
        <p:sp>
          <p:nvSpPr>
            <p:cNvPr name="TextBox 20" id="20"/>
            <p:cNvSpPr txBox="true"/>
            <p:nvPr/>
          </p:nvSpPr>
          <p:spPr>
            <a:xfrm>
              <a:off x="0" y="-19050"/>
              <a:ext cx="5188174" cy="1210491"/>
            </a:xfrm>
            <a:prstGeom prst="rect">
              <a:avLst/>
            </a:prstGeom>
          </p:spPr>
          <p:txBody>
            <a:bodyPr anchor="ctr" rtlCol="false" tIns="50800" lIns="50800" bIns="50800" rIns="50800"/>
            <a:lstStyle/>
            <a:p>
              <a:pPr algn="ctr">
                <a:lnSpc>
                  <a:spcPts val="3240"/>
                </a:lnSpc>
              </a:pPr>
              <a:r>
                <a:rPr lang="en-US" sz="2700">
                  <a:solidFill>
                    <a:srgbClr val="000000"/>
                  </a:solidFill>
                  <a:latin typeface="Times New Roman"/>
                  <a:ea typeface="Times New Roman"/>
                  <a:cs typeface="Times New Roman"/>
                  <a:sym typeface="Times New Roman"/>
                </a:rPr>
                <a:t>OUT OF TOKENS</a:t>
              </a:r>
            </a:p>
          </p:txBody>
        </p:sp>
      </p:grpSp>
      <p:grpSp>
        <p:nvGrpSpPr>
          <p:cNvPr name="Group 21" id="21"/>
          <p:cNvGrpSpPr/>
          <p:nvPr/>
        </p:nvGrpSpPr>
        <p:grpSpPr>
          <a:xfrm rot="0">
            <a:off x="1660670" y="1951739"/>
            <a:ext cx="2946371" cy="460608"/>
            <a:chOff x="0" y="0"/>
            <a:chExt cx="969999" cy="151641"/>
          </a:xfrm>
        </p:grpSpPr>
        <p:sp>
          <p:nvSpPr>
            <p:cNvPr name="Freeform 22" id="22"/>
            <p:cNvSpPr/>
            <p:nvPr/>
          </p:nvSpPr>
          <p:spPr>
            <a:xfrm flipH="false" flipV="false" rot="0">
              <a:off x="0" y="0"/>
              <a:ext cx="969999" cy="151641"/>
            </a:xfrm>
            <a:custGeom>
              <a:avLst/>
              <a:gdLst/>
              <a:ahLst/>
              <a:cxnLst/>
              <a:rect r="r" b="b" t="t" l="l"/>
              <a:pathLst>
                <a:path h="151641" w="969999">
                  <a:moveTo>
                    <a:pt x="75820" y="0"/>
                  </a:moveTo>
                  <a:lnTo>
                    <a:pt x="894178" y="0"/>
                  </a:lnTo>
                  <a:cubicBezTo>
                    <a:pt x="936053" y="0"/>
                    <a:pt x="969999" y="33946"/>
                    <a:pt x="969999" y="75820"/>
                  </a:cubicBezTo>
                  <a:lnTo>
                    <a:pt x="969999" y="75820"/>
                  </a:lnTo>
                  <a:cubicBezTo>
                    <a:pt x="969999" y="95929"/>
                    <a:pt x="962011" y="115214"/>
                    <a:pt x="947791" y="129433"/>
                  </a:cubicBezTo>
                  <a:cubicBezTo>
                    <a:pt x="933572" y="143653"/>
                    <a:pt x="914287" y="151641"/>
                    <a:pt x="894178" y="151641"/>
                  </a:cubicBezTo>
                  <a:lnTo>
                    <a:pt x="75820" y="151641"/>
                  </a:lnTo>
                  <a:cubicBezTo>
                    <a:pt x="55712" y="151641"/>
                    <a:pt x="36426" y="143653"/>
                    <a:pt x="22207" y="129433"/>
                  </a:cubicBezTo>
                  <a:cubicBezTo>
                    <a:pt x="7988" y="115214"/>
                    <a:pt x="0" y="95929"/>
                    <a:pt x="0" y="75820"/>
                  </a:cubicBezTo>
                  <a:lnTo>
                    <a:pt x="0" y="75820"/>
                  </a:lnTo>
                  <a:cubicBezTo>
                    <a:pt x="0" y="55712"/>
                    <a:pt x="7988" y="36426"/>
                    <a:pt x="22207" y="22207"/>
                  </a:cubicBezTo>
                  <a:cubicBezTo>
                    <a:pt x="36426" y="7988"/>
                    <a:pt x="55712" y="0"/>
                    <a:pt x="75820" y="0"/>
                  </a:cubicBezTo>
                  <a:close/>
                </a:path>
              </a:pathLst>
            </a:custGeom>
            <a:solidFill>
              <a:srgbClr val="F7D6F5"/>
            </a:solidFill>
          </p:spPr>
        </p:sp>
        <p:sp>
          <p:nvSpPr>
            <p:cNvPr name="TextBox 23" id="23"/>
            <p:cNvSpPr txBox="true"/>
            <p:nvPr/>
          </p:nvSpPr>
          <p:spPr>
            <a:xfrm>
              <a:off x="0" y="-19050"/>
              <a:ext cx="969999" cy="170691"/>
            </a:xfrm>
            <a:prstGeom prst="rect">
              <a:avLst/>
            </a:prstGeom>
          </p:spPr>
          <p:txBody>
            <a:bodyPr anchor="ctr" rtlCol="false" tIns="50800" lIns="50800" bIns="50800" rIns="50800"/>
            <a:lstStyle/>
            <a:p>
              <a:pPr algn="ctr">
                <a:lnSpc>
                  <a:spcPts val="1473"/>
                </a:lnSpc>
              </a:pPr>
            </a:p>
          </p:txBody>
        </p:sp>
      </p:grpSp>
      <p:sp>
        <p:nvSpPr>
          <p:cNvPr name="Freeform 24" id="24"/>
          <p:cNvSpPr/>
          <p:nvPr/>
        </p:nvSpPr>
        <p:spPr>
          <a:xfrm flipH="false" flipV="false" rot="0">
            <a:off x="1505299" y="1730872"/>
            <a:ext cx="582380" cy="741211"/>
          </a:xfrm>
          <a:custGeom>
            <a:avLst/>
            <a:gdLst/>
            <a:ahLst/>
            <a:cxnLst/>
            <a:rect r="r" b="b" t="t" l="l"/>
            <a:pathLst>
              <a:path h="926514" w="727975">
                <a:moveTo>
                  <a:pt x="0" y="0"/>
                </a:moveTo>
                <a:lnTo>
                  <a:pt x="727975" y="0"/>
                </a:lnTo>
                <a:lnTo>
                  <a:pt x="727975" y="926514"/>
                </a:lnTo>
                <a:lnTo>
                  <a:pt x="0" y="926514"/>
                </a:lnTo>
                <a:lnTo>
                  <a:pt x="0" y="0"/>
                </a:lnTo>
                <a:close/>
              </a:path>
            </a:pathLst>
          </a:custGeom>
          <a:blipFill>
            <a:blip r:embed="rId4"/>
            <a:stretch>
              <a:fillRect l="0" t="0" r="0" b="0"/>
            </a:stretch>
          </a:blipFill>
        </p:spPr>
      </p:sp>
      <p:grpSp>
        <p:nvGrpSpPr>
          <p:cNvPr name="Group 25" id="25"/>
          <p:cNvGrpSpPr/>
          <p:nvPr/>
        </p:nvGrpSpPr>
        <p:grpSpPr>
          <a:xfrm rot="0">
            <a:off x="1505299" y="3207192"/>
            <a:ext cx="2605550" cy="1703187"/>
            <a:chOff x="0" y="0"/>
            <a:chExt cx="857794" cy="560720"/>
          </a:xfrm>
        </p:grpSpPr>
        <p:sp>
          <p:nvSpPr>
            <p:cNvPr name="Freeform 26" id="26"/>
            <p:cNvSpPr/>
            <p:nvPr/>
          </p:nvSpPr>
          <p:spPr>
            <a:xfrm flipH="false" flipV="false" rot="0">
              <a:off x="0" y="0"/>
              <a:ext cx="857794" cy="560720"/>
            </a:xfrm>
            <a:custGeom>
              <a:avLst/>
              <a:gdLst/>
              <a:ahLst/>
              <a:cxnLst/>
              <a:rect r="r" b="b" t="t" l="l"/>
              <a:pathLst>
                <a:path h="560720" w="857794">
                  <a:moveTo>
                    <a:pt x="80820" y="0"/>
                  </a:moveTo>
                  <a:lnTo>
                    <a:pt x="776974" y="0"/>
                  </a:lnTo>
                  <a:cubicBezTo>
                    <a:pt x="821610" y="0"/>
                    <a:pt x="857794" y="36184"/>
                    <a:pt x="857794" y="80820"/>
                  </a:cubicBezTo>
                  <a:lnTo>
                    <a:pt x="857794" y="479901"/>
                  </a:lnTo>
                  <a:cubicBezTo>
                    <a:pt x="857794" y="524536"/>
                    <a:pt x="821610" y="560720"/>
                    <a:pt x="776974" y="560720"/>
                  </a:cubicBezTo>
                  <a:lnTo>
                    <a:pt x="80820" y="560720"/>
                  </a:lnTo>
                  <a:cubicBezTo>
                    <a:pt x="36184" y="560720"/>
                    <a:pt x="0" y="524536"/>
                    <a:pt x="0" y="479901"/>
                  </a:cubicBezTo>
                  <a:lnTo>
                    <a:pt x="0" y="80820"/>
                  </a:lnTo>
                  <a:cubicBezTo>
                    <a:pt x="0" y="36184"/>
                    <a:pt x="36184" y="0"/>
                    <a:pt x="80820" y="0"/>
                  </a:cubicBezTo>
                  <a:close/>
                </a:path>
              </a:pathLst>
            </a:custGeom>
            <a:solidFill>
              <a:srgbClr val="DCC6F9"/>
            </a:solidFill>
          </p:spPr>
        </p:sp>
        <p:sp>
          <p:nvSpPr>
            <p:cNvPr name="TextBox 27" id="27"/>
            <p:cNvSpPr txBox="true"/>
            <p:nvPr/>
          </p:nvSpPr>
          <p:spPr>
            <a:xfrm>
              <a:off x="0" y="-19050"/>
              <a:ext cx="857794" cy="579770"/>
            </a:xfrm>
            <a:prstGeom prst="rect">
              <a:avLst/>
            </a:prstGeom>
          </p:spPr>
          <p:txBody>
            <a:bodyPr anchor="ctr" rtlCol="false" tIns="50800" lIns="50800" bIns="50800" rIns="50800"/>
            <a:lstStyle/>
            <a:p>
              <a:pPr algn="ctr">
                <a:lnSpc>
                  <a:spcPts val="1473"/>
                </a:lnSpc>
              </a:pPr>
            </a:p>
          </p:txBody>
        </p:sp>
      </p:grpSp>
      <p:grpSp>
        <p:nvGrpSpPr>
          <p:cNvPr name="Group 28" id="28"/>
          <p:cNvGrpSpPr/>
          <p:nvPr/>
        </p:nvGrpSpPr>
        <p:grpSpPr>
          <a:xfrm rot="0">
            <a:off x="1505299" y="5363624"/>
            <a:ext cx="2598495" cy="1764367"/>
            <a:chOff x="0" y="0"/>
            <a:chExt cx="855472" cy="580862"/>
          </a:xfrm>
        </p:grpSpPr>
        <p:sp>
          <p:nvSpPr>
            <p:cNvPr name="Freeform 29" id="29"/>
            <p:cNvSpPr/>
            <p:nvPr/>
          </p:nvSpPr>
          <p:spPr>
            <a:xfrm flipH="false" flipV="false" rot="0">
              <a:off x="0" y="0"/>
              <a:ext cx="855472" cy="580862"/>
            </a:xfrm>
            <a:custGeom>
              <a:avLst/>
              <a:gdLst/>
              <a:ahLst/>
              <a:cxnLst/>
              <a:rect r="r" b="b" t="t" l="l"/>
              <a:pathLst>
                <a:path h="580862" w="855472">
                  <a:moveTo>
                    <a:pt x="50054" y="0"/>
                  </a:moveTo>
                  <a:lnTo>
                    <a:pt x="805418" y="0"/>
                  </a:lnTo>
                  <a:cubicBezTo>
                    <a:pt x="833062" y="0"/>
                    <a:pt x="855472" y="22410"/>
                    <a:pt x="855472" y="50054"/>
                  </a:cubicBezTo>
                  <a:lnTo>
                    <a:pt x="855472" y="530808"/>
                  </a:lnTo>
                  <a:cubicBezTo>
                    <a:pt x="855472" y="544083"/>
                    <a:pt x="850198" y="556814"/>
                    <a:pt x="840811" y="566201"/>
                  </a:cubicBezTo>
                  <a:cubicBezTo>
                    <a:pt x="831424" y="575588"/>
                    <a:pt x="818693" y="580862"/>
                    <a:pt x="805418" y="580862"/>
                  </a:cubicBezTo>
                  <a:lnTo>
                    <a:pt x="50054" y="580862"/>
                  </a:lnTo>
                  <a:cubicBezTo>
                    <a:pt x="36779" y="580862"/>
                    <a:pt x="24047" y="575588"/>
                    <a:pt x="14660" y="566201"/>
                  </a:cubicBezTo>
                  <a:cubicBezTo>
                    <a:pt x="5273" y="556814"/>
                    <a:pt x="0" y="544083"/>
                    <a:pt x="0" y="530808"/>
                  </a:cubicBezTo>
                  <a:lnTo>
                    <a:pt x="0" y="50054"/>
                  </a:lnTo>
                  <a:cubicBezTo>
                    <a:pt x="0" y="36779"/>
                    <a:pt x="5273" y="24047"/>
                    <a:pt x="14660" y="14660"/>
                  </a:cubicBezTo>
                  <a:cubicBezTo>
                    <a:pt x="24047" y="5273"/>
                    <a:pt x="36779" y="0"/>
                    <a:pt x="50054" y="0"/>
                  </a:cubicBezTo>
                  <a:close/>
                </a:path>
              </a:pathLst>
            </a:custGeom>
            <a:solidFill>
              <a:srgbClr val="C2FFE1"/>
            </a:solidFill>
          </p:spPr>
        </p:sp>
        <p:sp>
          <p:nvSpPr>
            <p:cNvPr name="TextBox 30" id="30"/>
            <p:cNvSpPr txBox="true"/>
            <p:nvPr/>
          </p:nvSpPr>
          <p:spPr>
            <a:xfrm>
              <a:off x="0" y="-19050"/>
              <a:ext cx="855472" cy="599912"/>
            </a:xfrm>
            <a:prstGeom prst="rect">
              <a:avLst/>
            </a:prstGeom>
          </p:spPr>
          <p:txBody>
            <a:bodyPr anchor="ctr" rtlCol="false" tIns="50800" lIns="50800" bIns="50800" rIns="50800"/>
            <a:lstStyle/>
            <a:p>
              <a:pPr algn="ctr">
                <a:lnSpc>
                  <a:spcPts val="1473"/>
                </a:lnSpc>
              </a:pPr>
            </a:p>
          </p:txBody>
        </p:sp>
      </p:grpSp>
      <p:grpSp>
        <p:nvGrpSpPr>
          <p:cNvPr name="Group 31" id="31"/>
          <p:cNvGrpSpPr/>
          <p:nvPr/>
        </p:nvGrpSpPr>
        <p:grpSpPr>
          <a:xfrm rot="0">
            <a:off x="6206443" y="5363624"/>
            <a:ext cx="2476315" cy="1764367"/>
            <a:chOff x="0" y="0"/>
            <a:chExt cx="815248" cy="580862"/>
          </a:xfrm>
        </p:grpSpPr>
        <p:sp>
          <p:nvSpPr>
            <p:cNvPr name="Freeform 32" id="32"/>
            <p:cNvSpPr/>
            <p:nvPr/>
          </p:nvSpPr>
          <p:spPr>
            <a:xfrm flipH="false" flipV="false" rot="0">
              <a:off x="0" y="0"/>
              <a:ext cx="815248" cy="580862"/>
            </a:xfrm>
            <a:custGeom>
              <a:avLst/>
              <a:gdLst/>
              <a:ahLst/>
              <a:cxnLst/>
              <a:rect r="r" b="b" t="t" l="l"/>
              <a:pathLst>
                <a:path h="580862" w="815248">
                  <a:moveTo>
                    <a:pt x="85038" y="0"/>
                  </a:moveTo>
                  <a:lnTo>
                    <a:pt x="730210" y="0"/>
                  </a:lnTo>
                  <a:cubicBezTo>
                    <a:pt x="777175" y="0"/>
                    <a:pt x="815248" y="38073"/>
                    <a:pt x="815248" y="85038"/>
                  </a:cubicBezTo>
                  <a:lnTo>
                    <a:pt x="815248" y="495824"/>
                  </a:lnTo>
                  <a:cubicBezTo>
                    <a:pt x="815248" y="518377"/>
                    <a:pt x="806289" y="540007"/>
                    <a:pt x="790341" y="555955"/>
                  </a:cubicBezTo>
                  <a:cubicBezTo>
                    <a:pt x="774393" y="571902"/>
                    <a:pt x="752763" y="580862"/>
                    <a:pt x="730210" y="580862"/>
                  </a:cubicBezTo>
                  <a:lnTo>
                    <a:pt x="85038" y="580862"/>
                  </a:lnTo>
                  <a:cubicBezTo>
                    <a:pt x="38073" y="580862"/>
                    <a:pt x="0" y="542789"/>
                    <a:pt x="0" y="495824"/>
                  </a:cubicBezTo>
                  <a:lnTo>
                    <a:pt x="0" y="85038"/>
                  </a:lnTo>
                  <a:cubicBezTo>
                    <a:pt x="0" y="38073"/>
                    <a:pt x="38073" y="0"/>
                    <a:pt x="85038" y="0"/>
                  </a:cubicBezTo>
                  <a:close/>
                </a:path>
              </a:pathLst>
            </a:custGeom>
            <a:solidFill>
              <a:srgbClr val="BFDCFE"/>
            </a:solidFill>
          </p:spPr>
        </p:sp>
        <p:sp>
          <p:nvSpPr>
            <p:cNvPr name="TextBox 33" id="33"/>
            <p:cNvSpPr txBox="true"/>
            <p:nvPr/>
          </p:nvSpPr>
          <p:spPr>
            <a:xfrm>
              <a:off x="0" y="-19050"/>
              <a:ext cx="815248" cy="599912"/>
            </a:xfrm>
            <a:prstGeom prst="rect">
              <a:avLst/>
            </a:prstGeom>
          </p:spPr>
          <p:txBody>
            <a:bodyPr anchor="ctr" rtlCol="false" tIns="50800" lIns="50800" bIns="50800" rIns="50800"/>
            <a:lstStyle/>
            <a:p>
              <a:pPr algn="ctr">
                <a:lnSpc>
                  <a:spcPts val="1473"/>
                </a:lnSpc>
              </a:pPr>
            </a:p>
          </p:txBody>
        </p:sp>
      </p:grpSp>
      <p:grpSp>
        <p:nvGrpSpPr>
          <p:cNvPr name="Group 34" id="34"/>
          <p:cNvGrpSpPr/>
          <p:nvPr/>
        </p:nvGrpSpPr>
        <p:grpSpPr>
          <a:xfrm rot="0">
            <a:off x="6183031" y="3159798"/>
            <a:ext cx="2476315" cy="1710512"/>
            <a:chOff x="0" y="0"/>
            <a:chExt cx="815248" cy="563131"/>
          </a:xfrm>
        </p:grpSpPr>
        <p:sp>
          <p:nvSpPr>
            <p:cNvPr name="Freeform 35" id="35"/>
            <p:cNvSpPr/>
            <p:nvPr/>
          </p:nvSpPr>
          <p:spPr>
            <a:xfrm flipH="false" flipV="false" rot="0">
              <a:off x="0" y="0"/>
              <a:ext cx="815248" cy="563131"/>
            </a:xfrm>
            <a:custGeom>
              <a:avLst/>
              <a:gdLst/>
              <a:ahLst/>
              <a:cxnLst/>
              <a:rect r="r" b="b" t="t" l="l"/>
              <a:pathLst>
                <a:path h="563131" w="815248">
                  <a:moveTo>
                    <a:pt x="85038" y="0"/>
                  </a:moveTo>
                  <a:lnTo>
                    <a:pt x="730210" y="0"/>
                  </a:lnTo>
                  <a:cubicBezTo>
                    <a:pt x="777175" y="0"/>
                    <a:pt x="815248" y="38073"/>
                    <a:pt x="815248" y="85038"/>
                  </a:cubicBezTo>
                  <a:lnTo>
                    <a:pt x="815248" y="478094"/>
                  </a:lnTo>
                  <a:cubicBezTo>
                    <a:pt x="815248" y="500647"/>
                    <a:pt x="806289" y="522277"/>
                    <a:pt x="790341" y="538225"/>
                  </a:cubicBezTo>
                  <a:cubicBezTo>
                    <a:pt x="774393" y="554172"/>
                    <a:pt x="752763" y="563131"/>
                    <a:pt x="730210" y="563131"/>
                  </a:cubicBezTo>
                  <a:lnTo>
                    <a:pt x="85038" y="563131"/>
                  </a:lnTo>
                  <a:cubicBezTo>
                    <a:pt x="38073" y="563131"/>
                    <a:pt x="0" y="525059"/>
                    <a:pt x="0" y="478094"/>
                  </a:cubicBezTo>
                  <a:lnTo>
                    <a:pt x="0" y="85038"/>
                  </a:lnTo>
                  <a:cubicBezTo>
                    <a:pt x="0" y="38073"/>
                    <a:pt x="38073" y="0"/>
                    <a:pt x="85038" y="0"/>
                  </a:cubicBezTo>
                  <a:close/>
                </a:path>
              </a:pathLst>
            </a:custGeom>
            <a:solidFill>
              <a:srgbClr val="F2F9D3"/>
            </a:solidFill>
          </p:spPr>
        </p:sp>
        <p:sp>
          <p:nvSpPr>
            <p:cNvPr name="TextBox 36" id="36"/>
            <p:cNvSpPr txBox="true"/>
            <p:nvPr/>
          </p:nvSpPr>
          <p:spPr>
            <a:xfrm>
              <a:off x="0" y="-19050"/>
              <a:ext cx="815248" cy="582181"/>
            </a:xfrm>
            <a:prstGeom prst="rect">
              <a:avLst/>
            </a:prstGeom>
          </p:spPr>
          <p:txBody>
            <a:bodyPr anchor="ctr" rtlCol="false" tIns="50800" lIns="50800" bIns="50800" rIns="50800"/>
            <a:lstStyle/>
            <a:p>
              <a:pPr algn="ctr">
                <a:lnSpc>
                  <a:spcPts val="1473"/>
                </a:lnSpc>
              </a:pPr>
            </a:p>
          </p:txBody>
        </p:sp>
      </p:grpSp>
      <p:grpSp>
        <p:nvGrpSpPr>
          <p:cNvPr name="Group 37" id="37"/>
          <p:cNvGrpSpPr/>
          <p:nvPr/>
        </p:nvGrpSpPr>
        <p:grpSpPr>
          <a:xfrm rot="-5400000">
            <a:off x="4013506" y="3882012"/>
            <a:ext cx="1284088" cy="1103513"/>
            <a:chOff x="0" y="0"/>
            <a:chExt cx="812800" cy="698500"/>
          </a:xfrm>
        </p:grpSpPr>
        <p:sp>
          <p:nvSpPr>
            <p:cNvPr name="Freeform 38" id="38"/>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9971E3"/>
            </a:solidFill>
            <a:ln w="66675" cap="sq">
              <a:solidFill>
                <a:srgbClr val="F0FBFF"/>
              </a:solidFill>
              <a:prstDash val="solid"/>
              <a:miter/>
            </a:ln>
          </p:spPr>
        </p:sp>
        <p:sp>
          <p:nvSpPr>
            <p:cNvPr name="TextBox 39" id="39"/>
            <p:cNvSpPr txBox="true"/>
            <p:nvPr/>
          </p:nvSpPr>
          <p:spPr>
            <a:xfrm>
              <a:off x="114300" y="-19050"/>
              <a:ext cx="584200" cy="717550"/>
            </a:xfrm>
            <a:prstGeom prst="rect">
              <a:avLst/>
            </a:prstGeom>
          </p:spPr>
          <p:txBody>
            <a:bodyPr anchor="ctr" rtlCol="false" tIns="50800" lIns="50800" bIns="50800" rIns="50800"/>
            <a:lstStyle/>
            <a:p>
              <a:pPr algn="ctr">
                <a:lnSpc>
                  <a:spcPts val="1473"/>
                </a:lnSpc>
              </a:pPr>
            </a:p>
          </p:txBody>
        </p:sp>
      </p:grpSp>
      <p:grpSp>
        <p:nvGrpSpPr>
          <p:cNvPr name="Group 40" id="40"/>
          <p:cNvGrpSpPr/>
          <p:nvPr/>
        </p:nvGrpSpPr>
        <p:grpSpPr>
          <a:xfrm rot="-5400000">
            <a:off x="5168294" y="3905094"/>
            <a:ext cx="1284088" cy="1103513"/>
            <a:chOff x="0" y="0"/>
            <a:chExt cx="812800" cy="698500"/>
          </a:xfrm>
        </p:grpSpPr>
        <p:sp>
          <p:nvSpPr>
            <p:cNvPr name="Freeform 41" id="41"/>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F4A600"/>
            </a:solidFill>
            <a:ln w="66675" cap="sq">
              <a:solidFill>
                <a:srgbClr val="F0FBFF"/>
              </a:solidFill>
              <a:prstDash val="solid"/>
              <a:miter/>
            </a:ln>
          </p:spPr>
        </p:sp>
        <p:sp>
          <p:nvSpPr>
            <p:cNvPr name="TextBox 42" id="42"/>
            <p:cNvSpPr txBox="true"/>
            <p:nvPr/>
          </p:nvSpPr>
          <p:spPr>
            <a:xfrm>
              <a:off x="114300" y="-19050"/>
              <a:ext cx="584200" cy="717550"/>
            </a:xfrm>
            <a:prstGeom prst="rect">
              <a:avLst/>
            </a:prstGeom>
          </p:spPr>
          <p:txBody>
            <a:bodyPr anchor="ctr" rtlCol="false" tIns="50800" lIns="50800" bIns="50800" rIns="50800"/>
            <a:lstStyle/>
            <a:p>
              <a:pPr algn="ctr">
                <a:lnSpc>
                  <a:spcPts val="1473"/>
                </a:lnSpc>
              </a:pPr>
            </a:p>
          </p:txBody>
        </p:sp>
      </p:grpSp>
      <p:grpSp>
        <p:nvGrpSpPr>
          <p:cNvPr name="Group 43" id="43"/>
          <p:cNvGrpSpPr/>
          <p:nvPr/>
        </p:nvGrpSpPr>
        <p:grpSpPr>
          <a:xfrm rot="-5400000">
            <a:off x="4020561" y="5052008"/>
            <a:ext cx="1284088" cy="1103513"/>
            <a:chOff x="0" y="0"/>
            <a:chExt cx="812800" cy="698500"/>
          </a:xfrm>
        </p:grpSpPr>
        <p:sp>
          <p:nvSpPr>
            <p:cNvPr name="Freeform 44" id="44"/>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00BD13"/>
            </a:solidFill>
            <a:ln w="57150" cap="sq">
              <a:solidFill>
                <a:srgbClr val="F0FBFF"/>
              </a:solidFill>
              <a:prstDash val="solid"/>
              <a:miter/>
            </a:ln>
          </p:spPr>
        </p:sp>
        <p:sp>
          <p:nvSpPr>
            <p:cNvPr name="TextBox 45" id="45"/>
            <p:cNvSpPr txBox="true"/>
            <p:nvPr/>
          </p:nvSpPr>
          <p:spPr>
            <a:xfrm>
              <a:off x="114300" y="-19050"/>
              <a:ext cx="584200" cy="717550"/>
            </a:xfrm>
            <a:prstGeom prst="rect">
              <a:avLst/>
            </a:prstGeom>
          </p:spPr>
          <p:txBody>
            <a:bodyPr anchor="ctr" rtlCol="false" tIns="50800" lIns="50800" bIns="50800" rIns="50800"/>
            <a:lstStyle/>
            <a:p>
              <a:pPr algn="ctr">
                <a:lnSpc>
                  <a:spcPts val="1473"/>
                </a:lnSpc>
              </a:pPr>
            </a:p>
          </p:txBody>
        </p:sp>
      </p:grpSp>
      <p:grpSp>
        <p:nvGrpSpPr>
          <p:cNvPr name="Group 46" id="46"/>
          <p:cNvGrpSpPr/>
          <p:nvPr/>
        </p:nvGrpSpPr>
        <p:grpSpPr>
          <a:xfrm rot="-5400000">
            <a:off x="5168294" y="5000668"/>
            <a:ext cx="1284088" cy="1103513"/>
            <a:chOff x="0" y="0"/>
            <a:chExt cx="812800" cy="698500"/>
          </a:xfrm>
        </p:grpSpPr>
        <p:sp>
          <p:nvSpPr>
            <p:cNvPr name="Freeform 47" id="47"/>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5271FF"/>
            </a:solidFill>
            <a:ln w="85725" cap="sq">
              <a:solidFill>
                <a:srgbClr val="F0FBFF"/>
              </a:solidFill>
              <a:prstDash val="solid"/>
              <a:miter/>
            </a:ln>
          </p:spPr>
        </p:sp>
        <p:sp>
          <p:nvSpPr>
            <p:cNvPr name="TextBox 48" id="48"/>
            <p:cNvSpPr txBox="true"/>
            <p:nvPr/>
          </p:nvSpPr>
          <p:spPr>
            <a:xfrm>
              <a:off x="114300" y="-19050"/>
              <a:ext cx="584200" cy="717550"/>
            </a:xfrm>
            <a:prstGeom prst="rect">
              <a:avLst/>
            </a:prstGeom>
          </p:spPr>
          <p:txBody>
            <a:bodyPr anchor="ctr" rtlCol="false" tIns="50800" lIns="50800" bIns="50800" rIns="50800"/>
            <a:lstStyle/>
            <a:p>
              <a:pPr algn="ctr">
                <a:lnSpc>
                  <a:spcPts val="1473"/>
                </a:lnSpc>
              </a:pPr>
            </a:p>
          </p:txBody>
        </p:sp>
      </p:grpSp>
      <p:grpSp>
        <p:nvGrpSpPr>
          <p:cNvPr name="Group 49" id="49"/>
          <p:cNvGrpSpPr/>
          <p:nvPr/>
        </p:nvGrpSpPr>
        <p:grpSpPr>
          <a:xfrm rot="0">
            <a:off x="4774970" y="4692333"/>
            <a:ext cx="911431" cy="911431"/>
            <a:chOff x="0" y="0"/>
            <a:chExt cx="812800" cy="812800"/>
          </a:xfrm>
        </p:grpSpPr>
        <p:sp>
          <p:nvSpPr>
            <p:cNvPr name="Freeform 50" id="5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0FBFF"/>
            </a:solidFill>
          </p:spPr>
        </p:sp>
        <p:sp>
          <p:nvSpPr>
            <p:cNvPr name="TextBox 51" id="51"/>
            <p:cNvSpPr txBox="true"/>
            <p:nvPr/>
          </p:nvSpPr>
          <p:spPr>
            <a:xfrm>
              <a:off x="76200" y="57150"/>
              <a:ext cx="660400" cy="679450"/>
            </a:xfrm>
            <a:prstGeom prst="rect">
              <a:avLst/>
            </a:prstGeom>
          </p:spPr>
          <p:txBody>
            <a:bodyPr anchor="ctr" rtlCol="false" tIns="50800" lIns="50800" bIns="50800" rIns="50800"/>
            <a:lstStyle/>
            <a:p>
              <a:pPr algn="ctr">
                <a:lnSpc>
                  <a:spcPts val="1473"/>
                </a:lnSpc>
              </a:pPr>
            </a:p>
          </p:txBody>
        </p:sp>
      </p:grpSp>
      <p:sp>
        <p:nvSpPr>
          <p:cNvPr name="Freeform 52" id="52"/>
          <p:cNvSpPr/>
          <p:nvPr/>
        </p:nvSpPr>
        <p:spPr>
          <a:xfrm flipH="false" flipV="false" rot="0">
            <a:off x="4442909" y="4154593"/>
            <a:ext cx="483612" cy="604514"/>
          </a:xfrm>
          <a:custGeom>
            <a:avLst/>
            <a:gdLst/>
            <a:ahLst/>
            <a:cxnLst/>
            <a:rect r="r" b="b" t="t" l="l"/>
            <a:pathLst>
              <a:path h="755643" w="604515">
                <a:moveTo>
                  <a:pt x="0" y="0"/>
                </a:moveTo>
                <a:lnTo>
                  <a:pt x="604515" y="0"/>
                </a:lnTo>
                <a:lnTo>
                  <a:pt x="604515" y="755644"/>
                </a:lnTo>
                <a:lnTo>
                  <a:pt x="0" y="75564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3" id="53"/>
          <p:cNvSpPr/>
          <p:nvPr/>
        </p:nvSpPr>
        <p:spPr>
          <a:xfrm flipH="false" flipV="false" rot="0">
            <a:off x="5553141" y="4193370"/>
            <a:ext cx="514394" cy="498963"/>
          </a:xfrm>
          <a:custGeom>
            <a:avLst/>
            <a:gdLst/>
            <a:ahLst/>
            <a:cxnLst/>
            <a:rect r="r" b="b" t="t" l="l"/>
            <a:pathLst>
              <a:path h="623704" w="642993">
                <a:moveTo>
                  <a:pt x="0" y="0"/>
                </a:moveTo>
                <a:lnTo>
                  <a:pt x="642993" y="0"/>
                </a:lnTo>
                <a:lnTo>
                  <a:pt x="642993" y="623704"/>
                </a:lnTo>
                <a:lnTo>
                  <a:pt x="0" y="62370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4" id="54"/>
          <p:cNvSpPr/>
          <p:nvPr/>
        </p:nvSpPr>
        <p:spPr>
          <a:xfrm flipH="false" flipV="false" rot="0">
            <a:off x="4356238" y="5479895"/>
            <a:ext cx="501606" cy="418840"/>
          </a:xfrm>
          <a:custGeom>
            <a:avLst/>
            <a:gdLst/>
            <a:ahLst/>
            <a:cxnLst/>
            <a:rect r="r" b="b" t="t" l="l"/>
            <a:pathLst>
              <a:path h="523551" w="627008">
                <a:moveTo>
                  <a:pt x="0" y="0"/>
                </a:moveTo>
                <a:lnTo>
                  <a:pt x="627008" y="0"/>
                </a:lnTo>
                <a:lnTo>
                  <a:pt x="627008" y="523552"/>
                </a:lnTo>
                <a:lnTo>
                  <a:pt x="0" y="52355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55" id="55"/>
          <p:cNvSpPr/>
          <p:nvPr/>
        </p:nvSpPr>
        <p:spPr>
          <a:xfrm flipH="false" flipV="false" rot="0">
            <a:off x="5553141" y="5357756"/>
            <a:ext cx="543664" cy="492016"/>
          </a:xfrm>
          <a:custGeom>
            <a:avLst/>
            <a:gdLst/>
            <a:ahLst/>
            <a:cxnLst/>
            <a:rect r="r" b="b" t="t" l="l"/>
            <a:pathLst>
              <a:path h="615021" w="679581">
                <a:moveTo>
                  <a:pt x="0" y="0"/>
                </a:moveTo>
                <a:lnTo>
                  <a:pt x="679581" y="0"/>
                </a:lnTo>
                <a:lnTo>
                  <a:pt x="679581" y="615021"/>
                </a:lnTo>
                <a:lnTo>
                  <a:pt x="0" y="61502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56" id="56"/>
          <p:cNvSpPr/>
          <p:nvPr/>
        </p:nvSpPr>
        <p:spPr>
          <a:xfrm flipH="false" flipV="false" rot="0">
            <a:off x="5007195" y="4884629"/>
            <a:ext cx="545946" cy="526838"/>
          </a:xfrm>
          <a:custGeom>
            <a:avLst/>
            <a:gdLst/>
            <a:ahLst/>
            <a:cxnLst/>
            <a:rect r="r" b="b" t="t" l="l"/>
            <a:pathLst>
              <a:path h="658548" w="682433">
                <a:moveTo>
                  <a:pt x="0" y="0"/>
                </a:moveTo>
                <a:lnTo>
                  <a:pt x="682433" y="0"/>
                </a:lnTo>
                <a:lnTo>
                  <a:pt x="682433" y="658548"/>
                </a:lnTo>
                <a:lnTo>
                  <a:pt x="0" y="658548"/>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57" id="57"/>
          <p:cNvGrpSpPr/>
          <p:nvPr/>
        </p:nvGrpSpPr>
        <p:grpSpPr>
          <a:xfrm rot="0">
            <a:off x="11567010" y="1961308"/>
            <a:ext cx="4954642" cy="460608"/>
            <a:chOff x="0" y="0"/>
            <a:chExt cx="1631158" cy="151641"/>
          </a:xfrm>
        </p:grpSpPr>
        <p:sp>
          <p:nvSpPr>
            <p:cNvPr name="Freeform 58" id="58"/>
            <p:cNvSpPr/>
            <p:nvPr/>
          </p:nvSpPr>
          <p:spPr>
            <a:xfrm flipH="false" flipV="false" rot="0">
              <a:off x="0" y="0"/>
              <a:ext cx="1631158" cy="151641"/>
            </a:xfrm>
            <a:custGeom>
              <a:avLst/>
              <a:gdLst/>
              <a:ahLst/>
              <a:cxnLst/>
              <a:rect r="r" b="b" t="t" l="l"/>
              <a:pathLst>
                <a:path h="151641" w="1631158">
                  <a:moveTo>
                    <a:pt x="46252" y="0"/>
                  </a:moveTo>
                  <a:lnTo>
                    <a:pt x="1584906" y="0"/>
                  </a:lnTo>
                  <a:cubicBezTo>
                    <a:pt x="1610450" y="0"/>
                    <a:pt x="1631158" y="20708"/>
                    <a:pt x="1631158" y="46252"/>
                  </a:cubicBezTo>
                  <a:lnTo>
                    <a:pt x="1631158" y="105389"/>
                  </a:lnTo>
                  <a:cubicBezTo>
                    <a:pt x="1631158" y="130933"/>
                    <a:pt x="1610450" y="151641"/>
                    <a:pt x="1584906" y="151641"/>
                  </a:cubicBezTo>
                  <a:lnTo>
                    <a:pt x="46252" y="151641"/>
                  </a:lnTo>
                  <a:cubicBezTo>
                    <a:pt x="20708" y="151641"/>
                    <a:pt x="0" y="130933"/>
                    <a:pt x="0" y="105389"/>
                  </a:cubicBezTo>
                  <a:lnTo>
                    <a:pt x="0" y="46252"/>
                  </a:lnTo>
                  <a:cubicBezTo>
                    <a:pt x="0" y="20708"/>
                    <a:pt x="20708" y="0"/>
                    <a:pt x="46252" y="0"/>
                  </a:cubicBezTo>
                  <a:close/>
                </a:path>
              </a:pathLst>
            </a:custGeom>
            <a:solidFill>
              <a:srgbClr val="F7D6F5"/>
            </a:solidFill>
          </p:spPr>
        </p:sp>
        <p:sp>
          <p:nvSpPr>
            <p:cNvPr name="TextBox 59" id="59"/>
            <p:cNvSpPr txBox="true"/>
            <p:nvPr/>
          </p:nvSpPr>
          <p:spPr>
            <a:xfrm>
              <a:off x="0" y="-19050"/>
              <a:ext cx="1631158" cy="170691"/>
            </a:xfrm>
            <a:prstGeom prst="rect">
              <a:avLst/>
            </a:prstGeom>
          </p:spPr>
          <p:txBody>
            <a:bodyPr anchor="ctr" rtlCol="false" tIns="50800" lIns="50800" bIns="50800" rIns="50800"/>
            <a:lstStyle/>
            <a:p>
              <a:pPr algn="ctr">
                <a:lnSpc>
                  <a:spcPts val="1473"/>
                </a:lnSpc>
              </a:pPr>
            </a:p>
          </p:txBody>
        </p:sp>
      </p:grpSp>
      <p:sp>
        <p:nvSpPr>
          <p:cNvPr name="Freeform 60" id="60"/>
          <p:cNvSpPr/>
          <p:nvPr/>
        </p:nvSpPr>
        <p:spPr>
          <a:xfrm flipH="false" flipV="false" rot="0">
            <a:off x="11532964" y="1925501"/>
            <a:ext cx="486846" cy="486846"/>
          </a:xfrm>
          <a:custGeom>
            <a:avLst/>
            <a:gdLst/>
            <a:ahLst/>
            <a:cxnLst/>
            <a:rect r="r" b="b" t="t" l="l"/>
            <a:pathLst>
              <a:path h="608558" w="608558">
                <a:moveTo>
                  <a:pt x="0" y="0"/>
                </a:moveTo>
                <a:lnTo>
                  <a:pt x="608559" y="0"/>
                </a:lnTo>
                <a:lnTo>
                  <a:pt x="608559" y="608558"/>
                </a:lnTo>
                <a:lnTo>
                  <a:pt x="0" y="608558"/>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61" id="61"/>
          <p:cNvGrpSpPr/>
          <p:nvPr/>
        </p:nvGrpSpPr>
        <p:grpSpPr>
          <a:xfrm rot="0">
            <a:off x="11497262" y="2794960"/>
            <a:ext cx="5068452" cy="1019845"/>
            <a:chOff x="0" y="0"/>
            <a:chExt cx="1668626" cy="335752"/>
          </a:xfrm>
        </p:grpSpPr>
        <p:sp>
          <p:nvSpPr>
            <p:cNvPr name="Freeform 62" id="62"/>
            <p:cNvSpPr/>
            <p:nvPr/>
          </p:nvSpPr>
          <p:spPr>
            <a:xfrm flipH="false" flipV="false" rot="0">
              <a:off x="0" y="0"/>
              <a:ext cx="1668626" cy="335752"/>
            </a:xfrm>
            <a:custGeom>
              <a:avLst/>
              <a:gdLst/>
              <a:ahLst/>
              <a:cxnLst/>
              <a:rect r="r" b="b" t="t" l="l"/>
              <a:pathLst>
                <a:path h="335752" w="1668626">
                  <a:moveTo>
                    <a:pt x="48879" y="0"/>
                  </a:moveTo>
                  <a:lnTo>
                    <a:pt x="1619747" y="0"/>
                  </a:lnTo>
                  <a:cubicBezTo>
                    <a:pt x="1632711" y="0"/>
                    <a:pt x="1645144" y="5150"/>
                    <a:pt x="1654310" y="14316"/>
                  </a:cubicBezTo>
                  <a:cubicBezTo>
                    <a:pt x="1663477" y="23483"/>
                    <a:pt x="1668626" y="35916"/>
                    <a:pt x="1668626" y="48879"/>
                  </a:cubicBezTo>
                  <a:lnTo>
                    <a:pt x="1668626" y="286873"/>
                  </a:lnTo>
                  <a:cubicBezTo>
                    <a:pt x="1668626" y="299836"/>
                    <a:pt x="1663477" y="312269"/>
                    <a:pt x="1654310" y="321435"/>
                  </a:cubicBezTo>
                  <a:cubicBezTo>
                    <a:pt x="1645144" y="330602"/>
                    <a:pt x="1632711" y="335752"/>
                    <a:pt x="1619747" y="335752"/>
                  </a:cubicBezTo>
                  <a:lnTo>
                    <a:pt x="48879" y="335752"/>
                  </a:lnTo>
                  <a:cubicBezTo>
                    <a:pt x="35916" y="335752"/>
                    <a:pt x="23483" y="330602"/>
                    <a:pt x="14316" y="321435"/>
                  </a:cubicBezTo>
                  <a:cubicBezTo>
                    <a:pt x="5150" y="312269"/>
                    <a:pt x="0" y="299836"/>
                    <a:pt x="0" y="286873"/>
                  </a:cubicBezTo>
                  <a:lnTo>
                    <a:pt x="0" y="48879"/>
                  </a:lnTo>
                  <a:cubicBezTo>
                    <a:pt x="0" y="35916"/>
                    <a:pt x="5150" y="23483"/>
                    <a:pt x="14316" y="14316"/>
                  </a:cubicBezTo>
                  <a:cubicBezTo>
                    <a:pt x="23483" y="5150"/>
                    <a:pt x="35916" y="0"/>
                    <a:pt x="48879" y="0"/>
                  </a:cubicBezTo>
                  <a:close/>
                </a:path>
              </a:pathLst>
            </a:custGeom>
            <a:solidFill>
              <a:srgbClr val="DCC6F9"/>
            </a:solidFill>
          </p:spPr>
        </p:sp>
        <p:sp>
          <p:nvSpPr>
            <p:cNvPr name="TextBox 63" id="63"/>
            <p:cNvSpPr txBox="true"/>
            <p:nvPr/>
          </p:nvSpPr>
          <p:spPr>
            <a:xfrm>
              <a:off x="0" y="-19050"/>
              <a:ext cx="1668626" cy="354802"/>
            </a:xfrm>
            <a:prstGeom prst="rect">
              <a:avLst/>
            </a:prstGeom>
          </p:spPr>
          <p:txBody>
            <a:bodyPr anchor="ctr" rtlCol="false" tIns="50800" lIns="50800" bIns="50800" rIns="50800"/>
            <a:lstStyle/>
            <a:p>
              <a:pPr algn="ctr">
                <a:lnSpc>
                  <a:spcPts val="1473"/>
                </a:lnSpc>
              </a:pPr>
            </a:p>
          </p:txBody>
        </p:sp>
      </p:grpSp>
      <p:grpSp>
        <p:nvGrpSpPr>
          <p:cNvPr name="Group 64" id="64"/>
          <p:cNvGrpSpPr/>
          <p:nvPr/>
        </p:nvGrpSpPr>
        <p:grpSpPr>
          <a:xfrm rot="0">
            <a:off x="11497262" y="4079049"/>
            <a:ext cx="5068452" cy="1019845"/>
            <a:chOff x="0" y="0"/>
            <a:chExt cx="1668626" cy="335752"/>
          </a:xfrm>
        </p:grpSpPr>
        <p:sp>
          <p:nvSpPr>
            <p:cNvPr name="Freeform 65" id="65"/>
            <p:cNvSpPr/>
            <p:nvPr/>
          </p:nvSpPr>
          <p:spPr>
            <a:xfrm flipH="false" flipV="false" rot="0">
              <a:off x="0" y="0"/>
              <a:ext cx="1668626" cy="335752"/>
            </a:xfrm>
            <a:custGeom>
              <a:avLst/>
              <a:gdLst/>
              <a:ahLst/>
              <a:cxnLst/>
              <a:rect r="r" b="b" t="t" l="l"/>
              <a:pathLst>
                <a:path h="335752" w="1668626">
                  <a:moveTo>
                    <a:pt x="48879" y="0"/>
                  </a:moveTo>
                  <a:lnTo>
                    <a:pt x="1619747" y="0"/>
                  </a:lnTo>
                  <a:cubicBezTo>
                    <a:pt x="1632711" y="0"/>
                    <a:pt x="1645144" y="5150"/>
                    <a:pt x="1654310" y="14316"/>
                  </a:cubicBezTo>
                  <a:cubicBezTo>
                    <a:pt x="1663477" y="23483"/>
                    <a:pt x="1668626" y="35916"/>
                    <a:pt x="1668626" y="48879"/>
                  </a:cubicBezTo>
                  <a:lnTo>
                    <a:pt x="1668626" y="286873"/>
                  </a:lnTo>
                  <a:cubicBezTo>
                    <a:pt x="1668626" y="299836"/>
                    <a:pt x="1663477" y="312269"/>
                    <a:pt x="1654310" y="321435"/>
                  </a:cubicBezTo>
                  <a:cubicBezTo>
                    <a:pt x="1645144" y="330602"/>
                    <a:pt x="1632711" y="335752"/>
                    <a:pt x="1619747" y="335752"/>
                  </a:cubicBezTo>
                  <a:lnTo>
                    <a:pt x="48879" y="335752"/>
                  </a:lnTo>
                  <a:cubicBezTo>
                    <a:pt x="35916" y="335752"/>
                    <a:pt x="23483" y="330602"/>
                    <a:pt x="14316" y="321435"/>
                  </a:cubicBezTo>
                  <a:cubicBezTo>
                    <a:pt x="5150" y="312269"/>
                    <a:pt x="0" y="299836"/>
                    <a:pt x="0" y="286873"/>
                  </a:cubicBezTo>
                  <a:lnTo>
                    <a:pt x="0" y="48879"/>
                  </a:lnTo>
                  <a:cubicBezTo>
                    <a:pt x="0" y="35916"/>
                    <a:pt x="5150" y="23483"/>
                    <a:pt x="14316" y="14316"/>
                  </a:cubicBezTo>
                  <a:cubicBezTo>
                    <a:pt x="23483" y="5150"/>
                    <a:pt x="35916" y="0"/>
                    <a:pt x="48879" y="0"/>
                  </a:cubicBezTo>
                  <a:close/>
                </a:path>
              </a:pathLst>
            </a:custGeom>
            <a:solidFill>
              <a:srgbClr val="C2FFE1"/>
            </a:solidFill>
          </p:spPr>
        </p:sp>
        <p:sp>
          <p:nvSpPr>
            <p:cNvPr name="TextBox 66" id="66"/>
            <p:cNvSpPr txBox="true"/>
            <p:nvPr/>
          </p:nvSpPr>
          <p:spPr>
            <a:xfrm>
              <a:off x="0" y="-19050"/>
              <a:ext cx="1668626" cy="354802"/>
            </a:xfrm>
            <a:prstGeom prst="rect">
              <a:avLst/>
            </a:prstGeom>
          </p:spPr>
          <p:txBody>
            <a:bodyPr anchor="ctr" rtlCol="false" tIns="50800" lIns="50800" bIns="50800" rIns="50800"/>
            <a:lstStyle/>
            <a:p>
              <a:pPr algn="ctr">
                <a:lnSpc>
                  <a:spcPts val="1473"/>
                </a:lnSpc>
              </a:pPr>
            </a:p>
          </p:txBody>
        </p:sp>
      </p:grpSp>
      <p:grpSp>
        <p:nvGrpSpPr>
          <p:cNvPr name="Group 67" id="67"/>
          <p:cNvGrpSpPr/>
          <p:nvPr/>
        </p:nvGrpSpPr>
        <p:grpSpPr>
          <a:xfrm rot="0">
            <a:off x="11497262" y="5332744"/>
            <a:ext cx="5068452" cy="1019845"/>
            <a:chOff x="0" y="0"/>
            <a:chExt cx="1668626" cy="335752"/>
          </a:xfrm>
        </p:grpSpPr>
        <p:sp>
          <p:nvSpPr>
            <p:cNvPr name="Freeform 68" id="68"/>
            <p:cNvSpPr/>
            <p:nvPr/>
          </p:nvSpPr>
          <p:spPr>
            <a:xfrm flipH="false" flipV="false" rot="0">
              <a:off x="0" y="0"/>
              <a:ext cx="1668626" cy="335752"/>
            </a:xfrm>
            <a:custGeom>
              <a:avLst/>
              <a:gdLst/>
              <a:ahLst/>
              <a:cxnLst/>
              <a:rect r="r" b="b" t="t" l="l"/>
              <a:pathLst>
                <a:path h="335752" w="1668626">
                  <a:moveTo>
                    <a:pt x="48879" y="0"/>
                  </a:moveTo>
                  <a:lnTo>
                    <a:pt x="1619747" y="0"/>
                  </a:lnTo>
                  <a:cubicBezTo>
                    <a:pt x="1632711" y="0"/>
                    <a:pt x="1645144" y="5150"/>
                    <a:pt x="1654310" y="14316"/>
                  </a:cubicBezTo>
                  <a:cubicBezTo>
                    <a:pt x="1663477" y="23483"/>
                    <a:pt x="1668626" y="35916"/>
                    <a:pt x="1668626" y="48879"/>
                  </a:cubicBezTo>
                  <a:lnTo>
                    <a:pt x="1668626" y="286873"/>
                  </a:lnTo>
                  <a:cubicBezTo>
                    <a:pt x="1668626" y="299836"/>
                    <a:pt x="1663477" y="312269"/>
                    <a:pt x="1654310" y="321435"/>
                  </a:cubicBezTo>
                  <a:cubicBezTo>
                    <a:pt x="1645144" y="330602"/>
                    <a:pt x="1632711" y="335752"/>
                    <a:pt x="1619747" y="335752"/>
                  </a:cubicBezTo>
                  <a:lnTo>
                    <a:pt x="48879" y="335752"/>
                  </a:lnTo>
                  <a:cubicBezTo>
                    <a:pt x="35916" y="335752"/>
                    <a:pt x="23483" y="330602"/>
                    <a:pt x="14316" y="321435"/>
                  </a:cubicBezTo>
                  <a:cubicBezTo>
                    <a:pt x="5150" y="312269"/>
                    <a:pt x="0" y="299836"/>
                    <a:pt x="0" y="286873"/>
                  </a:cubicBezTo>
                  <a:lnTo>
                    <a:pt x="0" y="48879"/>
                  </a:lnTo>
                  <a:cubicBezTo>
                    <a:pt x="0" y="35916"/>
                    <a:pt x="5150" y="23483"/>
                    <a:pt x="14316" y="14316"/>
                  </a:cubicBezTo>
                  <a:cubicBezTo>
                    <a:pt x="23483" y="5150"/>
                    <a:pt x="35916" y="0"/>
                    <a:pt x="48879" y="0"/>
                  </a:cubicBezTo>
                  <a:close/>
                </a:path>
              </a:pathLst>
            </a:custGeom>
            <a:solidFill>
              <a:srgbClr val="F2F9D3"/>
            </a:solidFill>
          </p:spPr>
        </p:sp>
        <p:sp>
          <p:nvSpPr>
            <p:cNvPr name="TextBox 69" id="69"/>
            <p:cNvSpPr txBox="true"/>
            <p:nvPr/>
          </p:nvSpPr>
          <p:spPr>
            <a:xfrm>
              <a:off x="0" y="-19050"/>
              <a:ext cx="1668626" cy="354802"/>
            </a:xfrm>
            <a:prstGeom prst="rect">
              <a:avLst/>
            </a:prstGeom>
          </p:spPr>
          <p:txBody>
            <a:bodyPr anchor="ctr" rtlCol="false" tIns="50800" lIns="50800" bIns="50800" rIns="50800"/>
            <a:lstStyle/>
            <a:p>
              <a:pPr algn="ctr">
                <a:lnSpc>
                  <a:spcPts val="1473"/>
                </a:lnSpc>
              </a:pPr>
            </a:p>
          </p:txBody>
        </p:sp>
      </p:grpSp>
      <p:grpSp>
        <p:nvGrpSpPr>
          <p:cNvPr name="Group 70" id="70"/>
          <p:cNvGrpSpPr/>
          <p:nvPr/>
        </p:nvGrpSpPr>
        <p:grpSpPr>
          <a:xfrm rot="0">
            <a:off x="11510104" y="6588810"/>
            <a:ext cx="5068452" cy="1019845"/>
            <a:chOff x="0" y="0"/>
            <a:chExt cx="1668626" cy="335752"/>
          </a:xfrm>
        </p:grpSpPr>
        <p:sp>
          <p:nvSpPr>
            <p:cNvPr name="Freeform 71" id="71"/>
            <p:cNvSpPr/>
            <p:nvPr/>
          </p:nvSpPr>
          <p:spPr>
            <a:xfrm flipH="false" flipV="false" rot="0">
              <a:off x="0" y="0"/>
              <a:ext cx="1668626" cy="335752"/>
            </a:xfrm>
            <a:custGeom>
              <a:avLst/>
              <a:gdLst/>
              <a:ahLst/>
              <a:cxnLst/>
              <a:rect r="r" b="b" t="t" l="l"/>
              <a:pathLst>
                <a:path h="335752" w="1668626">
                  <a:moveTo>
                    <a:pt x="48879" y="0"/>
                  </a:moveTo>
                  <a:lnTo>
                    <a:pt x="1619747" y="0"/>
                  </a:lnTo>
                  <a:cubicBezTo>
                    <a:pt x="1632711" y="0"/>
                    <a:pt x="1645144" y="5150"/>
                    <a:pt x="1654310" y="14316"/>
                  </a:cubicBezTo>
                  <a:cubicBezTo>
                    <a:pt x="1663477" y="23483"/>
                    <a:pt x="1668626" y="35916"/>
                    <a:pt x="1668626" y="48879"/>
                  </a:cubicBezTo>
                  <a:lnTo>
                    <a:pt x="1668626" y="286873"/>
                  </a:lnTo>
                  <a:cubicBezTo>
                    <a:pt x="1668626" y="299836"/>
                    <a:pt x="1663477" y="312269"/>
                    <a:pt x="1654310" y="321435"/>
                  </a:cubicBezTo>
                  <a:cubicBezTo>
                    <a:pt x="1645144" y="330602"/>
                    <a:pt x="1632711" y="335752"/>
                    <a:pt x="1619747" y="335752"/>
                  </a:cubicBezTo>
                  <a:lnTo>
                    <a:pt x="48879" y="335752"/>
                  </a:lnTo>
                  <a:cubicBezTo>
                    <a:pt x="35916" y="335752"/>
                    <a:pt x="23483" y="330602"/>
                    <a:pt x="14316" y="321435"/>
                  </a:cubicBezTo>
                  <a:cubicBezTo>
                    <a:pt x="5150" y="312269"/>
                    <a:pt x="0" y="299836"/>
                    <a:pt x="0" y="286873"/>
                  </a:cubicBezTo>
                  <a:lnTo>
                    <a:pt x="0" y="48879"/>
                  </a:lnTo>
                  <a:cubicBezTo>
                    <a:pt x="0" y="35916"/>
                    <a:pt x="5150" y="23483"/>
                    <a:pt x="14316" y="14316"/>
                  </a:cubicBezTo>
                  <a:cubicBezTo>
                    <a:pt x="23483" y="5150"/>
                    <a:pt x="35916" y="0"/>
                    <a:pt x="48879" y="0"/>
                  </a:cubicBezTo>
                  <a:close/>
                </a:path>
              </a:pathLst>
            </a:custGeom>
            <a:solidFill>
              <a:srgbClr val="BFDCFE"/>
            </a:solidFill>
          </p:spPr>
        </p:sp>
        <p:sp>
          <p:nvSpPr>
            <p:cNvPr name="TextBox 72" id="72"/>
            <p:cNvSpPr txBox="true"/>
            <p:nvPr/>
          </p:nvSpPr>
          <p:spPr>
            <a:xfrm>
              <a:off x="0" y="-19050"/>
              <a:ext cx="1668626" cy="354802"/>
            </a:xfrm>
            <a:prstGeom prst="rect">
              <a:avLst/>
            </a:prstGeom>
          </p:spPr>
          <p:txBody>
            <a:bodyPr anchor="ctr" rtlCol="false" tIns="50800" lIns="50800" bIns="50800" rIns="50800"/>
            <a:lstStyle/>
            <a:p>
              <a:pPr algn="ctr">
                <a:lnSpc>
                  <a:spcPts val="1473"/>
                </a:lnSpc>
              </a:pPr>
            </a:p>
          </p:txBody>
        </p:sp>
      </p:grpSp>
      <p:grpSp>
        <p:nvGrpSpPr>
          <p:cNvPr name="Group 73" id="73"/>
          <p:cNvGrpSpPr/>
          <p:nvPr/>
        </p:nvGrpSpPr>
        <p:grpSpPr>
          <a:xfrm rot="0">
            <a:off x="11833121" y="2931632"/>
            <a:ext cx="1755417" cy="746502"/>
            <a:chOff x="0" y="0"/>
            <a:chExt cx="577915" cy="245762"/>
          </a:xfrm>
        </p:grpSpPr>
        <p:sp>
          <p:nvSpPr>
            <p:cNvPr name="Freeform 74" id="74"/>
            <p:cNvSpPr/>
            <p:nvPr/>
          </p:nvSpPr>
          <p:spPr>
            <a:xfrm flipH="false" flipV="false" rot="0">
              <a:off x="0" y="0"/>
              <a:ext cx="577915" cy="245762"/>
            </a:xfrm>
            <a:custGeom>
              <a:avLst/>
              <a:gdLst/>
              <a:ahLst/>
              <a:cxnLst/>
              <a:rect r="r" b="b" t="t" l="l"/>
              <a:pathLst>
                <a:path h="245762" w="577915">
                  <a:moveTo>
                    <a:pt x="122881" y="0"/>
                  </a:moveTo>
                  <a:lnTo>
                    <a:pt x="455034" y="0"/>
                  </a:lnTo>
                  <a:cubicBezTo>
                    <a:pt x="487624" y="0"/>
                    <a:pt x="518880" y="12946"/>
                    <a:pt x="541924" y="35991"/>
                  </a:cubicBezTo>
                  <a:cubicBezTo>
                    <a:pt x="564969" y="59036"/>
                    <a:pt x="577915" y="90291"/>
                    <a:pt x="577915" y="122881"/>
                  </a:cubicBezTo>
                  <a:lnTo>
                    <a:pt x="577915" y="122881"/>
                  </a:lnTo>
                  <a:cubicBezTo>
                    <a:pt x="577915" y="190746"/>
                    <a:pt x="522900" y="245762"/>
                    <a:pt x="455034" y="245762"/>
                  </a:cubicBezTo>
                  <a:lnTo>
                    <a:pt x="122881" y="245762"/>
                  </a:lnTo>
                  <a:cubicBezTo>
                    <a:pt x="55016" y="245762"/>
                    <a:pt x="0" y="190746"/>
                    <a:pt x="0" y="122881"/>
                  </a:cubicBezTo>
                  <a:lnTo>
                    <a:pt x="0" y="122881"/>
                  </a:lnTo>
                  <a:cubicBezTo>
                    <a:pt x="0" y="55016"/>
                    <a:pt x="55016" y="0"/>
                    <a:pt x="122881" y="0"/>
                  </a:cubicBezTo>
                  <a:close/>
                </a:path>
              </a:pathLst>
            </a:custGeom>
            <a:solidFill>
              <a:srgbClr val="FFFFFF"/>
            </a:solidFill>
          </p:spPr>
        </p:sp>
        <p:sp>
          <p:nvSpPr>
            <p:cNvPr name="TextBox 75" id="75"/>
            <p:cNvSpPr txBox="true"/>
            <p:nvPr/>
          </p:nvSpPr>
          <p:spPr>
            <a:xfrm>
              <a:off x="0" y="-19050"/>
              <a:ext cx="577915" cy="264812"/>
            </a:xfrm>
            <a:prstGeom prst="rect">
              <a:avLst/>
            </a:prstGeom>
          </p:spPr>
          <p:txBody>
            <a:bodyPr anchor="ctr" rtlCol="false" tIns="50800" lIns="50800" bIns="50800" rIns="50800"/>
            <a:lstStyle/>
            <a:p>
              <a:pPr algn="ctr">
                <a:lnSpc>
                  <a:spcPts val="1473"/>
                </a:lnSpc>
              </a:pPr>
            </a:p>
          </p:txBody>
        </p:sp>
      </p:grpSp>
      <p:grpSp>
        <p:nvGrpSpPr>
          <p:cNvPr name="Group 76" id="76"/>
          <p:cNvGrpSpPr/>
          <p:nvPr/>
        </p:nvGrpSpPr>
        <p:grpSpPr>
          <a:xfrm rot="0">
            <a:off x="11833121" y="4200524"/>
            <a:ext cx="1755417" cy="746502"/>
            <a:chOff x="0" y="0"/>
            <a:chExt cx="577915" cy="245762"/>
          </a:xfrm>
        </p:grpSpPr>
        <p:sp>
          <p:nvSpPr>
            <p:cNvPr name="Freeform 77" id="77"/>
            <p:cNvSpPr/>
            <p:nvPr/>
          </p:nvSpPr>
          <p:spPr>
            <a:xfrm flipH="false" flipV="false" rot="0">
              <a:off x="0" y="0"/>
              <a:ext cx="577915" cy="245762"/>
            </a:xfrm>
            <a:custGeom>
              <a:avLst/>
              <a:gdLst/>
              <a:ahLst/>
              <a:cxnLst/>
              <a:rect r="r" b="b" t="t" l="l"/>
              <a:pathLst>
                <a:path h="245762" w="577915">
                  <a:moveTo>
                    <a:pt x="122881" y="0"/>
                  </a:moveTo>
                  <a:lnTo>
                    <a:pt x="455034" y="0"/>
                  </a:lnTo>
                  <a:cubicBezTo>
                    <a:pt x="487624" y="0"/>
                    <a:pt x="518880" y="12946"/>
                    <a:pt x="541924" y="35991"/>
                  </a:cubicBezTo>
                  <a:cubicBezTo>
                    <a:pt x="564969" y="59036"/>
                    <a:pt x="577915" y="90291"/>
                    <a:pt x="577915" y="122881"/>
                  </a:cubicBezTo>
                  <a:lnTo>
                    <a:pt x="577915" y="122881"/>
                  </a:lnTo>
                  <a:cubicBezTo>
                    <a:pt x="577915" y="190746"/>
                    <a:pt x="522900" y="245762"/>
                    <a:pt x="455034" y="245762"/>
                  </a:cubicBezTo>
                  <a:lnTo>
                    <a:pt x="122881" y="245762"/>
                  </a:lnTo>
                  <a:cubicBezTo>
                    <a:pt x="55016" y="245762"/>
                    <a:pt x="0" y="190746"/>
                    <a:pt x="0" y="122881"/>
                  </a:cubicBezTo>
                  <a:lnTo>
                    <a:pt x="0" y="122881"/>
                  </a:lnTo>
                  <a:cubicBezTo>
                    <a:pt x="0" y="55016"/>
                    <a:pt x="55016" y="0"/>
                    <a:pt x="122881" y="0"/>
                  </a:cubicBezTo>
                  <a:close/>
                </a:path>
              </a:pathLst>
            </a:custGeom>
            <a:solidFill>
              <a:srgbClr val="FFFFFF"/>
            </a:solidFill>
          </p:spPr>
        </p:sp>
        <p:sp>
          <p:nvSpPr>
            <p:cNvPr name="TextBox 78" id="78"/>
            <p:cNvSpPr txBox="true"/>
            <p:nvPr/>
          </p:nvSpPr>
          <p:spPr>
            <a:xfrm>
              <a:off x="0" y="-19050"/>
              <a:ext cx="577915" cy="264812"/>
            </a:xfrm>
            <a:prstGeom prst="rect">
              <a:avLst/>
            </a:prstGeom>
          </p:spPr>
          <p:txBody>
            <a:bodyPr anchor="ctr" rtlCol="false" tIns="50800" lIns="50800" bIns="50800" rIns="50800"/>
            <a:lstStyle/>
            <a:p>
              <a:pPr algn="ctr">
                <a:lnSpc>
                  <a:spcPts val="1473"/>
                </a:lnSpc>
              </a:pPr>
            </a:p>
          </p:txBody>
        </p:sp>
      </p:grpSp>
      <p:grpSp>
        <p:nvGrpSpPr>
          <p:cNvPr name="Group 79" id="79"/>
          <p:cNvGrpSpPr/>
          <p:nvPr/>
        </p:nvGrpSpPr>
        <p:grpSpPr>
          <a:xfrm rot="0">
            <a:off x="11833121" y="5469416"/>
            <a:ext cx="1755417" cy="746502"/>
            <a:chOff x="0" y="0"/>
            <a:chExt cx="577915" cy="245762"/>
          </a:xfrm>
        </p:grpSpPr>
        <p:sp>
          <p:nvSpPr>
            <p:cNvPr name="Freeform 80" id="80"/>
            <p:cNvSpPr/>
            <p:nvPr/>
          </p:nvSpPr>
          <p:spPr>
            <a:xfrm flipH="false" flipV="false" rot="0">
              <a:off x="0" y="0"/>
              <a:ext cx="577915" cy="245762"/>
            </a:xfrm>
            <a:custGeom>
              <a:avLst/>
              <a:gdLst/>
              <a:ahLst/>
              <a:cxnLst/>
              <a:rect r="r" b="b" t="t" l="l"/>
              <a:pathLst>
                <a:path h="245762" w="577915">
                  <a:moveTo>
                    <a:pt x="122881" y="0"/>
                  </a:moveTo>
                  <a:lnTo>
                    <a:pt x="455034" y="0"/>
                  </a:lnTo>
                  <a:cubicBezTo>
                    <a:pt x="487624" y="0"/>
                    <a:pt x="518880" y="12946"/>
                    <a:pt x="541924" y="35991"/>
                  </a:cubicBezTo>
                  <a:cubicBezTo>
                    <a:pt x="564969" y="59036"/>
                    <a:pt x="577915" y="90291"/>
                    <a:pt x="577915" y="122881"/>
                  </a:cubicBezTo>
                  <a:lnTo>
                    <a:pt x="577915" y="122881"/>
                  </a:lnTo>
                  <a:cubicBezTo>
                    <a:pt x="577915" y="190746"/>
                    <a:pt x="522900" y="245762"/>
                    <a:pt x="455034" y="245762"/>
                  </a:cubicBezTo>
                  <a:lnTo>
                    <a:pt x="122881" y="245762"/>
                  </a:lnTo>
                  <a:cubicBezTo>
                    <a:pt x="55016" y="245762"/>
                    <a:pt x="0" y="190746"/>
                    <a:pt x="0" y="122881"/>
                  </a:cubicBezTo>
                  <a:lnTo>
                    <a:pt x="0" y="122881"/>
                  </a:lnTo>
                  <a:cubicBezTo>
                    <a:pt x="0" y="55016"/>
                    <a:pt x="55016" y="0"/>
                    <a:pt x="122881" y="0"/>
                  </a:cubicBezTo>
                  <a:close/>
                </a:path>
              </a:pathLst>
            </a:custGeom>
            <a:solidFill>
              <a:srgbClr val="FFFFFF"/>
            </a:solidFill>
          </p:spPr>
        </p:sp>
        <p:sp>
          <p:nvSpPr>
            <p:cNvPr name="TextBox 81" id="81"/>
            <p:cNvSpPr txBox="true"/>
            <p:nvPr/>
          </p:nvSpPr>
          <p:spPr>
            <a:xfrm>
              <a:off x="0" y="-19050"/>
              <a:ext cx="577915" cy="264812"/>
            </a:xfrm>
            <a:prstGeom prst="rect">
              <a:avLst/>
            </a:prstGeom>
          </p:spPr>
          <p:txBody>
            <a:bodyPr anchor="ctr" rtlCol="false" tIns="50800" lIns="50800" bIns="50800" rIns="50800"/>
            <a:lstStyle/>
            <a:p>
              <a:pPr algn="ctr">
                <a:lnSpc>
                  <a:spcPts val="1473"/>
                </a:lnSpc>
              </a:pPr>
            </a:p>
          </p:txBody>
        </p:sp>
      </p:grpSp>
      <p:grpSp>
        <p:nvGrpSpPr>
          <p:cNvPr name="Group 82" id="82"/>
          <p:cNvGrpSpPr/>
          <p:nvPr/>
        </p:nvGrpSpPr>
        <p:grpSpPr>
          <a:xfrm rot="0">
            <a:off x="11833121" y="6738307"/>
            <a:ext cx="1755417" cy="746502"/>
            <a:chOff x="0" y="0"/>
            <a:chExt cx="577915" cy="245762"/>
          </a:xfrm>
        </p:grpSpPr>
        <p:sp>
          <p:nvSpPr>
            <p:cNvPr name="Freeform 83" id="83"/>
            <p:cNvSpPr/>
            <p:nvPr/>
          </p:nvSpPr>
          <p:spPr>
            <a:xfrm flipH="false" flipV="false" rot="0">
              <a:off x="0" y="0"/>
              <a:ext cx="577915" cy="245762"/>
            </a:xfrm>
            <a:custGeom>
              <a:avLst/>
              <a:gdLst/>
              <a:ahLst/>
              <a:cxnLst/>
              <a:rect r="r" b="b" t="t" l="l"/>
              <a:pathLst>
                <a:path h="245762" w="577915">
                  <a:moveTo>
                    <a:pt x="122881" y="0"/>
                  </a:moveTo>
                  <a:lnTo>
                    <a:pt x="455034" y="0"/>
                  </a:lnTo>
                  <a:cubicBezTo>
                    <a:pt x="487624" y="0"/>
                    <a:pt x="518880" y="12946"/>
                    <a:pt x="541924" y="35991"/>
                  </a:cubicBezTo>
                  <a:cubicBezTo>
                    <a:pt x="564969" y="59036"/>
                    <a:pt x="577915" y="90291"/>
                    <a:pt x="577915" y="122881"/>
                  </a:cubicBezTo>
                  <a:lnTo>
                    <a:pt x="577915" y="122881"/>
                  </a:lnTo>
                  <a:cubicBezTo>
                    <a:pt x="577915" y="190746"/>
                    <a:pt x="522900" y="245762"/>
                    <a:pt x="455034" y="245762"/>
                  </a:cubicBezTo>
                  <a:lnTo>
                    <a:pt x="122881" y="245762"/>
                  </a:lnTo>
                  <a:cubicBezTo>
                    <a:pt x="55016" y="245762"/>
                    <a:pt x="0" y="190746"/>
                    <a:pt x="0" y="122881"/>
                  </a:cubicBezTo>
                  <a:lnTo>
                    <a:pt x="0" y="122881"/>
                  </a:lnTo>
                  <a:cubicBezTo>
                    <a:pt x="0" y="55016"/>
                    <a:pt x="55016" y="0"/>
                    <a:pt x="122881" y="0"/>
                  </a:cubicBezTo>
                  <a:close/>
                </a:path>
              </a:pathLst>
            </a:custGeom>
            <a:solidFill>
              <a:srgbClr val="FFFFFF"/>
            </a:solidFill>
          </p:spPr>
        </p:sp>
        <p:sp>
          <p:nvSpPr>
            <p:cNvPr name="TextBox 84" id="84"/>
            <p:cNvSpPr txBox="true"/>
            <p:nvPr/>
          </p:nvSpPr>
          <p:spPr>
            <a:xfrm>
              <a:off x="0" y="-19050"/>
              <a:ext cx="577915" cy="264812"/>
            </a:xfrm>
            <a:prstGeom prst="rect">
              <a:avLst/>
            </a:prstGeom>
          </p:spPr>
          <p:txBody>
            <a:bodyPr anchor="ctr" rtlCol="false" tIns="50800" lIns="50800" bIns="50800" rIns="50800"/>
            <a:lstStyle/>
            <a:p>
              <a:pPr algn="ctr">
                <a:lnSpc>
                  <a:spcPts val="1473"/>
                </a:lnSpc>
              </a:pPr>
            </a:p>
          </p:txBody>
        </p:sp>
      </p:grpSp>
      <p:sp>
        <p:nvSpPr>
          <p:cNvPr name="TextBox 85" id="85"/>
          <p:cNvSpPr txBox="true"/>
          <p:nvPr/>
        </p:nvSpPr>
        <p:spPr>
          <a:xfrm rot="0">
            <a:off x="6317224" y="3916619"/>
            <a:ext cx="2305938" cy="761258"/>
          </a:xfrm>
          <a:prstGeom prst="rect">
            <a:avLst/>
          </a:prstGeom>
        </p:spPr>
        <p:txBody>
          <a:bodyPr anchor="t" rtlCol="false" tIns="0" lIns="0" bIns="0" rIns="0">
            <a:spAutoFit/>
          </a:bodyPr>
          <a:lstStyle/>
          <a:p>
            <a:pPr algn="l" marL="395097" indent="-197548" lvl="1">
              <a:lnSpc>
                <a:spcPts val="1463"/>
              </a:lnSpc>
              <a:buFont typeface="Arial"/>
              <a:buChar char="•"/>
            </a:pPr>
            <a:r>
              <a:rPr lang="en-US" sz="1463">
                <a:solidFill>
                  <a:srgbClr val="000000"/>
                </a:solidFill>
                <a:latin typeface="Times New Roman"/>
                <a:ea typeface="Times New Roman"/>
                <a:cs typeface="Times New Roman"/>
                <a:sym typeface="Times New Roman"/>
              </a:rPr>
              <a:t>Same facts in every channel</a:t>
            </a:r>
          </a:p>
          <a:p>
            <a:pPr algn="l" marL="395097" indent="-197548" lvl="1">
              <a:lnSpc>
                <a:spcPts val="1463"/>
              </a:lnSpc>
              <a:buFont typeface="Arial"/>
              <a:buChar char="•"/>
            </a:pPr>
            <a:r>
              <a:rPr lang="en-US" sz="1463">
                <a:solidFill>
                  <a:srgbClr val="000000"/>
                </a:solidFill>
                <a:latin typeface="Times New Roman"/>
                <a:ea typeface="Times New Roman"/>
                <a:cs typeface="Times New Roman"/>
                <a:sym typeface="Times New Roman"/>
              </a:rPr>
              <a:t>Faster decisions during an incident</a:t>
            </a:r>
          </a:p>
        </p:txBody>
      </p:sp>
      <p:sp>
        <p:nvSpPr>
          <p:cNvPr name="TextBox 86" id="86"/>
          <p:cNvSpPr txBox="true"/>
          <p:nvPr/>
        </p:nvSpPr>
        <p:spPr>
          <a:xfrm rot="0">
            <a:off x="1505299" y="3886139"/>
            <a:ext cx="2485159" cy="906952"/>
          </a:xfrm>
          <a:prstGeom prst="rect">
            <a:avLst/>
          </a:prstGeom>
        </p:spPr>
        <p:txBody>
          <a:bodyPr anchor="t" rtlCol="false" tIns="0" lIns="0" bIns="0" rIns="0">
            <a:spAutoFit/>
          </a:bodyPr>
          <a:lstStyle/>
          <a:p>
            <a:pPr algn="l" marL="396158" indent="-198079" lvl="1">
              <a:lnSpc>
                <a:spcPts val="1761"/>
              </a:lnSpc>
              <a:buFont typeface="Arial"/>
              <a:buChar char="•"/>
            </a:pPr>
            <a:r>
              <a:rPr lang="en-US" sz="1467">
                <a:solidFill>
                  <a:srgbClr val="000000"/>
                </a:solidFill>
                <a:latin typeface="Times New Roman"/>
                <a:ea typeface="Times New Roman"/>
                <a:cs typeface="Times New Roman"/>
                <a:sym typeface="Times New Roman"/>
              </a:rPr>
              <a:t>One upload, up to 7 formats</a:t>
            </a:r>
          </a:p>
          <a:p>
            <a:pPr algn="l" marL="396158" indent="-198079" lvl="1">
              <a:lnSpc>
                <a:spcPts val="1761"/>
              </a:lnSpc>
              <a:buFont typeface="Arial"/>
              <a:buChar char="•"/>
            </a:pPr>
            <a:r>
              <a:rPr lang="en-US" sz="1467">
                <a:solidFill>
                  <a:srgbClr val="000000"/>
                </a:solidFill>
                <a:latin typeface="Times New Roman"/>
                <a:ea typeface="Times New Roman"/>
                <a:cs typeface="Times New Roman"/>
                <a:sym typeface="Times New Roman"/>
              </a:rPr>
              <a:t>More time for analysis, less for formatting</a:t>
            </a:r>
          </a:p>
          <a:p>
            <a:pPr algn="l">
              <a:lnSpc>
                <a:spcPts val="1761"/>
              </a:lnSpc>
              <a:spcBef>
                <a:spcPct val="0"/>
              </a:spcBef>
            </a:pPr>
          </a:p>
        </p:txBody>
      </p:sp>
      <p:sp>
        <p:nvSpPr>
          <p:cNvPr name="TextBox 87" id="87"/>
          <p:cNvSpPr txBox="true"/>
          <p:nvPr/>
        </p:nvSpPr>
        <p:spPr>
          <a:xfrm rot="0">
            <a:off x="1072328" y="5554142"/>
            <a:ext cx="3184851" cy="266678"/>
          </a:xfrm>
          <a:prstGeom prst="rect">
            <a:avLst/>
          </a:prstGeom>
        </p:spPr>
        <p:txBody>
          <a:bodyPr anchor="t" rtlCol="false" tIns="0" lIns="0" bIns="0" rIns="0">
            <a:spAutoFit/>
          </a:bodyPr>
          <a:lstStyle/>
          <a:p>
            <a:pPr algn="ctr">
              <a:lnSpc>
                <a:spcPts val="2015"/>
              </a:lnSpc>
              <a:spcBef>
                <a:spcPct val="0"/>
              </a:spcBef>
            </a:pPr>
            <a:r>
              <a:rPr lang="en-US" b="1" sz="1679">
                <a:solidFill>
                  <a:srgbClr val="000000"/>
                </a:solidFill>
                <a:latin typeface="Times New Roman"/>
                <a:ea typeface="Times New Roman"/>
                <a:cs typeface="Times New Roman"/>
                <a:sym typeface="Times New Roman"/>
              </a:rPr>
              <a:t>Citizens &amp; the Public</a:t>
            </a:r>
          </a:p>
        </p:txBody>
      </p:sp>
      <p:sp>
        <p:nvSpPr>
          <p:cNvPr name="AutoShape 88" id="88"/>
          <p:cNvSpPr/>
          <p:nvPr/>
        </p:nvSpPr>
        <p:spPr>
          <a:xfrm>
            <a:off x="3910414" y="3908999"/>
            <a:ext cx="420144" cy="291525"/>
          </a:xfrm>
          <a:prstGeom prst="line">
            <a:avLst/>
          </a:prstGeom>
          <a:ln cap="flat" w="38100">
            <a:solidFill>
              <a:srgbClr val="000000"/>
            </a:solidFill>
            <a:prstDash val="solid"/>
            <a:headEnd type="diamond" len="lg" w="lg"/>
            <a:tailEnd type="diamond" len="lg" w="lg"/>
          </a:ln>
        </p:spPr>
      </p:sp>
      <p:sp>
        <p:nvSpPr>
          <p:cNvPr name="AutoShape 89" id="89"/>
          <p:cNvSpPr/>
          <p:nvPr/>
        </p:nvSpPr>
        <p:spPr>
          <a:xfrm>
            <a:off x="6180647" y="5614966"/>
            <a:ext cx="362896" cy="213474"/>
          </a:xfrm>
          <a:prstGeom prst="line">
            <a:avLst/>
          </a:prstGeom>
          <a:ln cap="flat" w="38100">
            <a:solidFill>
              <a:srgbClr val="000000"/>
            </a:solidFill>
            <a:prstDash val="solid"/>
            <a:headEnd type="diamond" len="lg" w="lg"/>
            <a:tailEnd type="diamond" len="lg" w="lg"/>
          </a:ln>
        </p:spPr>
      </p:sp>
      <p:sp>
        <p:nvSpPr>
          <p:cNvPr name="AutoShape 90" id="90"/>
          <p:cNvSpPr/>
          <p:nvPr/>
        </p:nvSpPr>
        <p:spPr>
          <a:xfrm flipV="true">
            <a:off x="3910414" y="5547744"/>
            <a:ext cx="354381" cy="362595"/>
          </a:xfrm>
          <a:prstGeom prst="line">
            <a:avLst/>
          </a:prstGeom>
          <a:ln cap="flat" w="38100">
            <a:solidFill>
              <a:srgbClr val="000000"/>
            </a:solidFill>
            <a:prstDash val="solid"/>
            <a:headEnd type="diamond" len="lg" w="lg"/>
            <a:tailEnd type="diamond" len="lg" w="lg"/>
          </a:ln>
        </p:spPr>
      </p:sp>
      <p:sp>
        <p:nvSpPr>
          <p:cNvPr name="AutoShape 91" id="91"/>
          <p:cNvSpPr/>
          <p:nvPr/>
        </p:nvSpPr>
        <p:spPr>
          <a:xfrm flipV="true">
            <a:off x="6118927" y="3900064"/>
            <a:ext cx="286195" cy="308800"/>
          </a:xfrm>
          <a:prstGeom prst="line">
            <a:avLst/>
          </a:prstGeom>
          <a:ln cap="flat" w="38100">
            <a:solidFill>
              <a:srgbClr val="000000"/>
            </a:solidFill>
            <a:prstDash val="solid"/>
            <a:headEnd type="diamond" len="lg" w="lg"/>
            <a:tailEnd type="diamond" len="lg" w="lg"/>
          </a:ln>
        </p:spPr>
      </p:sp>
      <p:sp>
        <p:nvSpPr>
          <p:cNvPr name="TextBox 92" id="92"/>
          <p:cNvSpPr txBox="true"/>
          <p:nvPr/>
        </p:nvSpPr>
        <p:spPr>
          <a:xfrm rot="0">
            <a:off x="2087679" y="2025809"/>
            <a:ext cx="2092354" cy="304843"/>
          </a:xfrm>
          <a:prstGeom prst="rect">
            <a:avLst/>
          </a:prstGeom>
        </p:spPr>
        <p:txBody>
          <a:bodyPr anchor="t" rtlCol="false" tIns="0" lIns="0" bIns="0" rIns="0">
            <a:spAutoFit/>
          </a:bodyPr>
          <a:lstStyle/>
          <a:p>
            <a:pPr algn="ctr">
              <a:lnSpc>
                <a:spcPts val="2384"/>
              </a:lnSpc>
              <a:spcBef>
                <a:spcPct val="0"/>
              </a:spcBef>
            </a:pPr>
            <a:r>
              <a:rPr lang="en-US" b="1" sz="1986">
                <a:solidFill>
                  <a:srgbClr val="000000"/>
                </a:solidFill>
                <a:latin typeface="Times New Roman"/>
                <a:ea typeface="Times New Roman"/>
                <a:cs typeface="Times New Roman"/>
                <a:sym typeface="Times New Roman"/>
              </a:rPr>
              <a:t>WHO BENEFITS?</a:t>
            </a:r>
          </a:p>
        </p:txBody>
      </p:sp>
      <p:sp>
        <p:nvSpPr>
          <p:cNvPr name="TextBox 93" id="93"/>
          <p:cNvSpPr txBox="true"/>
          <p:nvPr/>
        </p:nvSpPr>
        <p:spPr>
          <a:xfrm rot="0">
            <a:off x="1505299" y="2456843"/>
            <a:ext cx="6229740" cy="342878"/>
          </a:xfrm>
          <a:prstGeom prst="rect">
            <a:avLst/>
          </a:prstGeom>
        </p:spPr>
        <p:txBody>
          <a:bodyPr anchor="t" rtlCol="false" tIns="0" lIns="0" bIns="0" rIns="0">
            <a:spAutoFit/>
          </a:bodyPr>
          <a:lstStyle/>
          <a:p>
            <a:pPr algn="ctr">
              <a:lnSpc>
                <a:spcPts val="2601"/>
              </a:lnSpc>
              <a:spcBef>
                <a:spcPct val="0"/>
              </a:spcBef>
            </a:pPr>
            <a:r>
              <a:rPr lang="en-US" b="1" sz="2167">
                <a:solidFill>
                  <a:srgbClr val="000000"/>
                </a:solidFill>
                <a:latin typeface="Times New Roman"/>
                <a:ea typeface="Times New Roman"/>
                <a:cs typeface="Times New Roman"/>
                <a:sym typeface="Times New Roman"/>
              </a:rPr>
              <a:t>Every link in the communication chain gains</a:t>
            </a:r>
          </a:p>
        </p:txBody>
      </p:sp>
      <p:sp>
        <p:nvSpPr>
          <p:cNvPr name="TextBox 94" id="94"/>
          <p:cNvSpPr txBox="true"/>
          <p:nvPr/>
        </p:nvSpPr>
        <p:spPr>
          <a:xfrm rot="0">
            <a:off x="1692755" y="2779720"/>
            <a:ext cx="5854827" cy="281940"/>
          </a:xfrm>
          <a:prstGeom prst="rect">
            <a:avLst/>
          </a:prstGeom>
        </p:spPr>
        <p:txBody>
          <a:bodyPr anchor="t" rtlCol="false" tIns="0" lIns="0" bIns="0" rIns="0">
            <a:spAutoFit/>
          </a:bodyPr>
          <a:lstStyle/>
          <a:p>
            <a:pPr algn="ctr">
              <a:lnSpc>
                <a:spcPts val="2154"/>
              </a:lnSpc>
              <a:spcBef>
                <a:spcPct val="0"/>
              </a:spcBef>
            </a:pPr>
            <a:r>
              <a:rPr lang="en-US" sz="1795">
                <a:solidFill>
                  <a:srgbClr val="000000"/>
                </a:solidFill>
                <a:latin typeface="Times New Roman"/>
                <a:ea typeface="Times New Roman"/>
                <a:cs typeface="Times New Roman"/>
                <a:sym typeface="Times New Roman"/>
              </a:rPr>
              <a:t>From the analyst who writes it to the citizen who reads it</a:t>
            </a:r>
          </a:p>
        </p:txBody>
      </p:sp>
      <p:sp>
        <p:nvSpPr>
          <p:cNvPr name="TextBox 95" id="95"/>
          <p:cNvSpPr txBox="true"/>
          <p:nvPr/>
        </p:nvSpPr>
        <p:spPr>
          <a:xfrm rot="0">
            <a:off x="1648486" y="3390062"/>
            <a:ext cx="2319175" cy="495343"/>
          </a:xfrm>
          <a:prstGeom prst="rect">
            <a:avLst/>
          </a:prstGeom>
        </p:spPr>
        <p:txBody>
          <a:bodyPr anchor="t" rtlCol="false" tIns="0" lIns="0" bIns="0" rIns="0">
            <a:spAutoFit/>
          </a:bodyPr>
          <a:lstStyle/>
          <a:p>
            <a:pPr algn="ctr">
              <a:lnSpc>
                <a:spcPts val="1942"/>
              </a:lnSpc>
              <a:spcBef>
                <a:spcPct val="0"/>
              </a:spcBef>
            </a:pPr>
            <a:r>
              <a:rPr lang="en-US" b="1" sz="1619">
                <a:solidFill>
                  <a:srgbClr val="000000"/>
                </a:solidFill>
                <a:latin typeface="Times New Roman"/>
                <a:ea typeface="Times New Roman"/>
                <a:cs typeface="Times New Roman"/>
                <a:sym typeface="Times New Roman"/>
              </a:rPr>
              <a:t>Analysts &amp; Comms Teams</a:t>
            </a:r>
          </a:p>
        </p:txBody>
      </p:sp>
      <p:sp>
        <p:nvSpPr>
          <p:cNvPr name="TextBox 96" id="96"/>
          <p:cNvSpPr txBox="true"/>
          <p:nvPr/>
        </p:nvSpPr>
        <p:spPr>
          <a:xfrm rot="0">
            <a:off x="261869" y="9614934"/>
            <a:ext cx="17731679" cy="247704"/>
          </a:xfrm>
          <a:prstGeom prst="rect">
            <a:avLst/>
          </a:prstGeom>
        </p:spPr>
        <p:txBody>
          <a:bodyPr anchor="t" rtlCol="false" tIns="0" lIns="0" bIns="0" rIns="0">
            <a:spAutoFit/>
          </a:bodyPr>
          <a:lstStyle/>
          <a:p>
            <a:pPr algn="ctr">
              <a:lnSpc>
                <a:spcPts val="1841"/>
              </a:lnSpc>
              <a:spcBef>
                <a:spcPct val="0"/>
              </a:spcBef>
            </a:pPr>
          </a:p>
        </p:txBody>
      </p:sp>
      <p:sp>
        <p:nvSpPr>
          <p:cNvPr name="TextBox 97" id="97"/>
          <p:cNvSpPr txBox="true"/>
          <p:nvPr/>
        </p:nvSpPr>
        <p:spPr>
          <a:xfrm rot="0">
            <a:off x="6183031" y="3327084"/>
            <a:ext cx="2379590" cy="495343"/>
          </a:xfrm>
          <a:prstGeom prst="rect">
            <a:avLst/>
          </a:prstGeom>
        </p:spPr>
        <p:txBody>
          <a:bodyPr anchor="t" rtlCol="false" tIns="0" lIns="0" bIns="0" rIns="0">
            <a:spAutoFit/>
          </a:bodyPr>
          <a:lstStyle/>
          <a:p>
            <a:pPr algn="ctr">
              <a:lnSpc>
                <a:spcPts val="1968"/>
              </a:lnSpc>
              <a:spcBef>
                <a:spcPct val="0"/>
              </a:spcBef>
            </a:pPr>
            <a:r>
              <a:rPr lang="en-US" b="1" sz="1640">
                <a:solidFill>
                  <a:srgbClr val="000000"/>
                </a:solidFill>
                <a:latin typeface="Times New Roman"/>
                <a:ea typeface="Times New Roman"/>
                <a:cs typeface="Times New Roman"/>
                <a:sym typeface="Times New Roman"/>
              </a:rPr>
              <a:t>Decision Makers</a:t>
            </a:r>
          </a:p>
        </p:txBody>
      </p:sp>
      <p:sp>
        <p:nvSpPr>
          <p:cNvPr name="TextBox 98" id="98"/>
          <p:cNvSpPr txBox="true"/>
          <p:nvPr/>
        </p:nvSpPr>
        <p:spPr>
          <a:xfrm rot="0">
            <a:off x="1579969" y="5899487"/>
            <a:ext cx="2485159" cy="1127976"/>
          </a:xfrm>
          <a:prstGeom prst="rect">
            <a:avLst/>
          </a:prstGeom>
        </p:spPr>
        <p:txBody>
          <a:bodyPr anchor="t" rtlCol="false" tIns="0" lIns="0" bIns="0" rIns="0">
            <a:spAutoFit/>
          </a:bodyPr>
          <a:lstStyle/>
          <a:p>
            <a:pPr algn="l" marL="396158" indent="-198079" lvl="1">
              <a:lnSpc>
                <a:spcPts val="1761"/>
              </a:lnSpc>
              <a:buFont typeface="Arial"/>
              <a:buChar char="•"/>
            </a:pPr>
            <a:r>
              <a:rPr lang="en-US" sz="1467">
                <a:solidFill>
                  <a:srgbClr val="000000"/>
                </a:solidFill>
                <a:latin typeface="Times New Roman"/>
                <a:ea typeface="Times New Roman"/>
                <a:cs typeface="Times New Roman"/>
                <a:sym typeface="Times New Roman"/>
              </a:rPr>
              <a:t>Plain posts, threads and videos</a:t>
            </a:r>
          </a:p>
          <a:p>
            <a:pPr algn="l" marL="396158" indent="-198079" lvl="1">
              <a:lnSpc>
                <a:spcPts val="1761"/>
              </a:lnSpc>
              <a:buFont typeface="Arial"/>
              <a:buChar char="•"/>
            </a:pPr>
            <a:r>
              <a:rPr lang="en-US" sz="1467">
                <a:solidFill>
                  <a:srgbClr val="000000"/>
                </a:solidFill>
                <a:latin typeface="Times New Roman"/>
                <a:ea typeface="Times New Roman"/>
                <a:cs typeface="Times New Roman"/>
                <a:sym typeface="Times New Roman"/>
              </a:rPr>
              <a:t>Warnings arrive while they still matter</a:t>
            </a:r>
          </a:p>
          <a:p>
            <a:pPr algn="l">
              <a:lnSpc>
                <a:spcPts val="1761"/>
              </a:lnSpc>
              <a:spcBef>
                <a:spcPct val="0"/>
              </a:spcBef>
            </a:pPr>
          </a:p>
        </p:txBody>
      </p:sp>
      <p:sp>
        <p:nvSpPr>
          <p:cNvPr name="TextBox 99" id="99"/>
          <p:cNvSpPr txBox="true"/>
          <p:nvPr/>
        </p:nvSpPr>
        <p:spPr>
          <a:xfrm rot="0">
            <a:off x="6640220" y="5594210"/>
            <a:ext cx="1581799" cy="259058"/>
          </a:xfrm>
          <a:prstGeom prst="rect">
            <a:avLst/>
          </a:prstGeom>
        </p:spPr>
        <p:txBody>
          <a:bodyPr anchor="t" rtlCol="false" tIns="0" lIns="0" bIns="0" rIns="0">
            <a:spAutoFit/>
          </a:bodyPr>
          <a:lstStyle/>
          <a:p>
            <a:pPr algn="ctr">
              <a:lnSpc>
                <a:spcPts val="1985"/>
              </a:lnSpc>
              <a:spcBef>
                <a:spcPct val="0"/>
              </a:spcBef>
            </a:pPr>
            <a:r>
              <a:rPr lang="en-US" b="1" sz="1654">
                <a:solidFill>
                  <a:srgbClr val="000000"/>
                </a:solidFill>
                <a:latin typeface="Times New Roman"/>
                <a:ea typeface="Times New Roman"/>
                <a:cs typeface="Times New Roman"/>
                <a:sym typeface="Times New Roman"/>
              </a:rPr>
              <a:t>The Organisation</a:t>
            </a:r>
          </a:p>
        </p:txBody>
      </p:sp>
      <p:sp>
        <p:nvSpPr>
          <p:cNvPr name="TextBox 100" id="100"/>
          <p:cNvSpPr txBox="true"/>
          <p:nvPr/>
        </p:nvSpPr>
        <p:spPr>
          <a:xfrm rot="0">
            <a:off x="6362095" y="5986764"/>
            <a:ext cx="2205868" cy="685929"/>
          </a:xfrm>
          <a:prstGeom prst="rect">
            <a:avLst/>
          </a:prstGeom>
        </p:spPr>
        <p:txBody>
          <a:bodyPr anchor="t" rtlCol="false" tIns="0" lIns="0" bIns="0" rIns="0">
            <a:spAutoFit/>
          </a:bodyPr>
          <a:lstStyle/>
          <a:p>
            <a:pPr algn="l" marL="396158" indent="-198079" lvl="1">
              <a:lnSpc>
                <a:spcPts val="1761"/>
              </a:lnSpc>
              <a:buFont typeface="Arial"/>
              <a:buChar char="•"/>
            </a:pPr>
            <a:r>
              <a:rPr lang="en-US" sz="1467">
                <a:solidFill>
                  <a:srgbClr val="000000"/>
                </a:solidFill>
                <a:latin typeface="Times New Roman"/>
                <a:ea typeface="Times New Roman"/>
                <a:cs typeface="Times New Roman"/>
                <a:sym typeface="Times New Roman"/>
              </a:rPr>
              <a:t>Runs on its own servers</a:t>
            </a:r>
          </a:p>
          <a:p>
            <a:pPr algn="l" marL="396158" indent="-198079" lvl="1">
              <a:lnSpc>
                <a:spcPts val="1761"/>
              </a:lnSpc>
              <a:buFont typeface="Arial"/>
              <a:buChar char="•"/>
            </a:pPr>
            <a:r>
              <a:rPr lang="en-US" sz="1467">
                <a:solidFill>
                  <a:srgbClr val="000000"/>
                </a:solidFill>
                <a:latin typeface="Times New Roman"/>
                <a:ea typeface="Times New Roman"/>
                <a:cs typeface="Times New Roman"/>
                <a:sym typeface="Times New Roman"/>
              </a:rPr>
              <a:t>Tamper-evident audit log</a:t>
            </a:r>
          </a:p>
          <a:p>
            <a:pPr algn="l" marL="396158" indent="-198079" lvl="1">
              <a:lnSpc>
                <a:spcPts val="1761"/>
              </a:lnSpc>
              <a:buFont typeface="Arial"/>
              <a:buChar char="•"/>
            </a:pPr>
            <a:r>
              <a:rPr lang="en-US" sz="1467">
                <a:solidFill>
                  <a:srgbClr val="000000"/>
                </a:solidFill>
                <a:latin typeface="Times New Roman"/>
                <a:ea typeface="Times New Roman"/>
                <a:cs typeface="Times New Roman"/>
                <a:sym typeface="Times New Roman"/>
              </a:rPr>
              <a:t>Roles (planned)</a:t>
            </a:r>
          </a:p>
        </p:txBody>
      </p:sp>
      <p:sp>
        <p:nvSpPr>
          <p:cNvPr name="TextBox 101" id="101"/>
          <p:cNvSpPr txBox="true"/>
          <p:nvPr/>
        </p:nvSpPr>
        <p:spPr>
          <a:xfrm rot="0">
            <a:off x="10890412" y="2035891"/>
            <a:ext cx="6637112" cy="304843"/>
          </a:xfrm>
          <a:prstGeom prst="rect">
            <a:avLst/>
          </a:prstGeom>
        </p:spPr>
        <p:txBody>
          <a:bodyPr anchor="t" rtlCol="false" tIns="0" lIns="0" bIns="0" rIns="0">
            <a:spAutoFit/>
          </a:bodyPr>
          <a:lstStyle/>
          <a:p>
            <a:pPr algn="ctr">
              <a:lnSpc>
                <a:spcPts val="2386"/>
              </a:lnSpc>
              <a:spcBef>
                <a:spcPct val="0"/>
              </a:spcBef>
            </a:pPr>
            <a:r>
              <a:rPr lang="en-US" b="1" sz="1988">
                <a:solidFill>
                  <a:srgbClr val="000000"/>
                </a:solidFill>
                <a:latin typeface="Times New Roman"/>
                <a:ea typeface="Times New Roman"/>
                <a:cs typeface="Times New Roman"/>
                <a:sym typeface="Times New Roman"/>
              </a:rPr>
              <a:t>HOW WE WILL MEASURE IMPACT?</a:t>
            </a:r>
          </a:p>
        </p:txBody>
      </p:sp>
      <p:sp>
        <p:nvSpPr>
          <p:cNvPr name="TextBox 102" id="102"/>
          <p:cNvSpPr txBox="true"/>
          <p:nvPr/>
        </p:nvSpPr>
        <p:spPr>
          <a:xfrm rot="0">
            <a:off x="11833121" y="2931632"/>
            <a:ext cx="1755417" cy="746502"/>
          </a:xfrm>
          <a:prstGeom prst="rect">
            <a:avLst/>
          </a:prstGeom>
        </p:spPr>
        <p:txBody>
          <a:bodyPr anchor="ctr" rtlCol="false" tIns="0" lIns="0" bIns="0" rIns="0" wrap="none">
            <a:noAutofit/>
          </a:bodyPr>
          <a:lstStyle/>
          <a:p>
            <a:pPr algn="ctr">
              <a:spcBef>
                <a:spcPct val="0"/>
              </a:spcBef>
            </a:pPr>
            <a:r>
              <a:rPr lang="en-US" b="1" sz="2800">
                <a:solidFill>
                  <a:srgbClr val="7C14C5"/>
                </a:solidFill>
                <a:latin typeface="Times New Roman"/>
                <a:ea typeface="Times New Roman"/>
                <a:cs typeface="Times New Roman"/>
                <a:sym typeface="Times New Roman"/>
              </a:rPr>
              <a:t>&lt; 5 min</a:t>
            </a:r>
          </a:p>
        </p:txBody>
      </p:sp>
      <p:sp>
        <p:nvSpPr>
          <p:cNvPr name="TextBox 103" id="103"/>
          <p:cNvSpPr txBox="true"/>
          <p:nvPr/>
        </p:nvSpPr>
        <p:spPr>
          <a:xfrm rot="0">
            <a:off x="11833121" y="4200524"/>
            <a:ext cx="1755417" cy="746502"/>
          </a:xfrm>
          <a:prstGeom prst="rect">
            <a:avLst/>
          </a:prstGeom>
        </p:spPr>
        <p:txBody>
          <a:bodyPr anchor="ctr" rtlCol="false" tIns="0" lIns="0" bIns="0" rIns="0" wrap="none">
            <a:noAutofit/>
          </a:bodyPr>
          <a:lstStyle/>
          <a:p>
            <a:pPr algn="ctr">
              <a:spcBef>
                <a:spcPct val="0"/>
              </a:spcBef>
            </a:pPr>
            <a:r>
              <a:rPr lang="en-US" b="1" sz="2800">
                <a:solidFill>
                  <a:srgbClr val="49834F"/>
                </a:solidFill>
                <a:latin typeface="Times New Roman"/>
                <a:ea typeface="Times New Roman"/>
                <a:cs typeface="Times New Roman"/>
                <a:sym typeface="Times New Roman"/>
              </a:rPr>
              <a:t>80%+</a:t>
            </a:r>
          </a:p>
        </p:txBody>
      </p:sp>
      <p:sp>
        <p:nvSpPr>
          <p:cNvPr name="TextBox 104" id="104"/>
          <p:cNvSpPr txBox="true"/>
          <p:nvPr/>
        </p:nvSpPr>
        <p:spPr>
          <a:xfrm rot="0">
            <a:off x="11833121" y="5469416"/>
            <a:ext cx="1755417" cy="746502"/>
          </a:xfrm>
          <a:prstGeom prst="rect">
            <a:avLst/>
          </a:prstGeom>
        </p:spPr>
        <p:txBody>
          <a:bodyPr anchor="ctr" rtlCol="false" tIns="0" lIns="0" bIns="0" rIns="0" wrap="none">
            <a:noAutofit/>
          </a:bodyPr>
          <a:lstStyle/>
          <a:p>
            <a:pPr algn="ctr">
              <a:spcBef>
                <a:spcPct val="0"/>
              </a:spcBef>
            </a:pPr>
            <a:r>
              <a:rPr lang="en-US" b="1" sz="2800">
                <a:solidFill>
                  <a:srgbClr val="B37E0C"/>
                </a:solidFill>
                <a:latin typeface="Times New Roman"/>
                <a:ea typeface="Times New Roman"/>
                <a:cs typeface="Times New Roman"/>
                <a:sym typeface="Times New Roman"/>
              </a:rPr>
              <a:t>100%</a:t>
            </a:r>
          </a:p>
        </p:txBody>
      </p:sp>
      <p:sp>
        <p:nvSpPr>
          <p:cNvPr name="TextBox 105" id="105"/>
          <p:cNvSpPr txBox="true"/>
          <p:nvPr/>
        </p:nvSpPr>
        <p:spPr>
          <a:xfrm rot="0">
            <a:off x="11833121" y="6738307"/>
            <a:ext cx="1755417" cy="746502"/>
          </a:xfrm>
          <a:prstGeom prst="rect">
            <a:avLst/>
          </a:prstGeom>
        </p:spPr>
        <p:txBody>
          <a:bodyPr anchor="ctr" rtlCol="false" tIns="0" lIns="0" bIns="0" rIns="0" wrap="none">
            <a:noAutofit/>
          </a:bodyPr>
          <a:lstStyle/>
          <a:p>
            <a:pPr algn="ctr">
              <a:spcBef>
                <a:spcPct val="0"/>
              </a:spcBef>
            </a:pPr>
            <a:r>
              <a:rPr lang="en-US" b="1" sz="2800">
                <a:solidFill>
                  <a:srgbClr val="3A20D8"/>
                </a:solidFill>
                <a:latin typeface="Times New Roman"/>
                <a:ea typeface="Times New Roman"/>
                <a:cs typeface="Times New Roman"/>
                <a:sym typeface="Times New Roman"/>
              </a:rPr>
              <a:t>5+</a:t>
            </a:r>
          </a:p>
        </p:txBody>
      </p:sp>
      <p:sp>
        <p:nvSpPr>
          <p:cNvPr name="TextBox 106" id="106"/>
          <p:cNvSpPr txBox="true"/>
          <p:nvPr/>
        </p:nvSpPr>
        <p:spPr>
          <a:xfrm rot="0">
            <a:off x="13679978" y="2794960"/>
            <a:ext cx="2794296" cy="1019845"/>
          </a:xfrm>
          <a:prstGeom prst="rect">
            <a:avLst/>
          </a:prstGeom>
        </p:spPr>
        <p:txBody>
          <a:bodyPr anchor="ctr" rtlCol="false" tIns="0" lIns="0" bIns="0" rIns="0" wrap="square">
            <a:noAutofit/>
          </a:bodyPr>
          <a:lstStyle/>
          <a:p>
            <a:pPr algn="ctr">
              <a:lnSpc>
                <a:spcPts val="2343"/>
              </a:lnSpc>
              <a:spcBef>
                <a:spcPct val="0"/>
              </a:spcBef>
            </a:pPr>
            <a:r>
              <a:rPr lang="en-US" b="1" sz="1953">
                <a:solidFill>
                  <a:srgbClr val="000000"/>
                </a:solidFill>
                <a:latin typeface="Times New Roman"/>
                <a:ea typeface="Times New Roman"/>
                <a:cs typeface="Times New Roman"/>
                <a:sym typeface="Times New Roman"/>
              </a:rPr>
              <a:t>Upload to every format </a:t>
            </a:r>
          </a:p>
        </p:txBody>
      </p:sp>
      <p:sp>
        <p:nvSpPr>
          <p:cNvPr name="TextBox 107" id="107"/>
          <p:cNvSpPr txBox="true"/>
          <p:nvPr/>
        </p:nvSpPr>
        <p:spPr>
          <a:xfrm rot="0">
            <a:off x="13679978" y="4079049"/>
            <a:ext cx="2794296" cy="1019845"/>
          </a:xfrm>
          <a:prstGeom prst="rect">
            <a:avLst/>
          </a:prstGeom>
        </p:spPr>
        <p:txBody>
          <a:bodyPr anchor="ctr" rtlCol="false" tIns="0" lIns="0" bIns="0" rIns="0" wrap="square">
            <a:noAutofit/>
          </a:bodyPr>
          <a:lstStyle/>
          <a:p>
            <a:pPr algn="ctr">
              <a:lnSpc>
                <a:spcPts val="2276"/>
              </a:lnSpc>
              <a:spcBef>
                <a:spcPct val="0"/>
              </a:spcBef>
            </a:pPr>
            <a:r>
              <a:rPr lang="en-US" b="1" sz="1897">
                <a:solidFill>
                  <a:srgbClr val="000000"/>
                </a:solidFill>
                <a:latin typeface="Times New Roman"/>
                <a:ea typeface="Times New Roman"/>
                <a:cs typeface="Times New Roman"/>
                <a:sym typeface="Times New Roman"/>
              </a:rPr>
              <a:t>Drafts used with minor edits</a:t>
            </a:r>
          </a:p>
        </p:txBody>
      </p:sp>
      <p:sp>
        <p:nvSpPr>
          <p:cNvPr name="TextBox 108" id="108"/>
          <p:cNvSpPr txBox="true"/>
          <p:nvPr/>
        </p:nvSpPr>
        <p:spPr>
          <a:xfrm rot="0">
            <a:off x="13679978" y="5332744"/>
            <a:ext cx="2794296" cy="1019845"/>
          </a:xfrm>
          <a:prstGeom prst="rect">
            <a:avLst/>
          </a:prstGeom>
        </p:spPr>
        <p:txBody>
          <a:bodyPr anchor="ctr" rtlCol="false" tIns="0" lIns="0" bIns="0" rIns="0" wrap="square">
            <a:noAutofit/>
          </a:bodyPr>
          <a:lstStyle/>
          <a:p>
            <a:pPr algn="ctr">
              <a:lnSpc>
                <a:spcPts val="2380"/>
              </a:lnSpc>
              <a:spcBef>
                <a:spcPct val="0"/>
              </a:spcBef>
            </a:pPr>
            <a:r>
              <a:rPr lang="en-US" b="1" sz="1983">
                <a:solidFill>
                  <a:srgbClr val="000000"/>
                </a:solidFill>
                <a:latin typeface="Times New Roman"/>
                <a:ea typeface="Times New Roman"/>
                <a:cs typeface="Times New Roman"/>
                <a:sym typeface="Times New Roman"/>
              </a:rPr>
              <a:t>Outputs in the verifiable audit log</a:t>
            </a:r>
          </a:p>
        </p:txBody>
      </p:sp>
      <p:sp>
        <p:nvSpPr>
          <p:cNvPr name="TextBox 109" id="109"/>
          <p:cNvSpPr txBox="true"/>
          <p:nvPr/>
        </p:nvSpPr>
        <p:spPr>
          <a:xfrm rot="0">
            <a:off x="13679978" y="6588810"/>
            <a:ext cx="2807138" cy="1019845"/>
          </a:xfrm>
          <a:prstGeom prst="rect">
            <a:avLst/>
          </a:prstGeom>
        </p:spPr>
        <p:txBody>
          <a:bodyPr anchor="ctr" rtlCol="false" tIns="0" lIns="0" bIns="0" rIns="0" wrap="square">
            <a:noAutofit/>
          </a:bodyPr>
          <a:lstStyle/>
          <a:p>
            <a:pPr algn="ctr">
              <a:lnSpc>
                <a:spcPts val="2573"/>
              </a:lnSpc>
              <a:spcBef>
                <a:spcPct val="0"/>
              </a:spcBef>
            </a:pPr>
            <a:r>
              <a:rPr lang="en-US" b="1" sz="2144">
                <a:solidFill>
                  <a:srgbClr val="000000"/>
                </a:solidFill>
                <a:latin typeface="Times New Roman"/>
                <a:ea typeface="Times New Roman"/>
                <a:cs typeface="Times New Roman"/>
                <a:sym typeface="Times New Roman"/>
              </a:rPr>
              <a:t>Output languages in the pilot</a:t>
            </a:r>
          </a:p>
        </p:txBody>
      </p:sp>
      <p:sp>
        <p:nvSpPr>
          <p:cNvPr name="AutoShape 110" id="110"/>
          <p:cNvSpPr/>
          <p:nvPr/>
        </p:nvSpPr>
        <p:spPr>
          <a:xfrm flipH="true">
            <a:off x="10152294" y="1656751"/>
            <a:ext cx="0" cy="6207089"/>
          </a:xfrm>
          <a:prstGeom prst="line">
            <a:avLst/>
          </a:prstGeom>
          <a:ln cap="flat" w="38100">
            <a:solidFill>
              <a:srgbClr val="3A20D8"/>
            </a:solidFill>
            <a:prstDash val="solid"/>
            <a:headEnd type="none" len="sm" w="sm"/>
            <a:tailEnd type="none" len="sm" w="sm"/>
          </a:ln>
        </p:spPr>
      </p:sp>
      <p:sp>
        <p:nvSpPr>
          <p:cNvPr id="111" name="Rounded Rectangle 110"/>
          <p:cNvSpPr/>
          <p:nvPr/>
        </p:nvSpPr>
        <p:spPr>
          <a:xfrm>
            <a:off x="320040" y="8156448"/>
            <a:ext cx="2103120" cy="1389888"/>
          </a:xfrm>
          <a:prstGeom prst="roundRect">
            <a:avLst>
              <a:gd name="adj" fmla="val 13157"/>
            </a:avLst>
          </a:prstGeom>
          <a:solidFill>
            <a:srgbClr val="E4E9FF"/>
          </a:solidFill>
          <a:ln>
            <a:noFill/>
          </a:ln>
          <a:effectLst/>
        </p:spPr>
        <p:txBody>
          <a:bodyPr rtlCol="0" anchor="ctr"/>
          <a:lstStyle/>
          <a:p>
            <a:pPr algn="ctr"/>
          </a:p>
        </p:txBody>
      </p:sp>
      <p:sp>
        <p:nvSpPr>
          <p:cNvPr id="112" name="TextBox 111"/>
          <p:cNvSpPr txBox="1"/>
          <p:nvPr/>
        </p:nvSpPr>
        <p:spPr>
          <a:xfrm>
            <a:off x="411480" y="8156448"/>
            <a:ext cx="1920240" cy="1389888"/>
          </a:xfrm>
          <a:prstGeom prst="rect">
            <a:avLst/>
          </a:prstGeom>
          <a:noFill/>
        </p:spPr>
        <p:txBody>
          <a:bodyPr wrap="square" lIns="0" rIns="0" tIns="0" bIns="0" anchor="ctr">
            <a:noAutofit/>
          </a:bodyPr>
          <a:lstStyle/>
          <a:p>
            <a:pPr algn="ctr"/>
            <a:r>
              <a:rPr sz="1900" b="1" i="0">
                <a:solidFill>
                  <a:srgbClr val="1B1340"/>
                </a:solidFill>
                <a:latin typeface="Times New Roman"/>
              </a:rPr>
              <a:t>Key research findings</a:t>
            </a:r>
          </a:p>
        </p:txBody>
      </p:sp>
      <p:sp>
        <p:nvSpPr>
          <p:cNvPr id="113" name="Rounded Rectangle 112"/>
          <p:cNvSpPr/>
          <p:nvPr/>
        </p:nvSpPr>
        <p:spPr>
          <a:xfrm>
            <a:off x="2606040" y="8156448"/>
            <a:ext cx="5017007" cy="1389888"/>
          </a:xfrm>
          <a:prstGeom prst="roundRect">
            <a:avLst>
              <a:gd name="adj" fmla="val 9868"/>
            </a:avLst>
          </a:prstGeom>
          <a:solidFill>
            <a:srgbClr val="FFFFFF"/>
          </a:solidFill>
          <a:ln w="15875">
            <a:solidFill>
              <a:srgbClr val="D9D2FA"/>
            </a:solidFill>
          </a:ln>
          <a:effectLst/>
        </p:spPr>
        <p:txBody>
          <a:bodyPr rtlCol="0" anchor="ctr"/>
          <a:lstStyle/>
          <a:p>
            <a:pPr algn="ctr"/>
          </a:p>
        </p:txBody>
      </p:sp>
      <p:sp>
        <p:nvSpPr>
          <p:cNvPr id="114" name="TextBox 113"/>
          <p:cNvSpPr txBox="1"/>
          <p:nvPr/>
        </p:nvSpPr>
        <p:spPr>
          <a:xfrm>
            <a:off x="2715768" y="8156448"/>
            <a:ext cx="1188720" cy="1389888"/>
          </a:xfrm>
          <a:prstGeom prst="rect">
            <a:avLst/>
          </a:prstGeom>
          <a:noFill/>
        </p:spPr>
        <p:txBody>
          <a:bodyPr wrap="square" lIns="0" rIns="0" tIns="0" bIns="0" anchor="ctr">
            <a:noAutofit/>
          </a:bodyPr>
          <a:lstStyle/>
          <a:p>
            <a:pPr algn="ctr"/>
            <a:r>
              <a:rPr sz="3400" b="1" i="0">
                <a:solidFill>
                  <a:srgbClr val="3C24C4"/>
                </a:solidFill>
                <a:latin typeface="Times New Roman"/>
              </a:rPr>
              <a:t>40%</a:t>
            </a:r>
          </a:p>
        </p:txBody>
      </p:sp>
      <p:sp>
        <p:nvSpPr>
          <p:cNvPr id="115" name="TextBox 114"/>
          <p:cNvSpPr txBox="1"/>
          <p:nvPr/>
        </p:nvSpPr>
        <p:spPr>
          <a:xfrm>
            <a:off x="3977639" y="8220456"/>
            <a:ext cx="3535679" cy="566928"/>
          </a:xfrm>
          <a:prstGeom prst="rect">
            <a:avLst/>
          </a:prstGeom>
          <a:noFill/>
        </p:spPr>
        <p:txBody>
          <a:bodyPr wrap="square" lIns="0" rIns="0" tIns="0" bIns="0" anchor="t">
            <a:noAutofit/>
          </a:bodyPr>
          <a:lstStyle/>
          <a:p>
            <a:pPr algn="l"/>
            <a:r>
              <a:rPr sz="1350" b="0" i="0">
                <a:solidFill>
                  <a:srgbClr val="111111"/>
                </a:solidFill>
                <a:latin typeface="Times New Roman"/>
              </a:rPr>
              <a:t>Professionals finished writing tasks 40% faster with AI help.</a:t>
            </a:r>
          </a:p>
        </p:txBody>
      </p:sp>
      <p:sp>
        <p:nvSpPr>
          <p:cNvPr id="116" name="TextBox 115"/>
          <p:cNvSpPr txBox="1"/>
          <p:nvPr/>
        </p:nvSpPr>
        <p:spPr>
          <a:xfrm>
            <a:off x="3977639" y="8833104"/>
            <a:ext cx="3535679" cy="292608"/>
          </a:xfrm>
          <a:prstGeom prst="rect">
            <a:avLst/>
          </a:prstGeom>
          <a:noFill/>
        </p:spPr>
        <p:txBody>
          <a:bodyPr wrap="square" lIns="0" rIns="0" tIns="0" bIns="0" anchor="t">
            <a:noAutofit/>
          </a:bodyPr>
          <a:lstStyle/>
          <a:p>
            <a:pPr algn="l"/>
            <a:r>
              <a:rPr sz="1300" b="1" i="0">
                <a:solidFill>
                  <a:srgbClr val="6A1BAC"/>
                </a:solidFill>
                <a:latin typeface="Times New Roman"/>
              </a:rPr>
              <a:t>Our approach: all 7 formats in one job</a:t>
            </a:r>
          </a:p>
        </p:txBody>
      </p:sp>
      <p:sp>
        <p:nvSpPr>
          <p:cNvPr id="117" name="TextBox 116"/>
          <p:cNvSpPr txBox="1"/>
          <p:nvPr/>
        </p:nvSpPr>
        <p:spPr>
          <a:xfrm>
            <a:off x="3977639" y="9144000"/>
            <a:ext cx="3535679" cy="274320"/>
          </a:xfrm>
          <a:prstGeom prst="rect">
            <a:avLst/>
          </a:prstGeom>
          <a:noFill/>
        </p:spPr>
        <p:txBody>
          <a:bodyPr wrap="square" lIns="0" rIns="0" tIns="0" bIns="0" anchor="t">
            <a:noAutofit/>
          </a:bodyPr>
          <a:lstStyle/>
          <a:p>
            <a:pPr algn="l"/>
            <a:r>
              <a:rPr sz="1100" b="0" i="0">
                <a:solidFill>
                  <a:srgbClr val="5A5670"/>
                </a:solidFill>
                <a:latin typeface="Times New Roman"/>
              </a:rPr>
              <a:t>Noy &amp; Zhang, MIT, 2023</a:t>
            </a:r>
          </a:p>
        </p:txBody>
      </p:sp>
      <p:sp>
        <p:nvSpPr>
          <p:cNvPr id="118" name="Rounded Rectangle 117"/>
          <p:cNvSpPr/>
          <p:nvPr/>
        </p:nvSpPr>
        <p:spPr>
          <a:xfrm>
            <a:off x="7778495" y="8156448"/>
            <a:ext cx="5017007" cy="1389888"/>
          </a:xfrm>
          <a:prstGeom prst="roundRect">
            <a:avLst>
              <a:gd name="adj" fmla="val 9868"/>
            </a:avLst>
          </a:prstGeom>
          <a:solidFill>
            <a:srgbClr val="FFFFFF"/>
          </a:solidFill>
          <a:ln w="15875">
            <a:solidFill>
              <a:srgbClr val="D9D2FA"/>
            </a:solidFill>
          </a:ln>
          <a:effectLst/>
        </p:spPr>
        <p:txBody>
          <a:bodyPr rtlCol="0" anchor="ctr"/>
          <a:lstStyle/>
          <a:p>
            <a:pPr algn="ctr"/>
          </a:p>
        </p:txBody>
      </p:sp>
      <p:sp>
        <p:nvSpPr>
          <p:cNvPr id="119" name="TextBox 118"/>
          <p:cNvSpPr txBox="1"/>
          <p:nvPr/>
        </p:nvSpPr>
        <p:spPr>
          <a:xfrm>
            <a:off x="7888223" y="8156448"/>
            <a:ext cx="1188720" cy="1389888"/>
          </a:xfrm>
          <a:prstGeom prst="rect">
            <a:avLst/>
          </a:prstGeom>
          <a:noFill/>
        </p:spPr>
        <p:txBody>
          <a:bodyPr wrap="square" lIns="0" rIns="0" tIns="0" bIns="0" anchor="ctr">
            <a:noAutofit/>
          </a:bodyPr>
          <a:lstStyle/>
          <a:p>
            <a:pPr algn="ctr"/>
            <a:r>
              <a:rPr sz="3400" b="1" i="0">
                <a:solidFill>
                  <a:srgbClr val="3C24C4"/>
                </a:solidFill>
                <a:latin typeface="Times New Roman"/>
              </a:rPr>
              <a:t>26%</a:t>
            </a:r>
          </a:p>
        </p:txBody>
      </p:sp>
      <p:sp>
        <p:nvSpPr>
          <p:cNvPr id="120" name="TextBox 119"/>
          <p:cNvSpPr txBox="1"/>
          <p:nvPr/>
        </p:nvSpPr>
        <p:spPr>
          <a:xfrm>
            <a:off x="9150096" y="8220456"/>
            <a:ext cx="3535679" cy="566928"/>
          </a:xfrm>
          <a:prstGeom prst="rect">
            <a:avLst/>
          </a:prstGeom>
          <a:noFill/>
        </p:spPr>
        <p:txBody>
          <a:bodyPr wrap="square" lIns="0" rIns="0" tIns="0" bIns="0" anchor="t">
            <a:noAutofit/>
          </a:bodyPr>
          <a:lstStyle/>
          <a:p>
            <a:pPr algn="l"/>
            <a:r>
              <a:rPr sz="1350" b="0" i="0">
                <a:solidFill>
                  <a:srgbClr val="111111"/>
                </a:solidFill>
                <a:latin typeface="Times New Roman"/>
              </a:rPr>
              <a:t>Grounding answers in real sources cut made-up answers by 26%.</a:t>
            </a:r>
          </a:p>
        </p:txBody>
      </p:sp>
      <p:sp>
        <p:nvSpPr>
          <p:cNvPr id="121" name="TextBox 120"/>
          <p:cNvSpPr txBox="1"/>
          <p:nvPr/>
        </p:nvSpPr>
        <p:spPr>
          <a:xfrm>
            <a:off x="9150096" y="8833104"/>
            <a:ext cx="3535679" cy="292608"/>
          </a:xfrm>
          <a:prstGeom prst="rect">
            <a:avLst/>
          </a:prstGeom>
          <a:noFill/>
        </p:spPr>
        <p:txBody>
          <a:bodyPr wrap="square" lIns="0" rIns="0" tIns="0" bIns="0" anchor="t">
            <a:noAutofit/>
          </a:bodyPr>
          <a:lstStyle/>
          <a:p>
            <a:pPr algn="l"/>
            <a:r>
              <a:rPr sz="1300" b="1" i="0">
                <a:solidFill>
                  <a:srgbClr val="6A1BAC"/>
                </a:solidFill>
                <a:latin typeface="Times New Roman"/>
              </a:rPr>
              <a:t>Our approach: facts only from your source</a:t>
            </a:r>
          </a:p>
        </p:txBody>
      </p:sp>
      <p:sp>
        <p:nvSpPr>
          <p:cNvPr id="122" name="TextBox 121"/>
          <p:cNvSpPr txBox="1"/>
          <p:nvPr/>
        </p:nvSpPr>
        <p:spPr>
          <a:xfrm>
            <a:off x="9150096" y="9144000"/>
            <a:ext cx="3535679" cy="274320"/>
          </a:xfrm>
          <a:prstGeom prst="rect">
            <a:avLst/>
          </a:prstGeom>
          <a:noFill/>
        </p:spPr>
        <p:txBody>
          <a:bodyPr wrap="square" lIns="0" rIns="0" tIns="0" bIns="0" anchor="t">
            <a:noAutofit/>
          </a:bodyPr>
          <a:lstStyle/>
          <a:p>
            <a:pPr algn="l"/>
            <a:r>
              <a:rPr sz="1100" b="0" i="0">
                <a:solidFill>
                  <a:srgbClr val="5A5670"/>
                </a:solidFill>
                <a:latin typeface="Times New Roman"/>
              </a:rPr>
              <a:t>Journal of Empirical Legal Studies (Wiley)</a:t>
            </a:r>
          </a:p>
        </p:txBody>
      </p:sp>
      <p:sp>
        <p:nvSpPr>
          <p:cNvPr id="123" name="Rounded Rectangle 122"/>
          <p:cNvSpPr/>
          <p:nvPr/>
        </p:nvSpPr>
        <p:spPr>
          <a:xfrm>
            <a:off x="12950951" y="8156448"/>
            <a:ext cx="5017007" cy="1389888"/>
          </a:xfrm>
          <a:prstGeom prst="roundRect">
            <a:avLst>
              <a:gd name="adj" fmla="val 9868"/>
            </a:avLst>
          </a:prstGeom>
          <a:solidFill>
            <a:srgbClr val="FFFFFF"/>
          </a:solidFill>
          <a:ln w="15875">
            <a:solidFill>
              <a:srgbClr val="D9D2FA"/>
            </a:solidFill>
          </a:ln>
          <a:effectLst/>
        </p:spPr>
        <p:txBody>
          <a:bodyPr rtlCol="0" anchor="ctr"/>
          <a:lstStyle/>
          <a:p>
            <a:pPr algn="ctr"/>
          </a:p>
        </p:txBody>
      </p:sp>
      <p:sp>
        <p:nvSpPr>
          <p:cNvPr id="124" name="TextBox 123"/>
          <p:cNvSpPr txBox="1"/>
          <p:nvPr/>
        </p:nvSpPr>
        <p:spPr>
          <a:xfrm>
            <a:off x="13060679" y="8156448"/>
            <a:ext cx="1188720" cy="1389888"/>
          </a:xfrm>
          <a:prstGeom prst="rect">
            <a:avLst/>
          </a:prstGeom>
          <a:noFill/>
        </p:spPr>
        <p:txBody>
          <a:bodyPr wrap="square" lIns="0" rIns="0" tIns="0" bIns="0" anchor="ctr">
            <a:noAutofit/>
          </a:bodyPr>
          <a:lstStyle/>
          <a:p>
            <a:pPr algn="ctr"/>
            <a:r>
              <a:rPr sz="3400" b="1" i="0">
                <a:solidFill>
                  <a:srgbClr val="3C24C4"/>
                </a:solidFill>
                <a:latin typeface="Times New Roman"/>
              </a:rPr>
              <a:t>68%</a:t>
            </a:r>
          </a:p>
        </p:txBody>
      </p:sp>
      <p:sp>
        <p:nvSpPr>
          <p:cNvPr id="125" name="TextBox 124"/>
          <p:cNvSpPr txBox="1"/>
          <p:nvPr/>
        </p:nvSpPr>
        <p:spPr>
          <a:xfrm>
            <a:off x="14322551" y="8220456"/>
            <a:ext cx="3535679" cy="566928"/>
          </a:xfrm>
          <a:prstGeom prst="rect">
            <a:avLst/>
          </a:prstGeom>
          <a:noFill/>
        </p:spPr>
        <p:txBody>
          <a:bodyPr wrap="square" lIns="0" rIns="0" tIns="0" bIns="0" anchor="t">
            <a:noAutofit/>
          </a:bodyPr>
          <a:lstStyle/>
          <a:p>
            <a:pPr algn="l"/>
            <a:r>
              <a:rPr sz="1350" b="0" i="0">
                <a:solidFill>
                  <a:srgbClr val="111111"/>
                </a:solidFill>
                <a:latin typeface="Times New Roman"/>
              </a:rPr>
              <a:t>68% of organisations worry about data leaking to the public or competitors.</a:t>
            </a:r>
          </a:p>
        </p:txBody>
      </p:sp>
      <p:sp>
        <p:nvSpPr>
          <p:cNvPr id="126" name="TextBox 125"/>
          <p:cNvSpPr txBox="1"/>
          <p:nvPr/>
        </p:nvSpPr>
        <p:spPr>
          <a:xfrm>
            <a:off x="14322551" y="8833104"/>
            <a:ext cx="3535679" cy="292608"/>
          </a:xfrm>
          <a:prstGeom prst="rect">
            <a:avLst/>
          </a:prstGeom>
          <a:noFill/>
        </p:spPr>
        <p:txBody>
          <a:bodyPr wrap="square" lIns="0" rIns="0" tIns="0" bIns="0" anchor="t">
            <a:noAutofit/>
          </a:bodyPr>
          <a:lstStyle/>
          <a:p>
            <a:pPr algn="l"/>
            <a:r>
              <a:rPr sz="1300" b="1" i="0">
                <a:solidFill>
                  <a:srgbClr val="6A1BAC"/>
                </a:solidFill>
                <a:latin typeface="Times New Roman"/>
              </a:rPr>
              <a:t>Our approach: self-host, with a local model</a:t>
            </a:r>
          </a:p>
        </p:txBody>
      </p:sp>
      <p:sp>
        <p:nvSpPr>
          <p:cNvPr id="127" name="TextBox 126"/>
          <p:cNvSpPr txBox="1"/>
          <p:nvPr/>
        </p:nvSpPr>
        <p:spPr>
          <a:xfrm>
            <a:off x="14322551" y="9144000"/>
            <a:ext cx="3535679" cy="274320"/>
          </a:xfrm>
          <a:prstGeom prst="rect">
            <a:avLst/>
          </a:prstGeom>
          <a:noFill/>
        </p:spPr>
        <p:txBody>
          <a:bodyPr wrap="square" lIns="0" rIns="0" tIns="0" bIns="0" anchor="t">
            <a:noAutofit/>
          </a:bodyPr>
          <a:lstStyle/>
          <a:p>
            <a:pPr algn="l"/>
            <a:r>
              <a:rPr sz="1100" b="0" i="0">
                <a:solidFill>
                  <a:srgbClr val="5A5670"/>
                </a:solidFill>
                <a:latin typeface="Times New Roman"/>
              </a:rPr>
              <a:t>Cisco Data Privacy Benchmark, 2024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DAHWf8K-irM</dc:identifier>
  <dcterms:modified xsi:type="dcterms:W3CDTF">2011-08-01T06:04:30Z</dcterms:modified>
  <cp:revision>1</cp:revision>
  <dc:title>OUT OF TOKENS</dc:title>
</cp:coreProperties>
</file>